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af96e170e490f" /><Relationship Type="http://schemas.openxmlformats.org/officeDocument/2006/relationships/extended-properties" Target="/docProps/app.xml" Id="R9c5299d31492477d" /><Relationship Type="http://schemas.openxmlformats.org/officeDocument/2006/relationships/officeDocument" Target="/ppt/presentation.xml" Id="R086fda1082b8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4cdc87861e4536"/>
  </p:sldMasterIdLst>
  <p:notesMasterIdLst>
    <p:notesMasterId xmlns:r="http://schemas.openxmlformats.org/officeDocument/2006/relationships" r:id="R282d4e18059c48f3"/>
  </p:notesMasterIdLst>
  <p:sldIdLst>
    <p:sldId xmlns:r="http://schemas.openxmlformats.org/officeDocument/2006/relationships" id="256" r:id="R9916733cc50c4eea"/>
    <p:sldId xmlns:r="http://schemas.openxmlformats.org/officeDocument/2006/relationships" id="257" r:id="R205e000ecfe843ee"/>
    <p:sldId xmlns:r="http://schemas.openxmlformats.org/officeDocument/2006/relationships" id="258" r:id="Rd9fe47cc6c55497a"/>
    <p:sldId xmlns:r="http://schemas.openxmlformats.org/officeDocument/2006/relationships" id="259" r:id="R5712d275a0ab406e"/>
    <p:sldId xmlns:r="http://schemas.openxmlformats.org/officeDocument/2006/relationships" id="260" r:id="R13028499b01b4f6d"/>
    <p:sldId xmlns:r="http://schemas.openxmlformats.org/officeDocument/2006/relationships" id="261" r:id="R39cb22d4caa54c84"/>
    <p:sldId xmlns:r="http://schemas.openxmlformats.org/officeDocument/2006/relationships" id="262" r:id="Rdedcb50631e742a0"/>
    <p:sldId xmlns:r="http://schemas.openxmlformats.org/officeDocument/2006/relationships" id="263" r:id="R7ad96f75243e4b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d6a74e88c49dd" /><Relationship Type="http://schemas.openxmlformats.org/officeDocument/2006/relationships/slideMaster" Target="/ppt/slideMasters/slideMaster1.xml" Id="Ra94cdc87861e4536" /><Relationship Type="http://schemas.openxmlformats.org/officeDocument/2006/relationships/notesMaster" Target="/ppt/notesMasters/notesMaster1.xml" Id="R282d4e18059c48f3" /><Relationship Type="http://schemas.openxmlformats.org/officeDocument/2006/relationships/presProps" Target="/ppt/presProps.xml" Id="Rb509116c6e974efd" /><Relationship Type="http://schemas.openxmlformats.org/officeDocument/2006/relationships/tableStyles" Target="/ppt/tableStyles.xml" Id="Rc27cfad911624204" /><Relationship Type="http://schemas.openxmlformats.org/officeDocument/2006/relationships/slide" Target="/ppt/slides/slide1.xml" Id="R9916733cc50c4eea" /><Relationship Type="http://schemas.openxmlformats.org/officeDocument/2006/relationships/slide" Target="/ppt/slides/slide2.xml" Id="R205e000ecfe843ee" /><Relationship Type="http://schemas.openxmlformats.org/officeDocument/2006/relationships/slide" Target="/ppt/slides/slide3.xml" Id="Rd9fe47cc6c55497a" /><Relationship Type="http://schemas.openxmlformats.org/officeDocument/2006/relationships/slide" Target="/ppt/slides/slide4.xml" Id="R5712d275a0ab406e" /><Relationship Type="http://schemas.openxmlformats.org/officeDocument/2006/relationships/slide" Target="/ppt/slides/slide5.xml" Id="R13028499b01b4f6d" /><Relationship Type="http://schemas.openxmlformats.org/officeDocument/2006/relationships/slide" Target="/ppt/slides/slide6.xml" Id="R39cb22d4caa54c84" /><Relationship Type="http://schemas.openxmlformats.org/officeDocument/2006/relationships/slide" Target="/ppt/slides/slide7.xml" Id="Rdedcb50631e742a0" /><Relationship Type="http://schemas.openxmlformats.org/officeDocument/2006/relationships/slide" Target="/ppt/slides/slide8.xml" Id="R7ad96f75243e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25e454016a4e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b3feb76a44387" /><Relationship Type="http://schemas.openxmlformats.org/officeDocument/2006/relationships/notesMaster" Target="/ppt/notesMasters/notesMaster1.xml" Id="R3e9ed058826a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0645ccaa674d0e" /><Relationship Type="http://schemas.openxmlformats.org/officeDocument/2006/relationships/notesMaster" Target="/ppt/notesMasters/notesMaster1.xml" Id="Rea78fde924e6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353bc3bef24ca7" /><Relationship Type="http://schemas.openxmlformats.org/officeDocument/2006/relationships/notesMaster" Target="/ppt/notesMasters/notesMaster1.xml" Id="R4b308704167f4c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63a1d343704207" /><Relationship Type="http://schemas.openxmlformats.org/officeDocument/2006/relationships/notesMaster" Target="/ppt/notesMasters/notesMaster1.xml" Id="R2007af1475a8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79e52940b74b05" /><Relationship Type="http://schemas.openxmlformats.org/officeDocument/2006/relationships/notesMaster" Target="/ppt/notesMasters/notesMaster1.xml" Id="R2fa2f2afa9b1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6ecc3fceb4b93" /><Relationship Type="http://schemas.openxmlformats.org/officeDocument/2006/relationships/notesMaster" Target="/ppt/notesMasters/notesMaster1.xml" Id="R5f8b9e6c3dff44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89f7f6fd034df8" /><Relationship Type="http://schemas.openxmlformats.org/officeDocument/2006/relationships/notesMaster" Target="/ppt/notesMasters/notesMaster1.xml" Id="R787eb29c72c644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96934878d4ac9" /><Relationship Type="http://schemas.openxmlformats.org/officeDocument/2006/relationships/notesMaster" Target="/ppt/notesMasters/notesMaster1.xml" Id="R3cd20c0b5861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food choice and advertising change a food decision or explanation?</a:t>
            </a:r>
          </a:p>
          <a:p xmlns:a="http://schemas.openxmlformats.org/drawingml/2006/main">
            <a:r>
              <a:t>State the outcome in plain language: Food choice and advertising are best explained with evidence, interacting influences and ethical claims.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visual: assets/photos/m09-fictional-advertising-frame.png;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Food choices have interacting influences,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Food choices have interacting influences;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m09-s01: Food choices have interacting influences.</a:t>
            </a:r>
          </a:p>
          <a:p xmlns:a="http://schemas.openxmlformats.org/drawingml/2006/main">
            <a:r>
              <a:t>- Course theory section m09-s02: Decode a food advertisement.</a:t>
            </a:r>
          </a:p>
          <a:p xmlns:a="http://schemas.openxmlformats.org/drawingml/2006/main">
            <a:r>
              <a:t>- Course theory section m09-s03: Persuade without misleading.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Food choices can reflect physiological, psychological, social and economic influences at the same time. Use scenario evidence, avoid moral judgement and state what extra information would test your explanation.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One influence explains a food decision.</a:t>
            </a:r>
          </a:p>
          <a:p xmlns:a="http://schemas.openxmlformats.org/drawingml/2006/main">
            <a:r>
              <a:t>Transition: connect this idea to food choice and advertising,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m09-s01: Food choices have interacting influences.</a:t>
            </a:r>
          </a:p>
          <a:p xmlns:a="http://schemas.openxmlformats.org/drawingml/2006/main">
            <a:r>
              <a:t>- Course visual: assets/diagrams/m09-four-influence-lenses.svg;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Advertising analysis separates observation from inference. Identify the technique, intended audience and claim, then ask whether the evidence actually supports the message. Appeal and popularity are not proof.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Noticing a technique proves its effect.</a:t>
            </a:r>
          </a:p>
          <a:p xmlns:a="http://schemas.openxmlformats.org/drawingml/2006/main">
            <a:r>
              <a:t>Transition: connect this idea to food choice and advertising,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m09-s02: Decode a food advertisement.</a:t>
            </a:r>
          </a:p>
          <a:p xmlns:a="http://schemas.openxmlformats.org/drawingml/2006/main">
            <a:r>
              <a:t>- Course visual: assets/photos/m09-fictional-advertising-frame.png;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Ethical persuasion can still be memorable. Match the strength of a claim to its evidence, keep generated imagery from masquerading as product proof, avoid false endorsement and make uncertainty clear.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Ethical persuasion cannot be creative.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m09-s03: Persuade without misleading.</a:t>
            </a:r>
          </a:p>
          <a:p xmlns:a="http://schemas.openxmlformats.org/drawingml/2006/main">
            <a:r>
              <a:t>- Editable simple concept pathway created from course theory section m09-s03; no cultural motif, historical source or external artwork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Label what the analysis is doing, then choose the ethical revision.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Several physiological, psychological, social or economic influences may interact; use the supplied clues and state what further evidence is needed.</a:t>
            </a:r>
          </a:p>
          <a:p xmlns:a="http://schemas.openxmlformats.org/drawingml/2006/main">
            <a:r>
              <a:t>Check 2: Describe the visible technique, infer its possible effect for a stated audience, and test any factual claim against actual evidence.</a:t>
            </a:r>
          </a:p>
          <a:p xmlns:a="http://schemas.openxmlformats.org/drawingml/2006/main">
            <a:r>
              <a:t>Check 3: Use creative layout, imagery and a call to action while keeping factual wording within the evidence and avoiding implied endorsements.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activity activity-m09: Advertisement evidence decoder.</a:t>
            </a:r>
          </a:p>
          <a:p xmlns:a="http://schemas.openxmlformats.org/drawingml/2006/main">
            <a:r>
              <a:t>- Course formative check check-m09-s01 for m09-s01.</a:t>
            </a:r>
          </a:p>
          <a:p xmlns:a="http://schemas.openxmlformats.org/drawingml/2006/main">
            <a:r>
              <a:t>- Course formative check check-m09-s02 for m09-s02.</a:t>
            </a:r>
          </a:p>
          <a:p xmlns:a="http://schemas.openxmlformats.org/drawingml/2006/main">
            <a:r>
              <a:t>- Course formative check check-m09-s03 for m09-s03.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"My message persuades through …" only if students need it.</a:t>
            </a:r>
          </a:p>
          <a:p xmlns:a="http://schemas.openxmlformats.org/drawingml/2006/main">
            <a:r>
              <a:t>Look for: keeps appeal and accuracy together; avoids misleading imagery or endorsement; identifies a real evidence gap.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evidence record for m09-s03: Ethical persuasive concept.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Food choice and advertising are best explained with evidence, interacting influences and ethical claims.</a:t>
            </a:r>
          </a:p>
          <a:p xmlns:a="http://schemas.openxmlformats.org/drawingml/2006/main">
            <a:r>
              <a:t>State the sign-off exactly as shown: Teacher to confirm the advertisement or source students may analyse and any publication audience.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09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cd09f695248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9040848e6480a" /><Relationship Type="http://schemas.openxmlformats.org/officeDocument/2006/relationships/slideLayout" Target="/ppt/slideLayouts/slideLayout1.xml" Id="Re06ba0699be9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6ba0699be9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b3ec8f224e76" /><Relationship Type="http://schemas.openxmlformats.org/officeDocument/2006/relationships/image" Target="/ppt/media/image.png" Id="Ra42042bf49614796" /><Relationship Type="http://schemas.openxmlformats.org/officeDocument/2006/relationships/notesSlide" Target="/ppt/notesSlides/notesSlide1.xml" Id="R5aa20482e5c4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99d2f3c2e4076" /><Relationship Type="http://schemas.openxmlformats.org/officeDocument/2006/relationships/notesSlide" Target="/ppt/notesSlides/notesSlide2.xml" Id="Rd0f0b61f406247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f50690fe34dae" /><Relationship Type="http://schemas.openxmlformats.org/officeDocument/2006/relationships/image" Target="/ppt/media/image2.png" Id="R17cdb473434c4e47" /><Relationship Type="http://schemas.openxmlformats.org/officeDocument/2006/relationships/notesSlide" Target="/ppt/notesSlides/notesSlide3.xml" Id="Re86fe7b040ac4b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4b16e1a364842" /><Relationship Type="http://schemas.openxmlformats.org/officeDocument/2006/relationships/image" Target="/ppt/media/image3.png" Id="Ra4b2ff1312a546a2" /><Relationship Type="http://schemas.openxmlformats.org/officeDocument/2006/relationships/notesSlide" Target="/ppt/notesSlides/notesSlide4.xml" Id="Ref09828fc23a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9ed972c74506" /><Relationship Type="http://schemas.openxmlformats.org/officeDocument/2006/relationships/notesSlide" Target="/ppt/notesSlides/notesSlide5.xml" Id="R49e87ffda97543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a9dcb7594706" /><Relationship Type="http://schemas.openxmlformats.org/officeDocument/2006/relationships/notesSlide" Target="/ppt/notesSlides/notesSlide6.xml" Id="Rd708ee14b333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5cd4bb33f4629" /><Relationship Type="http://schemas.openxmlformats.org/officeDocument/2006/relationships/notesSlide" Target="/ppt/notesSlides/notesSlide7.xml" Id="Ra0736ddacb4d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85969f0b84ab6" /><Relationship Type="http://schemas.openxmlformats.org/officeDocument/2006/relationships/notesSlide" Target="/ppt/notesSlides/notesSlide8.xml" Id="Ra6a7b39274f3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E3520EFF-5E15-4F3B-BBF7-BC154B8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F636C5C8-3BE6-48C9-94B5-E3A2C37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042bf49614796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71622081-DBBD-4BD2-943B-CF840E3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E75E6953-C9CE-434F-AA26-61593C7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7983D2EB-496F-4423-A538-2E3DB94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4F83F578-36E7-4B3E-8B1B-6415A63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E23C4ADF-656D-4727-BBF6-46C5D6B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09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10FBCCB-D54B-480D-9A84-08CB978E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Food choice and advertising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B8423EAC-D608-4709-9BD3-92B59C5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Food choice and advertising are best explained with evidence, interacting influences and ethical claims.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CFBB1E6-92D8-4B65-AAD6-89506C5C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455460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A6913A90-CB0D-4A69-982F-ACDF8D2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7C74E23F-F567-4B84-AF64-1115E0C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B7B6765-AEA1-4788-870E-F27CEDA6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8B50D8BC-36D2-475C-8EFE-4812728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CHOICE AND ADVERTISING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3910131-D5C1-4720-A772-1206D79A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E7E813C8-97F3-4898-85A3-50A7D16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32CAFF85-DFE5-4F24-B468-DECC66E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352A01D0-5544-4744-A0E7-89D7DCF9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C10C9852-DF65-44C7-B411-8E7EC4A6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F2057EA9-3294-4006-A569-C4C68F3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D4AF86D3-DD60-4A53-BC34-480526E6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5F09AC8D-7428-4D3B-9A96-8581FD1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A1C684BF-67B2-4557-B3DD-843D999D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6372CFD1-D360-45E6-B884-0DC10A3A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Food choices have interacting influences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D3C60043-B75A-4379-8500-1BF1EDBB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Trace interacting choice influences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4AEDD855-9057-436A-873D-963F595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Decode a food advertisement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F3073CFC-E090-41E8-B6DB-75D2B42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Separate observation from inference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65DE7D21-A292-4380-B456-87F6C680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Persuade without misleading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6DD7D66A-59DA-410B-9A95-2D97B405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Persuade creatively without misleading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EE2F9290-D2DA-4315-A8E7-7D04A6B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0C158B54-D487-4AE9-8263-8E956BE2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Food choice and advertising are best explained with evidence, interacting influences and ethical claims.</a:t>
            </a:r>
          </a:p>
        </p:txBody>
      </p:sp>
    </p:spTree>
    <p:extLst>
      <p:ext uri="{BB962C8B-B14F-4D97-AF65-F5344CB8AC3E}">
        <p14:creationId xmlns:p14="http://schemas.microsoft.com/office/powerpoint/2010/main" val="1124384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74E4E00A-551A-42AA-8614-50D984BD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CFEE2C7F-3CED-4C5D-AD66-4E4CE9A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95BC73A-4329-480D-8FF6-E8546EFD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04724214-B978-436A-84F1-5297B8D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M09-S01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73B74F83-BAD8-4372-AAA9-8F73EFA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Food choices have interacting influences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1E551CCA-4375-4184-8E18-6F1060E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db473434c4e47"/>
          <a:stretch xmlns:a="http://schemas.openxmlformats.org/drawingml/2006/main"/>
        </p:blipFill>
        <p:spPr>
          <a:xfrm xmlns:a="http://schemas.openxmlformats.org/drawingml/2006/main">
            <a:off x="533400" y="1716881"/>
            <a:ext cx="5905500" cy="369093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2AD754E8-72D5-443B-808A-AA22744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Four analytical lenses can overlap in one food decision; the task is to explain evidence and interaction, not rank the categories or judge a person.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1F172426-7FD3-4F25-A52D-1CC5A21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Food choices can reflect physiological, psychological, social and economic influences at the same time. Use scenario evidence, avoid moral judgement and state what extra information would test your explanation.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2A44BAF9-2A0E-46CC-BE8B-B22DF15A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2B2E556F-AECC-409D-B94A-4287F82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Choose one clue near an overlap. Which two lenses could explain it, and what additional evidence would help?</a:t>
            </a:r>
          </a:p>
        </p:txBody>
      </p:sp>
    </p:spTree>
    <p:extLst>
      <p:ext uri="{BB962C8B-B14F-4D97-AF65-F5344CB8AC3E}">
        <p14:creationId xmlns:p14="http://schemas.microsoft.com/office/powerpoint/2010/main" val="1254570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24DF0F86-D1F2-4BEE-A07B-161E133D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A00AA463-B05F-493F-8A19-DBC1F4C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EAAEDD3-11CC-48DA-B630-86E7E585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B7CAD444-68C6-43FF-88D9-F174736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M09-S02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21157E4D-90BD-43C9-A282-7FA4A12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Decode a food advertisement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C9EAF8BA-601F-4E4D-8523-68B2270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Advertising analysis separates observation from inference. Identify the technique, intended audience and claim, then ask whether the evidence actually supports the message. Appeal and popularity are not proof.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2E54C22C-EEF1-4D0B-89D4-83D4CBC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FA0087BB-B778-4216-A3BB-8C809878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Name three visible persuasive choices. For each, separate what you observed from a possible audience effect and the evidence you would need.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0F62B7C4-227A-47AF-869B-F8AF3E9C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2ff1312a546a2"/>
          <a:srcRect xmlns:a="http://schemas.openxmlformats.org/drawingml/2006/main" l="1905" t="0" r="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62100"/>
            <a:ext cx="57721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7D5EC44A-95CA-44E5-A16A-C70080E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fictional unbranded food-ad frame designed for analysis of colour, scale, framing and lighting; it contains no factual product claim.</a:t>
            </a:r>
          </a:p>
        </p:txBody>
      </p:sp>
    </p:spTree>
    <p:extLst>
      <p:ext uri="{BB962C8B-B14F-4D97-AF65-F5344CB8AC3E}">
        <p14:creationId xmlns:p14="http://schemas.microsoft.com/office/powerpoint/2010/main" val="152224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1A7209B4-CF07-4FE1-A2E6-21EC16B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46A2AACF-38A2-47F8-8E20-3C09857E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614A2D4-CA97-4C57-BC60-D3ECE1CD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2E0C59D5-0760-4777-AF9B-CCC2931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M09-S03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646B4110-3662-452A-A954-B37DE2E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Persuade without misleading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B97491C8-CE76-41ED-9F39-9AAC6E85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Ethical persuasion can still be memorable. Match the strength of a claim to its evidence, keep generated imagery from masquerading as product proof, avoid false endorsement and make uncertainty clear.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6D8EDBD5-7B36-4B63-B375-E09ECAF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CA7159CD-EF08-404D-AB15-EEC7C59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evidence or confirmation should change the next decision?</a:t>
            </a:r>
          </a:p>
        </p:txBody>
      </p:sp>
      <p:sp>
        <p:nvSpPr>
          <p:cNvPr id="9" name="idea-3-visual-native-frame">
            <a:extLst xmlns:a="http://schemas.openxmlformats.org/drawingml/2006/main">
              <a:ext uri="{FF2B5EF4-FFF2-40B4-BE49-F238E27FC236}">
                <a16:creationId xmlns:a16="http://schemas.microsoft.com/office/drawing/2014/main" id="{A65D4320-9CDC-48AF-BEA6-204646A5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62100"/>
            <a:ext cx="59817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0" name="idea-3-visual-connector-1">
            <a:extLst xmlns:a="http://schemas.openxmlformats.org/drawingml/2006/main">
              <a:ext uri="{FF2B5EF4-FFF2-40B4-BE49-F238E27FC236}">
                <a16:creationId xmlns:a16="http://schemas.microsoft.com/office/drawing/2014/main" id="{B9EE685A-C259-4FF2-90D1-CFADF6CC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718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idea-3-visual-connector-2">
            <a:extLst xmlns:a="http://schemas.openxmlformats.org/drawingml/2006/main">
              <a:ext uri="{FF2B5EF4-FFF2-40B4-BE49-F238E27FC236}">
                <a16:creationId xmlns:a16="http://schemas.microsoft.com/office/drawing/2014/main" id="{9E6E9201-29E7-4F11-AC2A-7C4DE085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718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idea-3-visual-node-1">
            <a:extLst xmlns:a="http://schemas.openxmlformats.org/drawingml/2006/main">
              <a:ext uri="{FF2B5EF4-FFF2-40B4-BE49-F238E27FC236}">
                <a16:creationId xmlns:a16="http://schemas.microsoft.com/office/drawing/2014/main" id="{3857B92C-916E-4A98-9E9B-8F7F3680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3" name="idea-3-visual-node-label-1">
            <a:extLst xmlns:a="http://schemas.openxmlformats.org/drawingml/2006/main">
              <a:ext uri="{FF2B5EF4-FFF2-40B4-BE49-F238E27FC236}">
                <a16:creationId xmlns:a16="http://schemas.microsoft.com/office/drawing/2014/main" id="{A4D136D2-5E32-4449-A050-6909DB9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Supported fact</a:t>
            </a:r>
          </a:p>
        </p:txBody>
      </p:sp>
      <p:sp>
        <p:nvSpPr>
          <p:cNvPr id="14" name="idea-3-visual-node-2">
            <a:extLst xmlns:a="http://schemas.openxmlformats.org/drawingml/2006/main">
              <a:ext uri="{FF2B5EF4-FFF2-40B4-BE49-F238E27FC236}">
                <a16:creationId xmlns:a16="http://schemas.microsoft.com/office/drawing/2014/main" id="{A040B1C1-A10E-4346-8589-BE99DF6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5" name="idea-3-visual-node-label-2">
            <a:extLst xmlns:a="http://schemas.openxmlformats.org/drawingml/2006/main">
              <a:ext uri="{FF2B5EF4-FFF2-40B4-BE49-F238E27FC236}">
                <a16:creationId xmlns:a16="http://schemas.microsoft.com/office/drawing/2014/main" id="{0686CF4F-E006-4378-A156-38DDEE0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Creative appeal</a:t>
            </a:r>
          </a:p>
        </p:txBody>
      </p:sp>
      <p:sp>
        <p:nvSpPr>
          <p:cNvPr id="16" name="idea-3-visual-node-3">
            <a:extLst xmlns:a="http://schemas.openxmlformats.org/drawingml/2006/main">
              <a:ext uri="{FF2B5EF4-FFF2-40B4-BE49-F238E27FC236}">
                <a16:creationId xmlns:a16="http://schemas.microsoft.com/office/drawing/2014/main" id="{09816FCE-871C-43DE-A41A-6D88667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5D46"/>
            </a:solidFill>
            <a:prstDash val="solid"/>
          </a:ln>
        </p:spPr>
      </p:sp>
      <p:sp>
        <p:nvSpPr>
          <p:cNvPr id="17" name="idea-3-visual-node-label-3">
            <a:extLst xmlns:a="http://schemas.openxmlformats.org/drawingml/2006/main">
              <a:ext uri="{FF2B5EF4-FFF2-40B4-BE49-F238E27FC236}">
                <a16:creationId xmlns:a16="http://schemas.microsoft.com/office/drawing/2014/main" id="{84227B2D-933A-47A8-8042-0FA9486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718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Clear limit</a:t>
            </a:r>
          </a:p>
        </p:txBody>
      </p:sp>
      <p:sp>
        <p:nvSpPr>
          <p:cNvPr id="18" name="idea-3-visual-native-footer">
            <a:extLst xmlns:a="http://schemas.openxmlformats.org/drawingml/2006/main">
              <a:ext uri="{FF2B5EF4-FFF2-40B4-BE49-F238E27FC236}">
                <a16:creationId xmlns:a16="http://schemas.microsoft.com/office/drawing/2014/main" id="{6D5BE39D-DBB5-45E4-AF12-E0AD888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Ethical persuasion keeps all three visible.</a:t>
            </a:r>
          </a:p>
        </p:txBody>
      </p:sp>
    </p:spTree>
    <p:extLst>
      <p:ext uri="{BB962C8B-B14F-4D97-AF65-F5344CB8AC3E}">
        <p14:creationId xmlns:p14="http://schemas.microsoft.com/office/powerpoint/2010/main" val="339379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7CA46BA5-7FC0-477D-A7C4-6D04A12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83F15CB9-2325-4A19-8680-0C164E96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3B39942D-5A18-4581-9BD6-4A42B217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CE5D2520-8408-4532-8F6F-970F90E6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FOOD CHOICE AND ADVERTISING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19194892-E0CE-4EB3-AB46-CA764C4C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5B6442D2-D641-4580-A40D-3CFA1C5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A4412C38-93BD-49A4-8EB9-61ACA236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C336AE25-00C4-4BEE-BC69-F0C5E58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fictional student buys a familiar snack near the station after sport. Which analysis is most careful?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77005F20-EEBF-4F4B-A92C-96EF0DE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D31DD3D7-AFE9-4798-8093-316329A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A5EB8A93-8976-42F7-A8E7-118389A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 advertisement uses bright colours and says a product is 'the ultimate choice'. What is the best analysis?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C51AD7D8-F878-4689-AC96-0DC7A9DD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13109BDD-53DC-40F2-BA86-7917C78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3F31B306-B795-4375-B92F-504BBC2B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design choice keeps a food message persuasive without misleading its audience?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7E987892-88E3-482D-9AE2-0EF75270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5DF8B420-05C0-474A-A80D-49087F2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E2FE5428-24C3-4004-A04D-7D56A908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Advertisement evidence decoder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1890FDDE-2B9C-43F7-9429-B267491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separating observation, inference and evidence, then repair an unsupported persuasive claim.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916DA345-D0C1-4CD5-81ED-CF9080F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Classify each statement about a fictional advertisement.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9CE6C847-BE33-45E3-B8D3-9BB16478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1981234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81B57242-2E11-4E6D-9C5E-C701C2A1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40FA0BA2-3D6C-44D7-A40E-D59723C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09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407E7BC-114D-457C-A93E-94EA4A52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49837F7A-C699-4EE4-B307-3DAB54F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CHOICE AND ADVERTISING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2DF72ED2-E0C1-4C41-98E1-2FCBF180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54388327-0109-4F06-AE85-6DB5FC9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F1CCF846-BE3E-49D1-8813-0EDAF50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A1C7B889-A095-4B5D-A5B8-33B669C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Justify three ethical choices in a concept food message and identify one claim or design decision that still needs stronger evidence. Do not represent a generated visual as proof of a real product.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6C1DAA31-0F21-4208-AF23-793E1DA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24D2287E-994D-4711-B70E-05E9E67E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752458E6-CECA-4B76-A3E1-86D15932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0AD3A796-6EA5-4741-BFA7-9F4A8E6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DCAA952F-D5B6-4990-925E-8838CB07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FE6540A8-A76A-42B5-AB50-9CF6DAEE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8D24FF99-0B70-435A-94FE-BCEA3607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942439E8-484E-43AE-AF66-B63452C0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F88CE18D-F3B3-4AE1-8544-F9F16F1A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keeps appeal and accuracy together.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7E1730CD-BE10-4C44-8C9A-33A65F0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E1E36325-322D-4C6C-8B4C-093BDA99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A816EA82-7C30-489C-8888-31992BB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My message persuades through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F0A2A9D2-41C5-4E1A-B733-57E47CF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C04DCD78-1AEF-4BBA-9830-AC2244F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130011B7-6069-45C0-9F39-A7FAB56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Avoids misleading imagery or endorsement; identifies a real evidence gap.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AD9141A0-10A1-44D7-AFE8-BE3152B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751770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B7D2596B-3347-4580-9351-6C83A62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FECC64F5-7306-4973-891C-658CF6D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09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050F371-E254-494B-9D22-73D269C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63CB9F00-F93B-403C-8E81-3238AA2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food choices have interacting influences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0C0A0BAF-E15F-4828-85BC-7EAF315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A7D6089C-E94E-4702-970B-3E3D7E3E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D10FE382-70DE-4010-B0A6-ECE22AB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647703DD-3544-4705-806B-E2FE1F6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9C27E9EA-E78E-4814-85E9-5241AEB6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04D417D4-9912-4C48-A5DA-E5DA7103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B05AFF69-5E28-4D0B-9FB3-89A15F90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77A0EDD3-DEE9-4933-8787-47E52977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The advertisement or source students may analyse and any publication audience.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98C79E46-6DF0-48B9-9DF2-0F71CFF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3EFB7048-1998-4B88-89CB-B9DDD5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203591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2026-08-26T13:29:38.5320000Z</dcterms:created>
  <dcterms:modified xsi:type="dcterms:W3CDTF">2026-08-26T13:29:38.5320000Z</dcterms:modified>
</coreProperties>
</file>