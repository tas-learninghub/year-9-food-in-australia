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b2de530ba344e2" /><Relationship Type="http://schemas.openxmlformats.org/officeDocument/2006/relationships/extended-properties" Target="/docProps/app.xml" Id="R7e3a774aebb245b0" /><Relationship Type="http://schemas.openxmlformats.org/officeDocument/2006/relationships/officeDocument" Target="/ppt/presentation.xml" Id="Rcbf76469cba846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13619cae704585"/>
  </p:sldMasterIdLst>
  <p:notesMasterIdLst>
    <p:notesMasterId xmlns:r="http://schemas.openxmlformats.org/officeDocument/2006/relationships" r:id="R7d0beedd6e6a4b9b"/>
  </p:notesMasterIdLst>
  <p:sldIdLst>
    <p:sldId xmlns:r="http://schemas.openxmlformats.org/officeDocument/2006/relationships" id="256" r:id="Rfb1f3c09c4fd4d28"/>
    <p:sldId xmlns:r="http://schemas.openxmlformats.org/officeDocument/2006/relationships" id="257" r:id="Ra05a04ab87bd4df9"/>
    <p:sldId xmlns:r="http://schemas.openxmlformats.org/officeDocument/2006/relationships" id="258" r:id="R5848e38e3f864c1d"/>
    <p:sldId xmlns:r="http://schemas.openxmlformats.org/officeDocument/2006/relationships" id="259" r:id="R10c13035b9c84d7e"/>
    <p:sldId xmlns:r="http://schemas.openxmlformats.org/officeDocument/2006/relationships" id="260" r:id="R634f635537a3405c"/>
    <p:sldId xmlns:r="http://schemas.openxmlformats.org/officeDocument/2006/relationships" id="261" r:id="R92bf50d770ef4eb3"/>
    <p:sldId xmlns:r="http://schemas.openxmlformats.org/officeDocument/2006/relationships" id="262" r:id="R0f32ca74f8b64732"/>
    <p:sldId xmlns:r="http://schemas.openxmlformats.org/officeDocument/2006/relationships" id="263" r:id="R9e4fd692c4434e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64e5c941554396" /><Relationship Type="http://schemas.openxmlformats.org/officeDocument/2006/relationships/slideMaster" Target="/ppt/slideMasters/slideMaster1.xml" Id="R2513619cae704585" /><Relationship Type="http://schemas.openxmlformats.org/officeDocument/2006/relationships/notesMaster" Target="/ppt/notesMasters/notesMaster1.xml" Id="R7d0beedd6e6a4b9b" /><Relationship Type="http://schemas.openxmlformats.org/officeDocument/2006/relationships/presProps" Target="/ppt/presProps.xml" Id="Rd52ff0a7587b4bf7" /><Relationship Type="http://schemas.openxmlformats.org/officeDocument/2006/relationships/tableStyles" Target="/ppt/tableStyles.xml" Id="R9d8db805375b464c" /><Relationship Type="http://schemas.openxmlformats.org/officeDocument/2006/relationships/slide" Target="/ppt/slides/slide1.xml" Id="Rfb1f3c09c4fd4d28" /><Relationship Type="http://schemas.openxmlformats.org/officeDocument/2006/relationships/slide" Target="/ppt/slides/slide2.xml" Id="Ra05a04ab87bd4df9" /><Relationship Type="http://schemas.openxmlformats.org/officeDocument/2006/relationships/slide" Target="/ppt/slides/slide3.xml" Id="R5848e38e3f864c1d" /><Relationship Type="http://schemas.openxmlformats.org/officeDocument/2006/relationships/slide" Target="/ppt/slides/slide4.xml" Id="R10c13035b9c84d7e" /><Relationship Type="http://schemas.openxmlformats.org/officeDocument/2006/relationships/slide" Target="/ppt/slides/slide5.xml" Id="R634f635537a3405c" /><Relationship Type="http://schemas.openxmlformats.org/officeDocument/2006/relationships/slide" Target="/ppt/slides/slide6.xml" Id="R92bf50d770ef4eb3" /><Relationship Type="http://schemas.openxmlformats.org/officeDocument/2006/relationships/slide" Target="/ppt/slides/slide7.xml" Id="R0f32ca74f8b64732" /><Relationship Type="http://schemas.openxmlformats.org/officeDocument/2006/relationships/slide" Target="/ppt/slides/slide8.xml" Id="R9e4fd692c4434e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dc8a9bc88c46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2e99e88c8f4fce" /><Relationship Type="http://schemas.openxmlformats.org/officeDocument/2006/relationships/notesMaster" Target="/ppt/notesMasters/notesMaster1.xml" Id="Rb60971b2283749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724e07bba14973" /><Relationship Type="http://schemas.openxmlformats.org/officeDocument/2006/relationships/notesMaster" Target="/ppt/notesMasters/notesMaster1.xml" Id="Rd5edfb698b384c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87d77184ea421b" /><Relationship Type="http://schemas.openxmlformats.org/officeDocument/2006/relationships/notesMaster" Target="/ppt/notesMasters/notesMaster1.xml" Id="R6bf740a1d4ad4a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4c72240f2c422a" /><Relationship Type="http://schemas.openxmlformats.org/officeDocument/2006/relationships/notesMaster" Target="/ppt/notesMasters/notesMaster1.xml" Id="Rb5efd8a771e149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17b7663d91465e" /><Relationship Type="http://schemas.openxmlformats.org/officeDocument/2006/relationships/notesMaster" Target="/ppt/notesMasters/notesMaster1.xml" Id="R78a7d6f479074a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c4745eb7844eec" /><Relationship Type="http://schemas.openxmlformats.org/officeDocument/2006/relationships/notesMaster" Target="/ppt/notesMasters/notesMaster1.xml" Id="R42757b59b55c47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5bb452ac504343" /><Relationship Type="http://schemas.openxmlformats.org/officeDocument/2006/relationships/notesMaster" Target="/ppt/notesMasters/notesMaster1.xml" Id="Rdeec71e9149f4a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428f25957342b8" /><Relationship Type="http://schemas.openxmlformats.org/officeDocument/2006/relationships/notesMaster" Target="/ppt/notesMasters/notesMaster1.xml" Id="R4143126f967841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module question: how does multicultural influences change a food decision or explanation?</a:t>
            </a:r>
          </a:p>
          <a:p xmlns:a="http://schemas.openxmlformats.org/drawingml/2006/main">
            <a:r>
              <a:t>State the outcome in plain language: Australian cuisine keeps changing because people, methods, ingredients and contexts interact.</a:t>
            </a:r>
          </a:p>
          <a:p xmlns:a="http://schemas.openxmlformats.org/drawingml/2006/main">
            <a:r>
              <a:t>Ask students what the visual helps them notice, then make clear that it is a generated learning visual, not documentary evidence or practical permission.</a:t>
            </a:r>
          </a:p>
          <a:p xmlns:a="http://schemas.openxmlformats.org/drawingml/2006/main">
            <a:r>
              <a:t>Transition: the next slide shows the three connected ideas students will use to reach the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visual: assets/photos/m06-contemporary-food-network.png; provenance recorded in the visual production manifest.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timeline as a learning sequence, not an agenda. Briefly name each idea and show how the third depends on the first two.</a:t>
            </a:r>
          </a:p>
          <a:p xmlns:a="http://schemas.openxmlformats.org/drawingml/2006/main">
            <a:r>
              <a:t>Retrieval prompt: ask students to define or exemplify one term from Contemporary Australian cuisine keeps changing, then name one uncertainty to check.</a:t>
            </a:r>
          </a:p>
          <a:p xmlns:a="http://schemas.openxmlformats.org/drawingml/2006/main">
            <a:r>
              <a:t>Listen for unsupported certainty. Model language such as ‘the source supports…’, ‘in this context…’ and ‘Teacher to confirm…’ where relevant.</a:t>
            </a:r>
          </a:p>
          <a:p xmlns:a="http://schemas.openxmlformats.org/drawingml/2006/main">
            <a:r>
              <a:t>Transition: begin with Contemporary Australian cuisine keeps changing; students will use it as the first part of the final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m06-s01: Contemporary Australian cuisine keeps changing.</a:t>
            </a:r>
          </a:p>
          <a:p xmlns:a="http://schemas.openxmlformats.org/drawingml/2006/main">
            <a:r>
              <a:t>- Course theory section m06-s02: Research one food culture without stereotyping.</a:t>
            </a:r>
          </a:p>
          <a:p xmlns:a="http://schemas.openxmlformats.org/drawingml/2006/main">
            <a:r>
              <a:t>- Course theory section m06-s03: Ingredients, flavours and methods work together.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Contemporary Australian cuisine is a changing system, not a fixed list of national dishes. Continuing First Nations cultures, migration, agriculture, industry, technology, media, travel and individual choice interact in different contexts.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Australian cuisine can be represented by a fixed list.</a:t>
            </a:r>
          </a:p>
          <a:p xmlns:a="http://schemas.openxmlformats.org/drawingml/2006/main">
            <a:r>
              <a:t>Transition: connect this idea to multicultural influences, then move to "the second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m06-s01: Contemporary Australian cuisine keeps changing.</a:t>
            </a:r>
          </a:p>
          <a:p xmlns:a="http://schemas.openxmlformats.org/drawingml/2006/main">
            <a:r>
              <a:t>- Course visual: assets/diagrams/m06-influence-network.svg; provenance recorded in the visual production manifest.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A careful food-culture investigation narrows place, time and context. Use more than one credible source, compare perspectives and describe what the evidence supports without presenting a whole country or culture as one diet.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One source or famous dish represents a whole culture.</a:t>
            </a:r>
          </a:p>
          <a:p xmlns:a="http://schemas.openxmlformats.org/drawingml/2006/main">
            <a:r>
              <a:t>Transition: connect this idea to multicultural influences, then move to "the final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m06-s02: Research one food culture without stereotyping.</a:t>
            </a:r>
          </a:p>
          <a:p xmlns:a="http://schemas.openxmlformats.org/drawingml/2006/main">
            <a:r>
              <a:t>- Course visual: assets/diagrams/m06-research-funnel.svg; provenance recorded in the visual production manifest.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Ingredients, methods and sensory results work together. Start with the desired observable quality, then explain how an ingredient’s properties and a preparation or cooking method could produce it within the stated constraint.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An ingredient alone determines a food’s result.</a:t>
            </a:r>
          </a:p>
          <a:p xmlns:a="http://schemas.openxmlformats.org/drawingml/2006/main">
            <a:r>
              <a:t>Transition: students now rehearse all three ideas through the module activity and retrieval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m06-s03: Ingredients, flavours and methods work together.</a:t>
            </a:r>
          </a:p>
          <a:p xmlns:a="http://schemas.openxmlformats.org/drawingml/2006/main">
            <a:r>
              <a:t>- Course visual: assets/photos/m06-method-properties-comparison.png; provenance recorded in the visual production manifest.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activity as rehearsal: Repair the broad research question, then match each claim with the evidence it needs.</a:t>
            </a:r>
          </a:p>
          <a:p xmlns:a="http://schemas.openxmlformats.org/drawingml/2006/main">
            <a:r>
              <a:t>Give quiet thinking time before discussion. Ask students to explain why an alternative is weaker, not merely name the correct choice.</a:t>
            </a:r>
          </a:p>
          <a:p xmlns:a="http://schemas.openxmlformats.org/drawingml/2006/main">
            <a:r>
              <a:t>Check 1: Evidence about ingredients, methods, businesses, technologies, social habits and meanings across varied contexts.</a:t>
            </a:r>
          </a:p>
          <a:p xmlns:a="http://schemas.openxmlformats.org/drawingml/2006/main">
            <a:r>
              <a:t>Check 2: How do three credible sources describe weekday meal practices in a named place and time, and what variation do they show?</a:t>
            </a:r>
          </a:p>
          <a:p xmlns:a="http://schemas.openxmlformats.org/drawingml/2006/main">
            <a:r>
              <a:t>Check 3: Link the desired observable result to ingredient properties, preparation and heat transfer, within the available evidence and context.</a:t>
            </a:r>
          </a:p>
          <a:p xmlns:a="http://schemas.openxmlformats.org/drawingml/2006/main">
            <a:r>
              <a:t>Misconception to correct: a correct choice without reasoning is enough evidence. Ask for the link between the claim and the source or scenario.</a:t>
            </a:r>
          </a:p>
          <a:p xmlns:a="http://schemas.openxmlformats.org/drawingml/2006/main">
            <a:r>
              <a:t>Transition: move from short retrieval to one constructed evidence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activity activity-m06: Culture-research repair workshop.</a:t>
            </a:r>
          </a:p>
          <a:p xmlns:a="http://schemas.openxmlformats.org/drawingml/2006/main">
            <a:r>
              <a:t>- Course formative check check-m06-s01 for m06-s01.</a:t>
            </a:r>
          </a:p>
          <a:p xmlns:a="http://schemas.openxmlformats.org/drawingml/2006/main">
            <a:r>
              <a:t>- Course formative check check-m06-s02 for m06-s02.</a:t>
            </a:r>
          </a:p>
          <a:p xmlns:a="http://schemas.openxmlformats.org/drawingml/2006/main">
            <a:r>
              <a:t>- Course formative check check-m06-s03 for m06-s03.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prompt aloud once, then ask students to restate its decision or explanation in their own words.</a:t>
            </a:r>
          </a:p>
          <a:p xmlns:a="http://schemas.openxmlformats.org/drawingml/2006/main">
            <a:r>
              <a:t>Model the sequence: Read → Select → Explain → Check. Use the starter "The intended observable result is …" only if students need it.</a:t>
            </a:r>
          </a:p>
          <a:p xmlns:a="http://schemas.openxmlformats.org/drawingml/2006/main">
            <a:r>
              <a:t>Look for: starts with the desired result; explains mechanism; avoids claiming a method is universally best.</a:t>
            </a:r>
          </a:p>
          <a:p xmlns:a="http://schemas.openxmlformats.org/drawingml/2006/main">
            <a:r>
              <a:t>Misconception to correct: saving locally means the work has been submitted or formally assessed. It has not.</a:t>
            </a:r>
          </a:p>
          <a:p xmlns:a="http://schemas.openxmlformats.org/drawingml/2006/main">
            <a:r>
              <a:t>Transition: close with a three-part exit ticket and the teacher-controlled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evidence record for m06-s03: Method for a sensory purpose.</a:t>
            </a:r>
          </a:p>
          <a:p xmlns:a="http://schemas.openxmlformats.org/drawingml/2006/main">
            <a:r>
              <a:t>- Course folio contract: device-local saving is not submission.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one minute to write all three exit lines. Ask for a specific connection, not a generic summary.</a:t>
            </a:r>
          </a:p>
          <a:p xmlns:a="http://schemas.openxmlformats.org/drawingml/2006/main">
            <a:r>
              <a:t>Listen for the module takeaway: Australian cuisine keeps changing because people, methods, ingredients and contexts interact.</a:t>
            </a:r>
          </a:p>
          <a:p xmlns:a="http://schemas.openxmlformats.org/drawingml/2006/main">
            <a:r>
              <a:t>State the sign-off exactly as shown: Teacher to confirm the class research focus, approved sources and any practical method or equipment.</a:t>
            </a:r>
          </a:p>
          <a:p xmlns:a="http://schemas.openxmlformats.org/drawingml/2006/main">
            <a:r>
              <a:t>Do not announce a practical, due date, weighting, grade or submission route unless it is in the current teacher-issued instruction.</a:t>
            </a:r>
          </a:p>
          <a:p xmlns:a="http://schemas.openxmlformats.org/drawingml/2006/main">
            <a:r>
              <a:t>Close by directing students to the Module 06 page or My Folio only as the teacher decides.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Current Year 9 Assessment Booklet 2026: course-level task boundaries only; this deck does not invent unit task details.</a:t>
            </a:r>
          </a:p>
          <a:p xmlns:a="http://schemas.openxmlformats.org/drawingml/2006/main">
            <a:r>
              <a:t>- Course source-map v1.1 and assessment-orientation boundary.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01a4b72ea42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f10665cf114599" /><Relationship Type="http://schemas.openxmlformats.org/officeDocument/2006/relationships/slideLayout" Target="/ppt/slideLayouts/slideLayout1.xml" Id="Ra59aa83a96b249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9aa83a96b249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2a5737c8c4a89" /><Relationship Type="http://schemas.openxmlformats.org/officeDocument/2006/relationships/image" Target="/ppt/media/image.png" Id="Ree913c3601b64a96" /><Relationship Type="http://schemas.openxmlformats.org/officeDocument/2006/relationships/notesSlide" Target="/ppt/notesSlides/notesSlide1.xml" Id="R805e3500dec84c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902d0005e498a" /><Relationship Type="http://schemas.openxmlformats.org/officeDocument/2006/relationships/notesSlide" Target="/ppt/notesSlides/notesSlide2.xml" Id="Rb1af334a5d7545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b2c76186b47b7" /><Relationship Type="http://schemas.openxmlformats.org/officeDocument/2006/relationships/image" Target="/ppt/media/image2.png" Id="Red3e08c82f804f6d" /><Relationship Type="http://schemas.openxmlformats.org/officeDocument/2006/relationships/notesSlide" Target="/ppt/notesSlides/notesSlide3.xml" Id="R75cbaebdabaf47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bb4505df64f91" /><Relationship Type="http://schemas.openxmlformats.org/officeDocument/2006/relationships/image" Target="/ppt/media/image3.png" Id="Rb9ee1d951b6b4c8b" /><Relationship Type="http://schemas.openxmlformats.org/officeDocument/2006/relationships/notesSlide" Target="/ppt/notesSlides/notesSlide4.xml" Id="R169fffc58d344f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5cd7c444b4378" /><Relationship Type="http://schemas.openxmlformats.org/officeDocument/2006/relationships/image" Target="/ppt/media/image4.png" Id="Ra02316432dd448d6" /><Relationship Type="http://schemas.openxmlformats.org/officeDocument/2006/relationships/notesSlide" Target="/ppt/notesSlides/notesSlide5.xml" Id="R56e488dcfbec43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8bb8654bf47a9" /><Relationship Type="http://schemas.openxmlformats.org/officeDocument/2006/relationships/notesSlide" Target="/ppt/notesSlides/notesSlide6.xml" Id="R67f05e2090ec42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91f8936a447a7" /><Relationship Type="http://schemas.openxmlformats.org/officeDocument/2006/relationships/notesSlide" Target="/ppt/notesSlides/notesSlide7.xml" Id="R3eecf5e1516246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307ae3d0f478a" /><Relationship Type="http://schemas.openxmlformats.org/officeDocument/2006/relationships/notesSlide" Target="/ppt/notesSlides/notesSlide8.xml" Id="R090cfb753d6941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AB75ECD8-A1EF-457D-98BF-3058175A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hero-frame">
            <a:extLst xmlns:a="http://schemas.openxmlformats.org/drawingml/2006/main">
              <a:ext uri="{FF2B5EF4-FFF2-40B4-BE49-F238E27FC236}">
                <a16:creationId xmlns:a16="http://schemas.microsoft.com/office/drawing/2014/main" id="{B588A505-BBE5-4353-809B-D46A55C8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"/>
            <a:ext cx="5181600" cy="6019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13c3601b64a96"/>
          <a:srcRect xmlns:a="http://schemas.openxmlformats.org/drawingml/2006/main" l="21368" t="0" r="213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266700"/>
            <a:ext cx="5105400" cy="59436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sp>
        <p:nvSpPr>
          <p:cNvPr id="4" name="cover-notice-panel">
            <a:extLst xmlns:a="http://schemas.openxmlformats.org/drawingml/2006/main">
              <a:ext uri="{FF2B5EF4-FFF2-40B4-BE49-F238E27FC236}">
                <a16:creationId xmlns:a16="http://schemas.microsoft.com/office/drawing/2014/main" id="{05994A7D-9D01-4DFD-93FB-BBF5579C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48006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5" name="cover-notice">
            <a:extLst xmlns:a="http://schemas.openxmlformats.org/drawingml/2006/main">
              <a:ext uri="{FF2B5EF4-FFF2-40B4-BE49-F238E27FC236}">
                <a16:creationId xmlns:a16="http://schemas.microsoft.com/office/drawing/2014/main" id="{519561E7-7C33-43ED-9B1E-DE5BD128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753100"/>
            <a:ext cx="449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Generated learning visual — not documentary evidence.</a:t>
            </a:r>
          </a:p>
        </p:txBody>
      </p:sp>
      <p:sp>
        <p:nvSpPr>
          <p:cNvPr id="6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9E3829E7-3359-40A5-A3D8-BEC5F08B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94CC1B29-C3A6-437F-9B99-BD6CB6BD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module-label">
            <a:extLst xmlns:a="http://schemas.openxmlformats.org/drawingml/2006/main">
              <a:ext uri="{FF2B5EF4-FFF2-40B4-BE49-F238E27FC236}">
                <a16:creationId xmlns:a16="http://schemas.microsoft.com/office/drawing/2014/main" id="{0F8C65C8-25F5-4240-A1D3-6B3D0033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MODULE 06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0161107-23FC-402F-AA7A-5FC8F6D3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81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Multicultural influences</a:t>
            </a:r>
          </a:p>
        </p:txBody>
      </p:sp>
      <p:sp>
        <p:nvSpPr>
          <p:cNvPr id="10" name="cover-outcome">
            <a:extLst xmlns:a="http://schemas.openxmlformats.org/drawingml/2006/main">
              <a:ext uri="{FF2B5EF4-FFF2-40B4-BE49-F238E27FC236}">
                <a16:creationId xmlns:a16="http://schemas.microsoft.com/office/drawing/2014/main" id="{EF7F5CFD-6C31-409C-BF68-A5113A24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57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E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AF2ED"/>
                </a:solidFill>
                <a:latin typeface="Aptos"/>
                <a:ea typeface="Aptos"/>
                <a:cs typeface="Aptos"/>
              </a:rPr>
              <a:t>Australian cuisine keeps changing because people, methods, ingredients and contexts interact.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D796FF3E-B2C3-4A0C-80F7-98794023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1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FD1C6"/>
                </a:solidFill>
                <a:latin typeface="Aptos"/>
                <a:ea typeface="Aptos"/>
                <a:cs typeface="Aptos"/>
              </a:rPr>
              <a:t>Editable classroom presentation  •  Local review copy</a:t>
            </a:r>
          </a:p>
        </p:txBody>
      </p:sp>
    </p:spTree>
    <p:extLst>
      <p:ext uri="{BB962C8B-B14F-4D97-AF65-F5344CB8AC3E}">
        <p14:creationId xmlns:p14="http://schemas.microsoft.com/office/powerpoint/2010/main" val="673287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389D63A6-CA48-472A-8157-F5B8511D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2">
            <a:extLst xmlns:a="http://schemas.openxmlformats.org/drawingml/2006/main">
              <a:ext uri="{FF2B5EF4-FFF2-40B4-BE49-F238E27FC236}">
                <a16:creationId xmlns:a16="http://schemas.microsoft.com/office/drawing/2014/main" id="{83AF559D-DF0B-4C9D-B374-592B4D7E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06</a:t>
            </a:r>
          </a:p>
        </p:txBody>
      </p:sp>
      <p:sp>
        <p:nvSpPr>
          <p:cNvPr id="3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A87400DD-91AD-4C23-9309-5B567D6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section-label-2">
            <a:extLst xmlns:a="http://schemas.openxmlformats.org/drawingml/2006/main">
              <a:ext uri="{FF2B5EF4-FFF2-40B4-BE49-F238E27FC236}">
                <a16:creationId xmlns:a16="http://schemas.microsoft.com/office/drawing/2014/main" id="{A07BC3BA-E1FF-4BE2-8CB4-DBB38ACF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MULTICULTURAL INFLUENCES · LEARNING PATHWAY</a:t>
            </a:r>
          </a:p>
        </p:txBody>
      </p:sp>
      <p:sp>
        <p:nvSpPr>
          <p:cNvPr id="5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C5A3785D-E346-4A7B-931A-874EFB70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Three ideas build one explanation</a:t>
            </a:r>
          </a:p>
        </p:txBody>
      </p:sp>
      <p:sp>
        <p:nvSpPr>
          <p:cNvPr id="6" name="arc-retrieval-prompt">
            <a:extLst xmlns:a="http://schemas.openxmlformats.org/drawingml/2006/main">
              <a:ext uri="{FF2B5EF4-FFF2-40B4-BE49-F238E27FC236}">
                <a16:creationId xmlns:a16="http://schemas.microsoft.com/office/drawing/2014/main" id="{1F9FCDE5-2F75-4C2E-B0FF-8DD8CF8F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Retrieval warm-up: What do you already know—and what needs checking?</a:t>
            </a:r>
          </a:p>
        </p:txBody>
      </p:sp>
      <p:sp>
        <p:nvSpPr>
          <p:cNvPr id="7" name="arc-connector">
            <a:extLst xmlns:a="http://schemas.openxmlformats.org/drawingml/2006/main">
              <a:ext uri="{FF2B5EF4-FFF2-40B4-BE49-F238E27FC236}">
                <a16:creationId xmlns:a16="http://schemas.microsoft.com/office/drawing/2014/main" id="{67E1C7FB-C982-4ACC-BAE3-2E487F9C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47950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8" name="arc-node-1">
            <a:extLst xmlns:a="http://schemas.openxmlformats.org/drawingml/2006/main">
              <a:ext uri="{FF2B5EF4-FFF2-40B4-BE49-F238E27FC236}">
                <a16:creationId xmlns:a16="http://schemas.microsoft.com/office/drawing/2014/main" id="{7C80C3CB-7B6B-4B11-85C4-A211C7AA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arc-number-1">
            <a:extLst xmlns:a="http://schemas.openxmlformats.org/drawingml/2006/main">
              <a:ext uri="{FF2B5EF4-FFF2-40B4-BE49-F238E27FC236}">
                <a16:creationId xmlns:a16="http://schemas.microsoft.com/office/drawing/2014/main" id="{43979B7A-ACFF-4C2F-9B1F-2D3947AF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arc-node-2">
            <a:extLst xmlns:a="http://schemas.openxmlformats.org/drawingml/2006/main">
              <a:ext uri="{FF2B5EF4-FFF2-40B4-BE49-F238E27FC236}">
                <a16:creationId xmlns:a16="http://schemas.microsoft.com/office/drawing/2014/main" id="{968450FE-C857-44A2-A7A6-498377F9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442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arc-number-2">
            <a:extLst xmlns:a="http://schemas.openxmlformats.org/drawingml/2006/main">
              <a:ext uri="{FF2B5EF4-FFF2-40B4-BE49-F238E27FC236}">
                <a16:creationId xmlns:a16="http://schemas.microsoft.com/office/drawing/2014/main" id="{6D24BE20-FAAE-412B-A490-34B4536C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arc-node-3">
            <a:extLst xmlns:a="http://schemas.openxmlformats.org/drawingml/2006/main">
              <a:ext uri="{FF2B5EF4-FFF2-40B4-BE49-F238E27FC236}">
                <a16:creationId xmlns:a16="http://schemas.microsoft.com/office/drawing/2014/main" id="{4F357F9E-D537-4FF1-AC74-ADE265F8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arc-number-3">
            <a:extLst xmlns:a="http://schemas.openxmlformats.org/drawingml/2006/main">
              <a:ext uri="{FF2B5EF4-FFF2-40B4-BE49-F238E27FC236}">
                <a16:creationId xmlns:a16="http://schemas.microsoft.com/office/drawing/2014/main" id="{16A3FB8C-00B4-41F7-BC7C-E73D1F6A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arc-section-title-1">
            <a:extLst xmlns:a="http://schemas.openxmlformats.org/drawingml/2006/main">
              <a:ext uri="{FF2B5EF4-FFF2-40B4-BE49-F238E27FC236}">
                <a16:creationId xmlns:a16="http://schemas.microsoft.com/office/drawing/2014/main" id="{9C4924E7-AF4F-4401-AEFE-BB70FA6A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Contemporary Australian cuisine keeps changing</a:t>
            </a:r>
          </a:p>
        </p:txBody>
      </p:sp>
      <p:sp>
        <p:nvSpPr>
          <p:cNvPr id="15" name="arc-section-purpose-1">
            <a:extLst xmlns:a="http://schemas.openxmlformats.org/drawingml/2006/main">
              <a:ext uri="{FF2B5EF4-FFF2-40B4-BE49-F238E27FC236}">
                <a16:creationId xmlns:a16="http://schemas.microsoft.com/office/drawing/2014/main" id="{CF6857FF-6FD6-4E7A-8554-49E6F471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See cuisine as a changing system</a:t>
            </a:r>
          </a:p>
        </p:txBody>
      </p:sp>
      <p:sp>
        <p:nvSpPr>
          <p:cNvPr id="16" name="arc-section-title-2">
            <a:extLst xmlns:a="http://schemas.openxmlformats.org/drawingml/2006/main">
              <a:ext uri="{FF2B5EF4-FFF2-40B4-BE49-F238E27FC236}">
                <a16:creationId xmlns:a16="http://schemas.microsoft.com/office/drawing/2014/main" id="{4D65C79F-BDD9-4E21-999A-C98D8495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Research one food culture without stereotyping</a:t>
            </a:r>
          </a:p>
        </p:txBody>
      </p:sp>
      <p:sp>
        <p:nvSpPr>
          <p:cNvPr id="17" name="arc-section-purpose-2">
            <a:extLst xmlns:a="http://schemas.openxmlformats.org/drawingml/2006/main">
              <a:ext uri="{FF2B5EF4-FFF2-40B4-BE49-F238E27FC236}">
                <a16:creationId xmlns:a16="http://schemas.microsoft.com/office/drawing/2014/main" id="{4796FB21-940F-401F-A208-58EE9F70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Research one bounded food context</a:t>
            </a:r>
          </a:p>
        </p:txBody>
      </p:sp>
      <p:sp>
        <p:nvSpPr>
          <p:cNvPr id="18" name="arc-section-title-3">
            <a:extLst xmlns:a="http://schemas.openxmlformats.org/drawingml/2006/main">
              <a:ext uri="{FF2B5EF4-FFF2-40B4-BE49-F238E27FC236}">
                <a16:creationId xmlns:a16="http://schemas.microsoft.com/office/drawing/2014/main" id="{1C769692-8CE4-453A-9698-EB9DDCDB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Ingredients, flavours and methods work together</a:t>
            </a:r>
          </a:p>
        </p:txBody>
      </p:sp>
      <p:sp>
        <p:nvSpPr>
          <p:cNvPr id="19" name="arc-section-purpose-3">
            <a:extLst xmlns:a="http://schemas.openxmlformats.org/drawingml/2006/main">
              <a:ext uri="{FF2B5EF4-FFF2-40B4-BE49-F238E27FC236}">
                <a16:creationId xmlns:a16="http://schemas.microsoft.com/office/drawing/2014/main" id="{3AD875EC-211D-4CD7-8E81-174F35DA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Connect methods to observable results</a:t>
            </a:r>
          </a:p>
        </p:txBody>
      </p:sp>
      <p:sp>
        <p:nvSpPr>
          <p:cNvPr id="20" name="arc-takeaway-band">
            <a:extLst xmlns:a="http://schemas.openxmlformats.org/drawingml/2006/main">
              <a:ext uri="{FF2B5EF4-FFF2-40B4-BE49-F238E27FC236}">
                <a16:creationId xmlns:a16="http://schemas.microsoft.com/office/drawing/2014/main" id="{A9BA0B49-E6F1-4C6F-B8EB-D3244975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1087100" cy="790575"/>
          </a:xfrm>
          <a:prstGeom xmlns:a="http://schemas.openxmlformats.org/drawingml/2006/main" prst="roundRect">
            <a:avLst>
              <a:gd name="adj" fmla="val 16867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1" name="arc-takeaway">
            <a:extLst xmlns:a="http://schemas.openxmlformats.org/drawingml/2006/main">
              <a:ext uri="{FF2B5EF4-FFF2-40B4-BE49-F238E27FC236}">
                <a16:creationId xmlns:a16="http://schemas.microsoft.com/office/drawing/2014/main" id="{01A309D3-C532-4D34-94D5-E750DA7C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6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Connect all three: Australian cuisine keeps changing because people, methods, ingredients and contexts interact.</a:t>
            </a:r>
          </a:p>
        </p:txBody>
      </p:sp>
    </p:spTree>
    <p:extLst>
      <p:ext uri="{BB962C8B-B14F-4D97-AF65-F5344CB8AC3E}">
        <p14:creationId xmlns:p14="http://schemas.microsoft.com/office/powerpoint/2010/main" val="644002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3">
            <a:extLst xmlns:a="http://schemas.openxmlformats.org/drawingml/2006/main">
              <a:ext uri="{FF2B5EF4-FFF2-40B4-BE49-F238E27FC236}">
                <a16:creationId xmlns:a16="http://schemas.microsoft.com/office/drawing/2014/main" id="{AD24759C-65C6-47D2-BBD4-2D14DBA2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3">
            <a:extLst xmlns:a="http://schemas.openxmlformats.org/drawingml/2006/main">
              <a:ext uri="{FF2B5EF4-FFF2-40B4-BE49-F238E27FC236}">
                <a16:creationId xmlns:a16="http://schemas.microsoft.com/office/drawing/2014/main" id="{CAA2030C-44C1-46AA-B046-425E76C1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06</a:t>
            </a:r>
          </a:p>
        </p:txBody>
      </p:sp>
      <p:sp>
        <p:nvSpPr>
          <p:cNvPr id="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5C41483-351D-4198-B1C7-9C9F3AA8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section-label-3">
            <a:extLst xmlns:a="http://schemas.openxmlformats.org/drawingml/2006/main">
              <a:ext uri="{FF2B5EF4-FFF2-40B4-BE49-F238E27FC236}">
                <a16:creationId xmlns:a16="http://schemas.microsoft.com/office/drawing/2014/main" id="{940722C9-1BF7-4170-B2B1-A9BE0569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1 · M06-S01</a:t>
            </a:r>
          </a:p>
        </p:txBody>
      </p:sp>
      <p:sp>
        <p:nvSpPr>
          <p:cNvPr id="5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B44EFC32-6ED4-4CA9-92C3-25E02699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Contemporary Australian cuisine keeps changing</a:t>
            </a:r>
          </a:p>
        </p:txBody>
      </p:sp>
      <p:sp>
        <p:nvSpPr>
          <p:cNvPr id="6" name="idea-1-visual-frame">
            <a:extLst xmlns:a="http://schemas.openxmlformats.org/drawingml/2006/main">
              <a:ext uri="{FF2B5EF4-FFF2-40B4-BE49-F238E27FC236}">
                <a16:creationId xmlns:a16="http://schemas.microsoft.com/office/drawing/2014/main" id="{8570369F-D346-4A8F-BB6F-90D83A39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598170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e08c82f804f6d"/>
          <a:stretch xmlns:a="http://schemas.openxmlformats.org/drawingml/2006/main"/>
        </p:blipFill>
        <p:spPr>
          <a:xfrm xmlns:a="http://schemas.openxmlformats.org/drawingml/2006/main">
            <a:off x="533400" y="1716881"/>
            <a:ext cx="5905500" cy="369093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8" name="idea-1-visual-caption">
            <a:extLst xmlns:a="http://schemas.openxmlformats.org/drawingml/2006/main">
              <a:ext uri="{FF2B5EF4-FFF2-40B4-BE49-F238E27FC236}">
                <a16:creationId xmlns:a16="http://schemas.microsoft.com/office/drawing/2014/main" id="{145124B4-082C-4420-B394-5C9AEDCC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Australian food habits sit within a changing network of influences; arrows run both ways because these factors can interact.</a:t>
            </a:r>
          </a:p>
        </p:txBody>
      </p:sp>
      <p:sp>
        <p:nvSpPr>
          <p:cNvPr id="9" name="idea-1-body">
            <a:extLst xmlns:a="http://schemas.openxmlformats.org/drawingml/2006/main">
              <a:ext uri="{FF2B5EF4-FFF2-40B4-BE49-F238E27FC236}">
                <a16:creationId xmlns:a16="http://schemas.microsoft.com/office/drawing/2014/main" id="{A17F7D9A-23FB-4A58-80E4-C314B326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95450"/>
            <a:ext cx="45910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Contemporary Australian cuisine is a changing system, not a fixed list of national dishes. Continuing First Nations cultures, migration, agriculture, industry, technology, media, travel and individual choice interact in different contexts.</a:t>
            </a:r>
          </a:p>
        </p:txBody>
      </p:sp>
      <p:sp>
        <p:nvSpPr>
          <p:cNvPr id="10" name="idea-1-notice-band">
            <a:extLst xmlns:a="http://schemas.openxmlformats.org/drawingml/2006/main">
              <a:ext uri="{FF2B5EF4-FFF2-40B4-BE49-F238E27FC236}">
                <a16:creationId xmlns:a16="http://schemas.microsoft.com/office/drawing/2014/main" id="{663B6152-9B99-478E-B2B4-7C3F6D10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52925"/>
            <a:ext cx="45910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1" name="idea-1-notice">
            <a:extLst xmlns:a="http://schemas.openxmlformats.org/drawingml/2006/main">
              <a:ext uri="{FF2B5EF4-FFF2-40B4-BE49-F238E27FC236}">
                <a16:creationId xmlns:a16="http://schemas.microsoft.com/office/drawing/2014/main" id="{B23D3790-86AC-425B-9AC2-89518E7A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4133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Follow the two-way arrows. Which influences could affect one another before they shape food habits?</a:t>
            </a:r>
          </a:p>
        </p:txBody>
      </p:sp>
    </p:spTree>
    <p:extLst>
      <p:ext uri="{BB962C8B-B14F-4D97-AF65-F5344CB8AC3E}">
        <p14:creationId xmlns:p14="http://schemas.microsoft.com/office/powerpoint/2010/main" val="932695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6271EC78-E39E-4BAD-97D4-7A2D8473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4">
            <a:extLst xmlns:a="http://schemas.openxmlformats.org/drawingml/2006/main">
              <a:ext uri="{FF2B5EF4-FFF2-40B4-BE49-F238E27FC236}">
                <a16:creationId xmlns:a16="http://schemas.microsoft.com/office/drawing/2014/main" id="{0D3525A2-A0FC-4A2D-81AB-F2D26D88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06</a:t>
            </a:r>
          </a:p>
        </p:txBody>
      </p:sp>
      <p:sp>
        <p:nvSpPr>
          <p:cNvPr id="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6FCCA7FC-84FE-49E1-A3F4-F46AA9F8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section-label-4">
            <a:extLst xmlns:a="http://schemas.openxmlformats.org/drawingml/2006/main">
              <a:ext uri="{FF2B5EF4-FFF2-40B4-BE49-F238E27FC236}">
                <a16:creationId xmlns:a16="http://schemas.microsoft.com/office/drawing/2014/main" id="{CCBC7627-7DCE-497F-A38C-25A4AE41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2 · M06-S02</a:t>
            </a:r>
          </a:p>
        </p:txBody>
      </p:sp>
      <p:sp>
        <p:nvSpPr>
          <p:cNvPr id="5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63B7BB54-255A-48A3-9423-767AAAC9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Research one food culture without stereotyping</a:t>
            </a:r>
          </a:p>
        </p:txBody>
      </p:sp>
      <p:sp>
        <p:nvSpPr>
          <p:cNvPr id="6" name="idea-2-body">
            <a:extLst xmlns:a="http://schemas.openxmlformats.org/drawingml/2006/main">
              <a:ext uri="{FF2B5EF4-FFF2-40B4-BE49-F238E27FC236}">
                <a16:creationId xmlns:a16="http://schemas.microsoft.com/office/drawing/2014/main" id="{71DC93D1-F45B-44C4-830A-4399B269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46863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A careful food-culture investigation narrows place, time and context. Use more than one credible source, compare perspectives and describe what the evidence supports without presenting a whole country or culture as one diet.</a:t>
            </a:r>
          </a:p>
        </p:txBody>
      </p:sp>
      <p:sp>
        <p:nvSpPr>
          <p:cNvPr id="7" name="idea-2-notice-band">
            <a:extLst xmlns:a="http://schemas.openxmlformats.org/drawingml/2006/main">
              <a:ext uri="{FF2B5EF4-FFF2-40B4-BE49-F238E27FC236}">
                <a16:creationId xmlns:a16="http://schemas.microsoft.com/office/drawing/2014/main" id="{88233FFD-4F67-43A7-9529-C790A75D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46863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8" name="idea-2-notice">
            <a:extLst xmlns:a="http://schemas.openxmlformats.org/drawingml/2006/main">
              <a:ext uri="{FF2B5EF4-FFF2-40B4-BE49-F238E27FC236}">
                <a16:creationId xmlns:a16="http://schemas.microsoft.com/office/drawing/2014/main" id="{F3D9DDB1-EC7B-45BE-A1F5-386EACD8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4229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At which stage would a broad cultural claim be narrowed, cross-checked or stopped for guidance?</a:t>
            </a:r>
          </a:p>
        </p:txBody>
      </p:sp>
      <p:sp>
        <p:nvSpPr>
          <p:cNvPr id="9" name="idea-2-visual-frame">
            <a:extLst xmlns:a="http://schemas.openxmlformats.org/drawingml/2006/main">
              <a:ext uri="{FF2B5EF4-FFF2-40B4-BE49-F238E27FC236}">
                <a16:creationId xmlns:a16="http://schemas.microsoft.com/office/drawing/2014/main" id="{E8BBF546-3479-4591-9E2A-0D8367E2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84835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e1d951b6b4c8b"/>
          <a:stretch xmlns:a="http://schemas.openxmlformats.org/drawingml/2006/main"/>
        </p:blipFill>
        <p:spPr>
          <a:xfrm xmlns:a="http://schemas.openxmlformats.org/drawingml/2006/main">
            <a:off x="5753100" y="1758553"/>
            <a:ext cx="5772150" cy="3607594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idea-2-visual-caption">
            <a:extLst xmlns:a="http://schemas.openxmlformats.org/drawingml/2006/main">
              <a:ext uri="{FF2B5EF4-FFF2-40B4-BE49-F238E27FC236}">
                <a16:creationId xmlns:a16="http://schemas.microsoft.com/office/drawing/2014/main" id="{7E759E1D-BB4F-4BD4-99D6-BA34B551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57850"/>
            <a:ext cx="577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A careful investigation narrows its context, uses varied evidence and limits the conclusion to what the sources support.</a:t>
            </a:r>
          </a:p>
        </p:txBody>
      </p:sp>
    </p:spTree>
    <p:extLst>
      <p:ext uri="{BB962C8B-B14F-4D97-AF65-F5344CB8AC3E}">
        <p14:creationId xmlns:p14="http://schemas.microsoft.com/office/powerpoint/2010/main" val="268912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1A732E95-55F7-475F-9D6D-41C9F1D6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5">
            <a:extLst xmlns:a="http://schemas.openxmlformats.org/drawingml/2006/main">
              <a:ext uri="{FF2B5EF4-FFF2-40B4-BE49-F238E27FC236}">
                <a16:creationId xmlns:a16="http://schemas.microsoft.com/office/drawing/2014/main" id="{8759A7E5-BD60-4E69-B4A6-F5F62E77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06</a:t>
            </a:r>
          </a:p>
        </p:txBody>
      </p:sp>
      <p:sp>
        <p:nvSpPr>
          <p:cNvPr id="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64C3D934-29BE-4A39-979C-63E41291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section-label-5">
            <a:extLst xmlns:a="http://schemas.openxmlformats.org/drawingml/2006/main">
              <a:ext uri="{FF2B5EF4-FFF2-40B4-BE49-F238E27FC236}">
                <a16:creationId xmlns:a16="http://schemas.microsoft.com/office/drawing/2014/main" id="{4D18360E-FE7E-4EB5-AE27-17ADF7BA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3 · M06-S03</a:t>
            </a:r>
          </a:p>
        </p:txBody>
      </p:sp>
      <p:sp>
        <p:nvSpPr>
          <p:cNvPr id="5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D54D3F26-68F4-46B1-A664-F24A6527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Ingredients, flavours and methods work together</a:t>
            </a:r>
          </a:p>
        </p:txBody>
      </p:sp>
      <p:sp>
        <p:nvSpPr>
          <p:cNvPr id="6" name="idea-3-body">
            <a:extLst xmlns:a="http://schemas.openxmlformats.org/drawingml/2006/main">
              <a:ext uri="{FF2B5EF4-FFF2-40B4-BE49-F238E27FC236}">
                <a16:creationId xmlns:a16="http://schemas.microsoft.com/office/drawing/2014/main" id="{FB8C4683-3317-4C53-B4DA-028F817B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476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Ingredients, methods and sensory results work together. Start with the desired observable quality, then explain how an ingredient’s properties and a preparation or cooking method could produce it within the stated constraint.</a:t>
            </a:r>
          </a:p>
        </p:txBody>
      </p:sp>
      <p:sp>
        <p:nvSpPr>
          <p:cNvPr id="7" name="idea-3-decision-band">
            <a:extLst xmlns:a="http://schemas.openxmlformats.org/drawingml/2006/main">
              <a:ext uri="{FF2B5EF4-FFF2-40B4-BE49-F238E27FC236}">
                <a16:creationId xmlns:a16="http://schemas.microsoft.com/office/drawing/2014/main" id="{77DFBE6E-746D-4969-A08D-BB8DB437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4476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dea-3-decision">
            <a:extLst xmlns:a="http://schemas.openxmlformats.org/drawingml/2006/main">
              <a:ext uri="{FF2B5EF4-FFF2-40B4-BE49-F238E27FC236}">
                <a16:creationId xmlns:a16="http://schemas.microsoft.com/office/drawing/2014/main" id="{63838FC0-3A34-4C22-8217-D5C5610C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4019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6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Compare the surfaces, colour and apparent moisture. Which differences are observable, and which sensory qualities would still need testing?</a:t>
            </a:r>
          </a:p>
        </p:txBody>
      </p:sp>
      <p:sp>
        <p:nvSpPr>
          <p:cNvPr id="9" name="idea-3-visual-frame">
            <a:extLst xmlns:a="http://schemas.openxmlformats.org/drawingml/2006/main">
              <a:ext uri="{FF2B5EF4-FFF2-40B4-BE49-F238E27FC236}">
                <a16:creationId xmlns:a16="http://schemas.microsoft.com/office/drawing/2014/main" id="{CC500C50-8293-4DE3-A5FD-D7EA44E7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24000"/>
            <a:ext cx="6057900" cy="40386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316432dd448d6"/>
          <a:srcRect xmlns:a="http://schemas.openxmlformats.org/drawingml/2006/main" l="0" t="318" r="0" b="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3550" y="1562100"/>
            <a:ext cx="5981700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11" name="idea-3-visual-caption">
            <a:extLst xmlns:a="http://schemas.openxmlformats.org/drawingml/2006/main">
              <a:ext uri="{FF2B5EF4-FFF2-40B4-BE49-F238E27FC236}">
                <a16:creationId xmlns:a16="http://schemas.microsoft.com/office/drawing/2014/main" id="{D48FABBE-99AB-4BDB-B286-37ADA698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619750"/>
            <a:ext cx="598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A controlled visual comparison of steamed and roasted vegetables; observations support predictions but do not replace testing or teacher-approved methods.</a:t>
            </a:r>
          </a:p>
        </p:txBody>
      </p:sp>
    </p:spTree>
    <p:extLst>
      <p:ext uri="{BB962C8B-B14F-4D97-AF65-F5344CB8AC3E}">
        <p14:creationId xmlns:p14="http://schemas.microsoft.com/office/powerpoint/2010/main" val="828536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accent-6">
            <a:extLst xmlns:a="http://schemas.openxmlformats.org/drawingml/2006/main">
              <a:ext uri="{FF2B5EF4-FFF2-40B4-BE49-F238E27FC236}">
                <a16:creationId xmlns:a16="http://schemas.microsoft.com/office/drawing/2014/main" id="{1C5C9DAB-ED35-414D-AF78-70F22D97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6">
            <a:extLst xmlns:a="http://schemas.openxmlformats.org/drawingml/2006/main">
              <a:ext uri="{FF2B5EF4-FFF2-40B4-BE49-F238E27FC236}">
                <a16:creationId xmlns:a16="http://schemas.microsoft.com/office/drawing/2014/main" id="{D08E2817-D887-4653-BBE1-8AA817AD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  •  MODULE 06</a:t>
            </a:r>
          </a:p>
        </p:txBody>
      </p:sp>
      <p:sp>
        <p:nvSpPr>
          <p:cNvPr id="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468AF928-BE31-4AE1-8A38-8FEDF148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retrieve-label">
            <a:extLst xmlns:a="http://schemas.openxmlformats.org/drawingml/2006/main">
              <a:ext uri="{FF2B5EF4-FFF2-40B4-BE49-F238E27FC236}">
                <a16:creationId xmlns:a16="http://schemas.microsoft.com/office/drawing/2014/main" id="{ECD7A9A8-14E1-468A-A600-DDED51F1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MULTICULTURAL INFLUENCES · REHEARSAL</a:t>
            </a:r>
          </a:p>
        </p:txBody>
      </p:sp>
      <p:sp>
        <p:nvSpPr>
          <p:cNvPr id="5" name="retrieve-title">
            <a:extLst xmlns:a="http://schemas.openxmlformats.org/drawingml/2006/main">
              <a:ext uri="{FF2B5EF4-FFF2-40B4-BE49-F238E27FC236}">
                <a16:creationId xmlns:a16="http://schemas.microsoft.com/office/drawing/2014/main" id="{CF842E4E-29F4-4B0D-82F3-433090E6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Stop. Think. Explain.</a:t>
            </a:r>
          </a:p>
        </p:txBody>
      </p:sp>
      <p:sp>
        <p:nvSpPr>
          <p:cNvPr id="6" name="retrieve-instruction">
            <a:extLst xmlns:a="http://schemas.openxmlformats.org/drawingml/2006/main">
              <a:ext uri="{FF2B5EF4-FFF2-40B4-BE49-F238E27FC236}">
                <a16:creationId xmlns:a16="http://schemas.microsoft.com/office/drawing/2014/main" id="{3FAA7B3E-BBD5-4C80-AB4E-C951F7B7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01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DE9E2"/>
                </a:solidFill>
                <a:latin typeface="Aptos"/>
                <a:ea typeface="Aptos"/>
                <a:cs typeface="Aptos"/>
              </a:rPr>
              <a:t>Answer silently first. Then justify one response with a partner.</a:t>
            </a:r>
          </a:p>
        </p:txBody>
      </p:sp>
      <p:sp>
        <p:nvSpPr>
          <p:cNvPr id="7" name="retrieve-number-1">
            <a:extLst xmlns:a="http://schemas.openxmlformats.org/drawingml/2006/main">
              <a:ext uri="{FF2B5EF4-FFF2-40B4-BE49-F238E27FC236}">
                <a16:creationId xmlns:a16="http://schemas.microsoft.com/office/drawing/2014/main" id="{931ED301-62D1-4C65-B4B5-3B2D2356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trieve-question-1">
            <a:extLst xmlns:a="http://schemas.openxmlformats.org/drawingml/2006/main">
              <a:ext uri="{FF2B5EF4-FFF2-40B4-BE49-F238E27FC236}">
                <a16:creationId xmlns:a16="http://schemas.microsoft.com/office/drawing/2014/main" id="{FC2DB470-0C72-468C-B425-4E9259A4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evidence set best represents changing contemporary Australian cuisine?</a:t>
            </a:r>
          </a:p>
        </p:txBody>
      </p:sp>
      <p:sp>
        <p:nvSpPr>
          <p:cNvPr id="9" name="retrieve-divider-1">
            <a:extLst xmlns:a="http://schemas.openxmlformats.org/drawingml/2006/main">
              <a:ext uri="{FF2B5EF4-FFF2-40B4-BE49-F238E27FC236}">
                <a16:creationId xmlns:a16="http://schemas.microsoft.com/office/drawing/2014/main" id="{9424EEDC-E4DA-4EFA-AD64-143111BB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813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0" name="retrieve-number-2">
            <a:extLst xmlns:a="http://schemas.openxmlformats.org/drawingml/2006/main">
              <a:ext uri="{FF2B5EF4-FFF2-40B4-BE49-F238E27FC236}">
                <a16:creationId xmlns:a16="http://schemas.microsoft.com/office/drawing/2014/main" id="{A07CCF71-7DD2-42A4-8E47-9EEDA72C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trieve-question-2">
            <a:extLst xmlns:a="http://schemas.openxmlformats.org/drawingml/2006/main">
              <a:ext uri="{FF2B5EF4-FFF2-40B4-BE49-F238E27FC236}">
                <a16:creationId xmlns:a16="http://schemas.microsoft.com/office/drawing/2014/main" id="{A9BAC65B-C526-4DB4-B58F-B5F01814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527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research question is most likely to avoid stereotyping?</a:t>
            </a:r>
          </a:p>
        </p:txBody>
      </p:sp>
      <p:sp>
        <p:nvSpPr>
          <p:cNvPr id="12" name="retrieve-divider-2">
            <a:extLst xmlns:a="http://schemas.openxmlformats.org/drawingml/2006/main">
              <a:ext uri="{FF2B5EF4-FFF2-40B4-BE49-F238E27FC236}">
                <a16:creationId xmlns:a16="http://schemas.microsoft.com/office/drawing/2014/main" id="{070EC91D-D7EE-485F-A19F-B3EA3D34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862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3" name="retrieve-number-3">
            <a:extLst xmlns:a="http://schemas.openxmlformats.org/drawingml/2006/main">
              <a:ext uri="{FF2B5EF4-FFF2-40B4-BE49-F238E27FC236}">
                <a16:creationId xmlns:a16="http://schemas.microsoft.com/office/drawing/2014/main" id="{F317DF10-5B79-4594-B2D9-A2662363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529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trieve-question-3">
            <a:extLst xmlns:a="http://schemas.openxmlformats.org/drawingml/2006/main">
              <a:ext uri="{FF2B5EF4-FFF2-40B4-BE49-F238E27FC236}">
                <a16:creationId xmlns:a16="http://schemas.microsoft.com/office/drawing/2014/main" id="{F40CA0F6-CB28-4456-AAF2-A5599C1A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76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makes a method justification useful?</a:t>
            </a:r>
          </a:p>
        </p:txBody>
      </p:sp>
      <p:sp>
        <p:nvSpPr>
          <p:cNvPr id="15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94101230-B634-4D90-933D-0B492444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6" name="activity-label">
            <a:extLst xmlns:a="http://schemas.openxmlformats.org/drawingml/2006/main">
              <a:ext uri="{FF2B5EF4-FFF2-40B4-BE49-F238E27FC236}">
                <a16:creationId xmlns:a16="http://schemas.microsoft.com/office/drawing/2014/main" id="{38195241-422C-4593-9B5E-91C1BA58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APPLIED LEARNING ACTIVITY</a:t>
            </a:r>
          </a:p>
        </p:txBody>
      </p:sp>
      <p:sp>
        <p:nvSpPr>
          <p:cNvPr id="17" name="activity-title">
            <a:extLst xmlns:a="http://schemas.openxmlformats.org/drawingml/2006/main">
              <a:ext uri="{FF2B5EF4-FFF2-40B4-BE49-F238E27FC236}">
                <a16:creationId xmlns:a16="http://schemas.microsoft.com/office/drawing/2014/main" id="{6C4B396A-3EC0-4210-9201-2BB3D102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6222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Culture-research repair workshop</a:t>
            </a:r>
          </a:p>
        </p:txBody>
      </p:sp>
      <p:sp>
        <p:nvSpPr>
          <p:cNvPr id="18" name="activity-purpose">
            <a:extLst xmlns:a="http://schemas.openxmlformats.org/drawingml/2006/main">
              <a:ext uri="{FF2B5EF4-FFF2-40B4-BE49-F238E27FC236}">
                <a16:creationId xmlns:a16="http://schemas.microsoft.com/office/drawing/2014/main" id="{FF5E4F91-164B-4CDB-92BD-47484110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38525"/>
            <a:ext cx="342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Practise narrowing cultural research and connecting methods with observable food purposes.</a:t>
            </a:r>
          </a:p>
        </p:txBody>
      </p:sp>
      <p:sp>
        <p:nvSpPr>
          <p:cNvPr id="19" name="activity-task">
            <a:extLst xmlns:a="http://schemas.openxmlformats.org/drawingml/2006/main">
              <a:ext uri="{FF2B5EF4-FFF2-40B4-BE49-F238E27FC236}">
                <a16:creationId xmlns:a16="http://schemas.microsoft.com/office/drawing/2014/main" id="{7688C899-409C-4A6B-8243-9627999A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Try: Which question is best bounded for a short investigation?</a:t>
            </a:r>
          </a:p>
        </p:txBody>
      </p:sp>
      <p:sp>
        <p:nvSpPr>
          <p:cNvPr id="20" name="retrieve-boundary">
            <a:extLst xmlns:a="http://schemas.openxmlformats.org/drawingml/2006/main">
              <a:ext uri="{FF2B5EF4-FFF2-40B4-BE49-F238E27FC236}">
                <a16:creationId xmlns:a16="http://schemas.microsoft.com/office/drawing/2014/main" id="{5DC18A9B-4363-431E-B27E-241CF089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08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Rehearsal first. Save evidence only when the teacher directs.</a:t>
            </a:r>
          </a:p>
        </p:txBody>
      </p:sp>
    </p:spTree>
    <p:extLst>
      <p:ext uri="{BB962C8B-B14F-4D97-AF65-F5344CB8AC3E}">
        <p14:creationId xmlns:p14="http://schemas.microsoft.com/office/powerpoint/2010/main" val="1663194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accent-7">
            <a:extLst xmlns:a="http://schemas.openxmlformats.org/drawingml/2006/main">
              <a:ext uri="{FF2B5EF4-FFF2-40B4-BE49-F238E27FC236}">
                <a16:creationId xmlns:a16="http://schemas.microsoft.com/office/drawing/2014/main" id="{316BD9C5-85D3-49BE-A33C-72B68B51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7">
            <a:extLst xmlns:a="http://schemas.openxmlformats.org/drawingml/2006/main">
              <a:ext uri="{FF2B5EF4-FFF2-40B4-BE49-F238E27FC236}">
                <a16:creationId xmlns:a16="http://schemas.microsoft.com/office/drawing/2014/main" id="{4D7EE439-534B-4C8B-A1D6-65A6619E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06</a:t>
            </a:r>
          </a:p>
        </p:txBody>
      </p:sp>
      <p:sp>
        <p:nvSpPr>
          <p:cNvPr id="3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0D77E7ED-BB92-4410-8C31-FDDF5200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section-label-7">
            <a:extLst xmlns:a="http://schemas.openxmlformats.org/drawingml/2006/main">
              <a:ext uri="{FF2B5EF4-FFF2-40B4-BE49-F238E27FC236}">
                <a16:creationId xmlns:a16="http://schemas.microsoft.com/office/drawing/2014/main" id="{C5496510-1142-43B5-9F88-06AC5B97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MULTICULTURAL INFLUENCES · GUIDED RESPONSE</a:t>
            </a:r>
          </a:p>
        </p:txBody>
      </p:sp>
      <p:sp>
        <p:nvSpPr>
          <p:cNvPr id="5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72CAD7AB-D73A-4709-898C-97CDAC47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Build evidence someone else can follow</a:t>
            </a:r>
          </a:p>
        </p:txBody>
      </p:sp>
      <p:sp>
        <p:nvSpPr>
          <p:cNvPr id="6" name="evidence-question-panel">
            <a:extLst xmlns:a="http://schemas.openxmlformats.org/drawingml/2006/main">
              <a:ext uri="{FF2B5EF4-FFF2-40B4-BE49-F238E27FC236}">
                <a16:creationId xmlns:a16="http://schemas.microsoft.com/office/drawing/2014/main" id="{C9B7EFB5-588B-47F9-9765-9FC45E9D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0871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7" name="evidence-question-label">
            <a:extLst xmlns:a="http://schemas.openxmlformats.org/drawingml/2006/main">
              <a:ext uri="{FF2B5EF4-FFF2-40B4-BE49-F238E27FC236}">
                <a16:creationId xmlns:a16="http://schemas.microsoft.com/office/drawing/2014/main" id="{45D69B34-2FF1-4448-9881-D3264664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8" name="evidence-question">
            <a:extLst xmlns:a="http://schemas.openxmlformats.org/drawingml/2006/main">
              <a:ext uri="{FF2B5EF4-FFF2-40B4-BE49-F238E27FC236}">
                <a16:creationId xmlns:a16="http://schemas.microsoft.com/office/drawing/2014/main" id="{BA989195-DE28-4061-8C9D-DEE1556F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E"/>
                </a:solidFill>
                <a:latin typeface="Aptos"/>
                <a:ea typeface="Aptos"/>
                <a:cs typeface="Aptos"/>
              </a:rPr>
              <a:t>Select a preparation or cooking method for a stated sensory purpose and constraint. Justify the choice using ingredient properties, heat transfer and observable effects.</a:t>
            </a:r>
          </a:p>
        </p:txBody>
      </p:sp>
      <p:sp>
        <p:nvSpPr>
          <p:cNvPr id="9" name="evidence-connector-1">
            <a:extLst xmlns:a="http://schemas.openxmlformats.org/drawingml/2006/main">
              <a:ext uri="{FF2B5EF4-FFF2-40B4-BE49-F238E27FC236}">
                <a16:creationId xmlns:a16="http://schemas.microsoft.com/office/drawing/2014/main" id="{0AE7955C-3EA8-4B11-AFB2-157D046F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0" name="evidence-connector-2">
            <a:extLst xmlns:a="http://schemas.openxmlformats.org/drawingml/2006/main">
              <a:ext uri="{FF2B5EF4-FFF2-40B4-BE49-F238E27FC236}">
                <a16:creationId xmlns:a16="http://schemas.microsoft.com/office/drawing/2014/main" id="{F07BDB9B-26C0-4BB5-8D0C-459824F9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1" name="evidence-connector-3">
            <a:extLst xmlns:a="http://schemas.openxmlformats.org/drawingml/2006/main">
              <a:ext uri="{FF2B5EF4-FFF2-40B4-BE49-F238E27FC236}">
                <a16:creationId xmlns:a16="http://schemas.microsoft.com/office/drawing/2014/main" id="{511ABEC1-A0EA-4D4F-BE2D-4DCE79AB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2" name="evidence-step-label-1">
            <a:extLst xmlns:a="http://schemas.openxmlformats.org/drawingml/2006/main">
              <a:ext uri="{FF2B5EF4-FFF2-40B4-BE49-F238E27FC236}">
                <a16:creationId xmlns:a16="http://schemas.microsoft.com/office/drawing/2014/main" id="{48065ECF-2B41-4FDB-A054-9CFEF2D3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1  READ</a:t>
            </a:r>
          </a:p>
        </p:txBody>
      </p:sp>
      <p:sp>
        <p:nvSpPr>
          <p:cNvPr id="13" name="evidence-step-panel-1">
            <a:extLst xmlns:a="http://schemas.openxmlformats.org/drawingml/2006/main">
              <a:ext uri="{FF2B5EF4-FFF2-40B4-BE49-F238E27FC236}">
                <a16:creationId xmlns:a16="http://schemas.microsoft.com/office/drawing/2014/main" id="{B774BCD4-E959-426E-B396-7EF214B2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4" name="evidence-step-text-1">
            <a:extLst xmlns:a="http://schemas.openxmlformats.org/drawingml/2006/main">
              <a:ext uri="{FF2B5EF4-FFF2-40B4-BE49-F238E27FC236}">
                <a16:creationId xmlns:a16="http://schemas.microsoft.com/office/drawing/2014/main" id="{47927F87-743E-423A-A936-AABECD27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Underline the exact decision or explanation the prompt requires.</a:t>
            </a:r>
          </a:p>
        </p:txBody>
      </p:sp>
      <p:sp>
        <p:nvSpPr>
          <p:cNvPr id="15" name="evidence-step-label-2">
            <a:extLst xmlns:a="http://schemas.openxmlformats.org/drawingml/2006/main">
              <a:ext uri="{FF2B5EF4-FFF2-40B4-BE49-F238E27FC236}">
                <a16:creationId xmlns:a16="http://schemas.microsoft.com/office/drawing/2014/main" id="{DC5D3C02-048B-4A89-8BDA-14871AC2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2  SELECT</a:t>
            </a:r>
          </a:p>
        </p:txBody>
      </p:sp>
      <p:sp>
        <p:nvSpPr>
          <p:cNvPr id="16" name="evidence-step-panel-2">
            <a:extLst xmlns:a="http://schemas.openxmlformats.org/drawingml/2006/main">
              <a:ext uri="{FF2B5EF4-FFF2-40B4-BE49-F238E27FC236}">
                <a16:creationId xmlns:a16="http://schemas.microsoft.com/office/drawing/2014/main" id="{C59CD27E-FD91-4162-B727-4A65EE36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7" name="evidence-step-text-2">
            <a:extLst xmlns:a="http://schemas.openxmlformats.org/drawingml/2006/main">
              <a:ext uri="{FF2B5EF4-FFF2-40B4-BE49-F238E27FC236}">
                <a16:creationId xmlns:a16="http://schemas.microsoft.com/office/drawing/2014/main" id="{A7A2CBA6-849D-400F-B6B6-E7C17EB7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Choose evidence that starts with the desired result.</a:t>
            </a:r>
          </a:p>
        </p:txBody>
      </p:sp>
      <p:sp>
        <p:nvSpPr>
          <p:cNvPr id="18" name="evidence-step-label-3">
            <a:extLst xmlns:a="http://schemas.openxmlformats.org/drawingml/2006/main">
              <a:ext uri="{FF2B5EF4-FFF2-40B4-BE49-F238E27FC236}">
                <a16:creationId xmlns:a16="http://schemas.microsoft.com/office/drawing/2014/main" id="{2FFC45BE-8AA1-4763-997F-241DB1CF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3  EXPLAIN</a:t>
            </a:r>
          </a:p>
        </p:txBody>
      </p:sp>
      <p:sp>
        <p:nvSpPr>
          <p:cNvPr id="19" name="evidence-step-panel-3">
            <a:extLst xmlns:a="http://schemas.openxmlformats.org/drawingml/2006/main">
              <a:ext uri="{FF2B5EF4-FFF2-40B4-BE49-F238E27FC236}">
                <a16:creationId xmlns:a16="http://schemas.microsoft.com/office/drawing/2014/main" id="{ECB8A48D-4826-4D06-959A-83E0D2C2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EEE3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0" name="evidence-step-text-3">
            <a:extLst xmlns:a="http://schemas.openxmlformats.org/drawingml/2006/main">
              <a:ext uri="{FF2B5EF4-FFF2-40B4-BE49-F238E27FC236}">
                <a16:creationId xmlns:a16="http://schemas.microsoft.com/office/drawing/2014/main" id="{4CDCBDE5-A6E7-478A-AE65-41CB27FD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The intended observable result is …</a:t>
            </a:r>
          </a:p>
        </p:txBody>
      </p:sp>
      <p:sp>
        <p:nvSpPr>
          <p:cNvPr id="21" name="evidence-step-label-4">
            <a:extLst xmlns:a="http://schemas.openxmlformats.org/drawingml/2006/main">
              <a:ext uri="{FF2B5EF4-FFF2-40B4-BE49-F238E27FC236}">
                <a16:creationId xmlns:a16="http://schemas.microsoft.com/office/drawing/2014/main" id="{0B1D3A11-D2DC-40B8-A797-FE989AF4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4  CHECK</a:t>
            </a:r>
          </a:p>
        </p:txBody>
      </p:sp>
      <p:sp>
        <p:nvSpPr>
          <p:cNvPr id="22" name="evidence-step-panel-4">
            <a:extLst xmlns:a="http://schemas.openxmlformats.org/drawingml/2006/main">
              <a:ext uri="{FF2B5EF4-FFF2-40B4-BE49-F238E27FC236}">
                <a16:creationId xmlns:a16="http://schemas.microsoft.com/office/drawing/2014/main" id="{A4FE0C85-30B6-47E6-A783-0FB561D6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3" name="evidence-step-text-4">
            <a:extLst xmlns:a="http://schemas.openxmlformats.org/drawingml/2006/main">
              <a:ext uri="{FF2B5EF4-FFF2-40B4-BE49-F238E27FC236}">
                <a16:creationId xmlns:a16="http://schemas.microsoft.com/office/drawing/2014/main" id="{9263EC98-3333-428C-AF56-8965699E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Explains mechanism; avoids claiming a method is universally best.</a:t>
            </a:r>
          </a:p>
        </p:txBody>
      </p:sp>
      <p:sp>
        <p:nvSpPr>
          <p:cNvPr id="24" name="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46623208-E9F7-4216-B987-B4CB86E7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08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Save in My Folio only when your teacher asks. Saving is not submission.</a:t>
            </a:r>
          </a:p>
        </p:txBody>
      </p:sp>
    </p:spTree>
    <p:extLst>
      <p:ext uri="{BB962C8B-B14F-4D97-AF65-F5344CB8AC3E}">
        <p14:creationId xmlns:p14="http://schemas.microsoft.com/office/powerpoint/2010/main" val="8718738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9344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side-field">
            <a:extLst xmlns:a="http://schemas.openxmlformats.org/drawingml/2006/main">
              <a:ext uri="{FF2B5EF4-FFF2-40B4-BE49-F238E27FC236}">
                <a16:creationId xmlns:a16="http://schemas.microsoft.com/office/drawing/2014/main" id="{C9B9BFA1-C137-42D6-921D-9E2EF01D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label">
            <a:extLst xmlns:a="http://schemas.openxmlformats.org/drawingml/2006/main">
              <a:ext uri="{FF2B5EF4-FFF2-40B4-BE49-F238E27FC236}">
                <a16:creationId xmlns:a16="http://schemas.microsoft.com/office/drawing/2014/main" id="{FAE9846B-A8F2-4692-9178-7AF5CF49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MODULE 06 · EXIT EVIDENCE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B2381B9-67FD-4592-A7AA-4C37B0E0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Leave with evidence, not a guess.</a:t>
            </a:r>
          </a:p>
        </p:txBody>
      </p:sp>
      <p:sp>
        <p:nvSpPr>
          <p:cNvPr id="4" name="close-prompt-1">
            <a:extLst xmlns:a="http://schemas.openxmlformats.org/drawingml/2006/main">
              <a:ext uri="{FF2B5EF4-FFF2-40B4-BE49-F238E27FC236}">
                <a16:creationId xmlns:a16="http://schemas.microsoft.com/office/drawing/2014/main" id="{DD63B10C-56F0-4F40-A2E8-5C047354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 One idea I can explain is contemporary Australian cuisine keeps changing because …</a:t>
            </a:r>
          </a:p>
        </p:txBody>
      </p:sp>
      <p:sp>
        <p:nvSpPr>
          <p:cNvPr id="5" name="close-divider-1">
            <a:extLst xmlns:a="http://schemas.openxmlformats.org/drawingml/2006/main">
              <a:ext uri="{FF2B5EF4-FFF2-40B4-BE49-F238E27FC236}">
                <a16:creationId xmlns:a16="http://schemas.microsoft.com/office/drawing/2014/main" id="{33BD44C9-772B-4DF6-9743-5D20CBFE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6" name="close-prompt-2">
            <a:extLst xmlns:a="http://schemas.openxmlformats.org/drawingml/2006/main">
              <a:ext uri="{FF2B5EF4-FFF2-40B4-BE49-F238E27FC236}">
                <a16:creationId xmlns:a16="http://schemas.microsoft.com/office/drawing/2014/main" id="{1687EB54-DF73-4FB5-90E8-0C22A5BC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 One connection across the three ideas is …</a:t>
            </a:r>
          </a:p>
        </p:txBody>
      </p:sp>
      <p:sp>
        <p:nvSpPr>
          <p:cNvPr id="7" name="close-divider-2">
            <a:extLst xmlns:a="http://schemas.openxmlformats.org/drawingml/2006/main">
              <a:ext uri="{FF2B5EF4-FFF2-40B4-BE49-F238E27FC236}">
                <a16:creationId xmlns:a16="http://schemas.microsoft.com/office/drawing/2014/main" id="{2918F7B4-3684-456D-B600-7EE3DFEB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8" name="close-prompt-3">
            <a:extLst xmlns:a="http://schemas.openxmlformats.org/drawingml/2006/main">
              <a:ext uri="{FF2B5EF4-FFF2-40B4-BE49-F238E27FC236}">
                <a16:creationId xmlns:a16="http://schemas.microsoft.com/office/drawing/2014/main" id="{02087318-C354-4728-95D2-A8B637E7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 One question or check I still need is …</a:t>
            </a:r>
          </a:p>
        </p:txBody>
      </p:sp>
      <p:sp>
        <p:nvSpPr>
          <p:cNvPr id="9" name="close-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955AC588-73BD-4FA4-9E08-5CC63789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Evidence destination: My Folio when directed. Exporting or saving is not submission.</a:t>
            </a:r>
          </a:p>
        </p:txBody>
      </p:sp>
      <p:sp>
        <p:nvSpPr>
          <p:cNvPr id="10" name="teacher-confirm-label">
            <a:extLst xmlns:a="http://schemas.openxmlformats.org/drawingml/2006/main">
              <a:ext uri="{FF2B5EF4-FFF2-40B4-BE49-F238E27FC236}">
                <a16:creationId xmlns:a16="http://schemas.microsoft.com/office/drawing/2014/main" id="{A7689006-DE29-4ECB-A41E-E0E9C1DE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76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TEACHER TO CONFIRM</a:t>
            </a:r>
          </a:p>
        </p:txBody>
      </p:sp>
      <p:sp>
        <p:nvSpPr>
          <p:cNvPr id="11" name="teacher-confirm-panel">
            <a:extLst xmlns:a="http://schemas.openxmlformats.org/drawingml/2006/main">
              <a:ext uri="{FF2B5EF4-FFF2-40B4-BE49-F238E27FC236}">
                <a16:creationId xmlns:a16="http://schemas.microsoft.com/office/drawing/2014/main" id="{26509369-B3CF-402C-9839-D3365DF0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57325"/>
            <a:ext cx="314325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5E2"/>
          </a:solidFill>
          <a:ln xmlns:a="http://schemas.openxmlformats.org/drawingml/2006/main" w="28575">
            <a:solidFill>
              <a:srgbClr val="93442F"/>
            </a:solidFill>
            <a:prstDash val="solid"/>
          </a:ln>
        </p:spPr>
      </p:sp>
      <p:sp>
        <p:nvSpPr>
          <p:cNvPr id="12" name="teacher-confirm-text">
            <a:extLst xmlns:a="http://schemas.openxmlformats.org/drawingml/2006/main">
              <a:ext uri="{FF2B5EF4-FFF2-40B4-BE49-F238E27FC236}">
                <a16:creationId xmlns:a16="http://schemas.microsoft.com/office/drawing/2014/main" id="{D45A7072-F579-4574-9C37-990296E7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47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The class research focus, approved sources and any practical method or equipment.</a:t>
            </a:r>
          </a:p>
        </p:txBody>
      </p:sp>
      <p:sp>
        <p:nvSpPr>
          <p:cNvPr id="13" name="close-next-step-label">
            <a:extLst xmlns:a="http://schemas.openxmlformats.org/drawingml/2006/main">
              <a:ext uri="{FF2B5EF4-FFF2-40B4-BE49-F238E27FC236}">
                <a16:creationId xmlns:a16="http://schemas.microsoft.com/office/drawing/2014/main" id="{D1912141-4B03-4CE0-B037-B2FA6D3C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5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14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2529DFC8-5E0A-43D5-B7AE-0E2BA8E2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2445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module page to refine one response, then follow your teacher’s directions.</a:t>
            </a:r>
          </a:p>
        </p:txBody>
      </p:sp>
    </p:spTree>
    <p:extLst>
      <p:ext uri="{BB962C8B-B14F-4D97-AF65-F5344CB8AC3E}">
        <p14:creationId xmlns:p14="http://schemas.microsoft.com/office/powerpoint/2010/main" val="999179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2026-08-26T13:29:24.6910000Z</dcterms:created>
  <dcterms:modified xsi:type="dcterms:W3CDTF">2026-08-26T13:29:24.6910000Z</dcterms:modified>
</coreProperties>
</file>