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856f4dbaa46e3" /><Relationship Type="http://schemas.openxmlformats.org/officeDocument/2006/relationships/extended-properties" Target="/docProps/app.xml" Id="Ra2cc3bab8b6d4027" /><Relationship Type="http://schemas.openxmlformats.org/officeDocument/2006/relationships/officeDocument" Target="/ppt/presentation.xml" Id="Rbd46593abb28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fc9eaea3a340b5"/>
  </p:sldMasterIdLst>
  <p:notesMasterIdLst>
    <p:notesMasterId xmlns:r="http://schemas.openxmlformats.org/officeDocument/2006/relationships" r:id="R241eed5c107f421e"/>
  </p:notesMasterIdLst>
  <p:sldIdLst>
    <p:sldId xmlns:r="http://schemas.openxmlformats.org/officeDocument/2006/relationships" id="256" r:id="R8094771ebb704cc8"/>
    <p:sldId xmlns:r="http://schemas.openxmlformats.org/officeDocument/2006/relationships" id="257" r:id="R2b0345e15e4b416a"/>
    <p:sldId xmlns:r="http://schemas.openxmlformats.org/officeDocument/2006/relationships" id="258" r:id="R0c18b624e2b4467f"/>
    <p:sldId xmlns:r="http://schemas.openxmlformats.org/officeDocument/2006/relationships" id="259" r:id="R9e083e056ae342a9"/>
    <p:sldId xmlns:r="http://schemas.openxmlformats.org/officeDocument/2006/relationships" id="260" r:id="Rc7f1d5692d634e67"/>
    <p:sldId xmlns:r="http://schemas.openxmlformats.org/officeDocument/2006/relationships" id="261" r:id="Re67cbdcae5c34579"/>
    <p:sldId xmlns:r="http://schemas.openxmlformats.org/officeDocument/2006/relationships" id="262" r:id="Re75a4b99067240f3"/>
    <p:sldId xmlns:r="http://schemas.openxmlformats.org/officeDocument/2006/relationships" id="263" r:id="R9609e8063f9d4e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afe94125f84503" /><Relationship Type="http://schemas.openxmlformats.org/officeDocument/2006/relationships/slideMaster" Target="/ppt/slideMasters/slideMaster1.xml" Id="Rdcfc9eaea3a340b5" /><Relationship Type="http://schemas.openxmlformats.org/officeDocument/2006/relationships/notesMaster" Target="/ppt/notesMasters/notesMaster1.xml" Id="R241eed5c107f421e" /><Relationship Type="http://schemas.openxmlformats.org/officeDocument/2006/relationships/presProps" Target="/ppt/presProps.xml" Id="Ree21919db6e94642" /><Relationship Type="http://schemas.openxmlformats.org/officeDocument/2006/relationships/tableStyles" Target="/ppt/tableStyles.xml" Id="R6280327624f84e77" /><Relationship Type="http://schemas.openxmlformats.org/officeDocument/2006/relationships/slide" Target="/ppt/slides/slide1.xml" Id="R8094771ebb704cc8" /><Relationship Type="http://schemas.openxmlformats.org/officeDocument/2006/relationships/slide" Target="/ppt/slides/slide2.xml" Id="R2b0345e15e4b416a" /><Relationship Type="http://schemas.openxmlformats.org/officeDocument/2006/relationships/slide" Target="/ppt/slides/slide3.xml" Id="R0c18b624e2b4467f" /><Relationship Type="http://schemas.openxmlformats.org/officeDocument/2006/relationships/slide" Target="/ppt/slides/slide4.xml" Id="R9e083e056ae342a9" /><Relationship Type="http://schemas.openxmlformats.org/officeDocument/2006/relationships/slide" Target="/ppt/slides/slide5.xml" Id="Rc7f1d5692d634e67" /><Relationship Type="http://schemas.openxmlformats.org/officeDocument/2006/relationships/slide" Target="/ppt/slides/slide6.xml" Id="Re67cbdcae5c34579" /><Relationship Type="http://schemas.openxmlformats.org/officeDocument/2006/relationships/slide" Target="/ppt/slides/slide7.xml" Id="Re75a4b99067240f3" /><Relationship Type="http://schemas.openxmlformats.org/officeDocument/2006/relationships/slide" Target="/ppt/slides/slide8.xml" Id="R9609e8063f9d4e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696eb6dac248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307b3a50e4eee" /><Relationship Type="http://schemas.openxmlformats.org/officeDocument/2006/relationships/notesMaster" Target="/ppt/notesMasters/notesMaster1.xml" Id="Rec8f5c59413d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dfcd896d0f4381" /><Relationship Type="http://schemas.openxmlformats.org/officeDocument/2006/relationships/notesMaster" Target="/ppt/notesMasters/notesMaster1.xml" Id="R73c4b8f308ef46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331737e8154c1d" /><Relationship Type="http://schemas.openxmlformats.org/officeDocument/2006/relationships/notesMaster" Target="/ppt/notesMasters/notesMaster1.xml" Id="R922134b093e44b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19a96e6b844580" /><Relationship Type="http://schemas.openxmlformats.org/officeDocument/2006/relationships/notesMaster" Target="/ppt/notesMasters/notesMaster1.xml" Id="Re9ac4d5c247f4f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e057b7f3a44f8" /><Relationship Type="http://schemas.openxmlformats.org/officeDocument/2006/relationships/notesMaster" Target="/ppt/notesMasters/notesMaster1.xml" Id="R0d0c171ccd4e4e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e830c4338f4134" /><Relationship Type="http://schemas.openxmlformats.org/officeDocument/2006/relationships/notesMaster" Target="/ppt/notesMasters/notesMaster1.xml" Id="R91c9b5a64c504f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7d8531b3024fe2" /><Relationship Type="http://schemas.openxmlformats.org/officeDocument/2006/relationships/notesMaster" Target="/ppt/notesMasters/notesMaster1.xml" Id="R66136ebf735245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d80c138c1548d4" /><Relationship Type="http://schemas.openxmlformats.org/officeDocument/2006/relationships/notesMaster" Target="/ppt/notesMasters/notesMaster1.xml" Id="R9811f864afb044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question: how does food production and processing change a food decision or explanation?</a:t>
            </a:r>
          </a:p>
          <a:p xmlns:a="http://schemas.openxmlformats.org/drawingml/2006/main">
            <a:r>
              <a:t>State the outcome in plain language: Choose and judge food technologies by how they change properties, systems and trade-offs for a purpose.</a:t>
            </a:r>
          </a:p>
          <a:p xmlns:a="http://schemas.openxmlformats.org/drawingml/2006/main">
            <a:r>
              <a:t>Ask students what the visual helps them notice, then make clear that it is a generated learning visual, not documentary evidence or practical permission.</a:t>
            </a:r>
          </a:p>
          <a:p xmlns:a="http://schemas.openxmlformats.org/drawingml/2006/main">
            <a:r>
              <a:t>Transition: the next slide shows the three connected ideas students will use to reach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visual: assets/photos/m08-preservation-system-comparison.png;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timeline as a learning sequence, not an agenda. Briefly name each idea and show how the third depends on the first two.</a:t>
            </a:r>
          </a:p>
          <a:p xmlns:a="http://schemas.openxmlformats.org/drawingml/2006/main">
            <a:r>
              <a:t>Retrieval prompt: ask students to define or exemplify one term from Food technology changes systems, then name one uncertainty to check.</a:t>
            </a:r>
          </a:p>
          <a:p xmlns:a="http://schemas.openxmlformats.org/drawingml/2006/main">
            <a:r>
              <a:t>Listen for unsupported certainty. Model language such as ‘the source supports…’, ‘in this context…’ and ‘Teacher to confirm…’ where relevant.</a:t>
            </a:r>
          </a:p>
          <a:p xmlns:a="http://schemas.openxmlformats.org/drawingml/2006/main">
            <a:r>
              <a:t>Transition: begin with Food technology changes systems; students will use it as the first part of the final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m08-s01: Food technology changes systems.</a:t>
            </a:r>
          </a:p>
          <a:p xmlns:a="http://schemas.openxmlformats.org/drawingml/2006/main">
            <a:r>
              <a:t>- Course theory section m08-s02: Processing changes food properties.</a:t>
            </a:r>
          </a:p>
          <a:p xmlns:a="http://schemas.openxmlformats.org/drawingml/2006/main">
            <a:r>
              <a:t>- Course theory section m08-s03: Choose a method for the purpose.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A food technology belongs in a system. Analyse the problem, how it works, who uses it, the benefit, the trade-off and the context. Newer does not automatically mean better.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Newer technology is automatically better.</a:t>
            </a:r>
          </a:p>
          <a:p xmlns:a="http://schemas.openxmlformats.org/drawingml/2006/main">
            <a:r>
              <a:t>Transition: connect this idea to food production and processing, then move to "the second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m08-s01: Food technology changes systems.</a:t>
            </a:r>
          </a:p>
          <a:p xmlns:a="http://schemas.openxmlformats.org/drawingml/2006/main">
            <a:r>
              <a:t>- Course visual: assets/diagrams/m08-technology-system-ripples.svg;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Use an evidence chain: processing action → property change → observable sign → product effect. Decide whether the change is physical, chemical or combined, and explain the mechanism rather than merely naming the result.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Naming a change is the same as explaining its mechanism.</a:t>
            </a:r>
          </a:p>
          <a:p xmlns:a="http://schemas.openxmlformats.org/drawingml/2006/main">
            <a:r>
              <a:t>Transition: connect this idea to food production and processing, then move to "the final idea".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m08-s02: Processing changes food properties.</a:t>
            </a:r>
          </a:p>
          <a:p xmlns:a="http://schemas.openxmlformats.org/drawingml/2006/main">
            <a:r>
              <a:t>- Course visual: assets/photos/m08-processing-property-change.png;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Explain: Choose a method against a stated purpose, common criteria and constraints. Compare expected sensory effects, ingredient properties, heat transfer, time, equipment and resource use, then name the trade-off and what still needs teacher confirmation.</a:t>
            </a:r>
          </a:p>
          <a:p xmlns:a="http://schemas.openxmlformats.org/drawingml/2006/main">
            <a:r>
              <a:t>Ask students to respond to the on-slide notice prompt before volunteering an answer.</a:t>
            </a:r>
          </a:p>
          <a:p xmlns:a="http://schemas.openxmlformats.org/drawingml/2006/main">
            <a:r>
              <a:t>Misconception to correct: One method is best in every context.</a:t>
            </a:r>
          </a:p>
          <a:p xmlns:a="http://schemas.openxmlformats.org/drawingml/2006/main">
            <a:r>
              <a:t>Transition: students now rehearse all three ideas through the module activity and retrieval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theory section m08-s03: Choose a method for the purpose.</a:t>
            </a:r>
          </a:p>
          <a:p xmlns:a="http://schemas.openxmlformats.org/drawingml/2006/main">
            <a:r>
              <a:t>- Course visual: assets/diagrams/m08-method-comparison-matrix.svg; provenance recorded in the visual production manifest.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activity as rehearsal: Classify the evidence, then choose the recommendation that weighs purpose and trade-offs.</a:t>
            </a:r>
          </a:p>
          <a:p xmlns:a="http://schemas.openxmlformats.org/drawingml/2006/main">
            <a:r>
              <a:t>Give quiet thinking time before discussion. Ask students to explain why an alternative is weaker, not merely name the correct choice.</a:t>
            </a:r>
          </a:p>
          <a:p xmlns:a="http://schemas.openxmlformats.org/drawingml/2006/main">
            <a:r>
              <a:t>Check 1: Its value depends on the problem, context, mechanism, benefits and trade-offs, including access and resource needs.</a:t>
            </a:r>
          </a:p>
          <a:p xmlns:a="http://schemas.openxmlformats.org/drawingml/2006/main">
            <a:r>
              <a:t>Check 2: Name an observable change, propose a supported physical or chemical mechanism, and explain its effect on product quality.</a:t>
            </a:r>
          </a:p>
          <a:p xmlns:a="http://schemas.openxmlformats.org/drawingml/2006/main">
            <a:r>
              <a:t>Check 3: The product purpose, predicted observable effects, common criteria, constraints, trade-offs and any teacher-controlled requirements.</a:t>
            </a:r>
          </a:p>
          <a:p xmlns:a="http://schemas.openxmlformats.org/drawingml/2006/main">
            <a:r>
              <a:t>Misconception to correct: a correct choice without reasoning is enough evidence. Ask for the link between the claim and the source or scenario.</a:t>
            </a:r>
          </a:p>
          <a:p xmlns:a="http://schemas.openxmlformats.org/drawingml/2006/main">
            <a:r>
              <a:t>Transition: move from short retrieval to one constructed evidence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activity activity-m08: Process-change investigator.</a:t>
            </a:r>
          </a:p>
          <a:p xmlns:a="http://schemas.openxmlformats.org/drawingml/2006/main">
            <a:r>
              <a:t>- Course formative check check-m08-s01 for m08-s01.</a:t>
            </a:r>
          </a:p>
          <a:p xmlns:a="http://schemas.openxmlformats.org/drawingml/2006/main">
            <a:r>
              <a:t>- Course formative check check-m08-s02 for m08-s02.</a:t>
            </a:r>
          </a:p>
          <a:p xmlns:a="http://schemas.openxmlformats.org/drawingml/2006/main">
            <a:r>
              <a:t>- Course formative check check-m08-s03 for m08-s03.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prompt aloud once, then ask students to restate its decision or explanation in their own words.</a:t>
            </a:r>
          </a:p>
          <a:p xmlns:a="http://schemas.openxmlformats.org/drawingml/2006/main">
            <a:r>
              <a:t>Model the sequence: Read → Select → Explain → Check. Use the starter "The product purpose and criteria are …" only if students need it.</a:t>
            </a:r>
          </a:p>
          <a:p xmlns:a="http://schemas.openxmlformats.org/drawingml/2006/main">
            <a:r>
              <a:t>Look for: uses common comparison criteria; links prediction to purpose; records an honest teacher-confirm item.</a:t>
            </a:r>
          </a:p>
          <a:p xmlns:a="http://schemas.openxmlformats.org/drawingml/2006/main">
            <a:r>
              <a:t>Misconception to correct: saving locally means the work has been submitted or formally assessed. It has not.</a:t>
            </a:r>
          </a:p>
          <a:p xmlns:a="http://schemas.openxmlformats.org/drawingml/2006/main">
            <a:r>
              <a:t>Transition: close with a three-part exit ticket and the teacher-controlled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Course evidence record for m08-s03: Method recommendation with trade-off.</a:t>
            </a:r>
          </a:p>
          <a:p xmlns:a="http://schemas.openxmlformats.org/drawingml/2006/main">
            <a:r>
              <a:t>- Course folio contract: device-local saving is not submission.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one minute to write all three exit lines. Ask for a specific connection, not a generic summary.</a:t>
            </a:r>
          </a:p>
          <a:p xmlns:a="http://schemas.openxmlformats.org/drawingml/2006/main">
            <a:r>
              <a:t>Listen for the module takeaway: Choose and judge food technologies by how they change properties, systems and trade-offs for a purpose.</a:t>
            </a:r>
          </a:p>
          <a:p xmlns:a="http://schemas.openxmlformats.org/drawingml/2006/main">
            <a:r>
              <a:t>State the sign-off exactly as shown: Teacher to confirm equipment, method, safety conditions and teacher-controlled practical requirements.</a:t>
            </a:r>
          </a:p>
          <a:p xmlns:a="http://schemas.openxmlformats.org/drawingml/2006/main">
            <a:r>
              <a:t>Do not announce a practical, due date, weighting, grade or submission route unless it is in the current teacher-issued instruction.</a:t>
            </a:r>
          </a:p>
          <a:p xmlns:a="http://schemas.openxmlformats.org/drawingml/2006/main">
            <a:r>
              <a:t>Close by directing students to the Module 08 page or My Folio only as the teacher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Teacher-supplied Food in Australia unit program and Classroom/Drive masters; private identifiers retained only in source-map v1.1.</a:t>
            </a:r>
          </a:p>
          <a:p xmlns:a="http://schemas.openxmlformats.org/drawingml/2006/main">
            <a:r>
              <a:t>- NESA Food Technology Years 7–10 Syllabus (2019), the controlling 2026 syllabus basis recorded in source-map v1.1.</a:t>
            </a:r>
          </a:p>
          <a:p xmlns:a="http://schemas.openxmlformats.org/drawingml/2006/main">
            <a:r>
              <a:t>- Current Year 9 Assessment Booklet 2026: course-level task boundaries only; this deck does not invent unit task details.</a:t>
            </a:r>
          </a:p>
          <a:p xmlns:a="http://schemas.openxmlformats.org/drawingml/2006/main">
            <a:r>
              <a:t>- Course source-map v1.1 and assessment-orientation boundary.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b7fe7b83449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cf7280ad34778" /><Relationship Type="http://schemas.openxmlformats.org/officeDocument/2006/relationships/slideLayout" Target="/ppt/slideLayouts/slideLayout1.xml" Id="Rb822e564092841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2e564092841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874bc68a34fbc" /><Relationship Type="http://schemas.openxmlformats.org/officeDocument/2006/relationships/image" Target="/ppt/media/image.png" Id="R2b8018a1d5154611" /><Relationship Type="http://schemas.openxmlformats.org/officeDocument/2006/relationships/notesSlide" Target="/ppt/notesSlides/notesSlide1.xml" Id="R839790bab92843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020f388bd4c89" /><Relationship Type="http://schemas.openxmlformats.org/officeDocument/2006/relationships/notesSlide" Target="/ppt/notesSlides/notesSlide2.xml" Id="Rc083a6c0b59440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6e009e0634316" /><Relationship Type="http://schemas.openxmlformats.org/officeDocument/2006/relationships/image" Target="/ppt/media/image2.png" Id="R18525895d6b447be" /><Relationship Type="http://schemas.openxmlformats.org/officeDocument/2006/relationships/notesSlide" Target="/ppt/notesSlides/notesSlide3.xml" Id="R689a7e3011444a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76cb4a15c4119" /><Relationship Type="http://schemas.openxmlformats.org/officeDocument/2006/relationships/image" Target="/ppt/media/image3.png" Id="Ra928e6fb4aa1433d" /><Relationship Type="http://schemas.openxmlformats.org/officeDocument/2006/relationships/notesSlide" Target="/ppt/notesSlides/notesSlide4.xml" Id="R6e987965c17c4a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dbbe2549a4d67" /><Relationship Type="http://schemas.openxmlformats.org/officeDocument/2006/relationships/image" Target="/ppt/media/image4.png" Id="Ra791322d98aa47d8" /><Relationship Type="http://schemas.openxmlformats.org/officeDocument/2006/relationships/notesSlide" Target="/ppt/notesSlides/notesSlide5.xml" Id="R7e9877cc082d4e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83e7424834949" /><Relationship Type="http://schemas.openxmlformats.org/officeDocument/2006/relationships/notesSlide" Target="/ppt/notesSlides/notesSlide6.xml" Id="R2a1a4bf114cd43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6b06a2e1a449b" /><Relationship Type="http://schemas.openxmlformats.org/officeDocument/2006/relationships/notesSlide" Target="/ppt/notesSlides/notesSlide7.xml" Id="Rb8265eb6a25242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059185f234ea3" /><Relationship Type="http://schemas.openxmlformats.org/officeDocument/2006/relationships/notesSlide" Target="/ppt/notesSlides/notesSlide8.xml" Id="R0d7405a9378446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97B6E6B9-3D61-45C3-A8F1-58AD3D8E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hero-frame">
            <a:extLst xmlns:a="http://schemas.openxmlformats.org/drawingml/2006/main">
              <a:ext uri="{FF2B5EF4-FFF2-40B4-BE49-F238E27FC236}">
                <a16:creationId xmlns:a16="http://schemas.microsoft.com/office/drawing/2014/main" id="{643771DD-AC55-49AB-8441-B22C75D7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5181600" cy="6019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018a1d5154611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266700"/>
            <a:ext cx="5105400" cy="5943600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4" name="cover-notice-panel">
            <a:extLst xmlns:a="http://schemas.openxmlformats.org/drawingml/2006/main">
              <a:ext uri="{FF2B5EF4-FFF2-40B4-BE49-F238E27FC236}">
                <a16:creationId xmlns:a16="http://schemas.microsoft.com/office/drawing/2014/main" id="{3F84EFF4-86E2-4081-9580-A734908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48006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5" name="cover-notice">
            <a:extLst xmlns:a="http://schemas.openxmlformats.org/drawingml/2006/main">
              <a:ext uri="{FF2B5EF4-FFF2-40B4-BE49-F238E27FC236}">
                <a16:creationId xmlns:a16="http://schemas.microsoft.com/office/drawing/2014/main" id="{B4F1E954-9A2E-42C2-A859-B4A0AECA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Generated learning visual — not documentary evidence.</a:t>
            </a:r>
          </a:p>
        </p:txBody>
      </p:sp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D094121A-E88F-4C56-AD9B-DD6A0262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28CE22DF-9E6E-4EB7-949B-BF5E8F6E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module-label">
            <a:extLst xmlns:a="http://schemas.openxmlformats.org/drawingml/2006/main">
              <a:ext uri="{FF2B5EF4-FFF2-40B4-BE49-F238E27FC236}">
                <a16:creationId xmlns:a16="http://schemas.microsoft.com/office/drawing/2014/main" id="{3ED52DF4-6362-48E2-BBD1-3A140973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MODULE 08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62E3763-85CA-48FF-AA3A-4CF8AC49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Food production and processing</a:t>
            </a:r>
          </a:p>
        </p:txBody>
      </p:sp>
      <p:sp>
        <p:nvSpPr>
          <p:cNvPr id="10" name="cover-outcome">
            <a:extLst xmlns:a="http://schemas.openxmlformats.org/drawingml/2006/main">
              <a:ext uri="{FF2B5EF4-FFF2-40B4-BE49-F238E27FC236}">
                <a16:creationId xmlns:a16="http://schemas.microsoft.com/office/drawing/2014/main" id="{FE5D3AF4-D3BE-4879-961C-812F1981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57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2E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2ED"/>
                </a:solidFill>
                <a:latin typeface="Aptos"/>
                <a:ea typeface="Aptos"/>
                <a:cs typeface="Aptos"/>
              </a:rPr>
              <a:t>Choose and judge food technologies by how they change properties, systems and trade-offs for a purpose.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F7643B00-B415-4AD0-A65C-12565DE6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1C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1C6"/>
                </a:solidFill>
                <a:latin typeface="Aptos"/>
                <a:ea typeface="Aptos"/>
                <a:cs typeface="Aptos"/>
              </a:rPr>
              <a:t>Editable classroom presentation  •  Local review copy</a:t>
            </a:r>
          </a:p>
        </p:txBody>
      </p:sp>
    </p:spTree>
    <p:extLst>
      <p:ext uri="{BB962C8B-B14F-4D97-AF65-F5344CB8AC3E}">
        <p14:creationId xmlns:p14="http://schemas.microsoft.com/office/powerpoint/2010/main" val="1242425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000A2A4B-EF2D-4E0A-ABA7-6B023447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4EE8B3BB-268A-4E20-8708-85A2A8D8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08</a:t>
            </a:r>
          </a:p>
        </p:txBody>
      </p:sp>
      <p:sp>
        <p:nvSpPr>
          <p:cNvPr id="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3902645-8743-443E-90C4-FF976251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4F429141-7494-4AF0-820F-60AF7724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FOOD PRODUCTION AND PROCESSING · LEARNING PATHWAY</a:t>
            </a:r>
          </a:p>
        </p:txBody>
      </p:sp>
      <p:sp>
        <p:nvSpPr>
          <p:cNvPr id="5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05EFA754-9D0E-44F5-83F8-3E9D6730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Three ideas build one explanation</a:t>
            </a:r>
          </a:p>
        </p:txBody>
      </p:sp>
      <p:sp>
        <p:nvSpPr>
          <p:cNvPr id="6" name="arc-retrieval-prompt">
            <a:extLst xmlns:a="http://schemas.openxmlformats.org/drawingml/2006/main">
              <a:ext uri="{FF2B5EF4-FFF2-40B4-BE49-F238E27FC236}">
                <a16:creationId xmlns:a16="http://schemas.microsoft.com/office/drawing/2014/main" id="{4A014F0D-B62F-4F23-9647-346ADFD9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Retrieval warm-up: What do you already know—and what needs checking?</a:t>
            </a:r>
          </a:p>
        </p:txBody>
      </p:sp>
      <p:sp>
        <p:nvSpPr>
          <p:cNvPr id="7" name="arc-connector">
            <a:extLst xmlns:a="http://schemas.openxmlformats.org/drawingml/2006/main">
              <a:ext uri="{FF2B5EF4-FFF2-40B4-BE49-F238E27FC236}">
                <a16:creationId xmlns:a16="http://schemas.microsoft.com/office/drawing/2014/main" id="{71842BAF-1DB3-421B-A7F3-95972353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8" name="arc-node-1">
            <a:extLst xmlns:a="http://schemas.openxmlformats.org/drawingml/2006/main">
              <a:ext uri="{FF2B5EF4-FFF2-40B4-BE49-F238E27FC236}">
                <a16:creationId xmlns:a16="http://schemas.microsoft.com/office/drawing/2014/main" id="{10EC2F20-A77D-4260-A6A4-1983C1AC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arc-number-1">
            <a:extLst xmlns:a="http://schemas.openxmlformats.org/drawingml/2006/main">
              <a:ext uri="{FF2B5EF4-FFF2-40B4-BE49-F238E27FC236}">
                <a16:creationId xmlns:a16="http://schemas.microsoft.com/office/drawing/2014/main" id="{B399287E-CDD9-41B7-905A-7FDB170D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arc-node-2">
            <a:extLst xmlns:a="http://schemas.openxmlformats.org/drawingml/2006/main">
              <a:ext uri="{FF2B5EF4-FFF2-40B4-BE49-F238E27FC236}">
                <a16:creationId xmlns:a16="http://schemas.microsoft.com/office/drawing/2014/main" id="{FEFC8B66-B13A-468F-84A8-7F768E53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442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arc-number-2">
            <a:extLst xmlns:a="http://schemas.openxmlformats.org/drawingml/2006/main">
              <a:ext uri="{FF2B5EF4-FFF2-40B4-BE49-F238E27FC236}">
                <a16:creationId xmlns:a16="http://schemas.microsoft.com/office/drawing/2014/main" id="{03FF4039-DB56-448D-A243-D21872C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arc-node-3">
            <a:extLst xmlns:a="http://schemas.openxmlformats.org/drawingml/2006/main">
              <a:ext uri="{FF2B5EF4-FFF2-40B4-BE49-F238E27FC236}">
                <a16:creationId xmlns:a16="http://schemas.microsoft.com/office/drawing/2014/main" id="{A083CDCC-F34A-499F-BBC2-FC65F7E7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9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D4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arc-number-3">
            <a:extLst xmlns:a="http://schemas.openxmlformats.org/drawingml/2006/main">
              <a:ext uri="{FF2B5EF4-FFF2-40B4-BE49-F238E27FC236}">
                <a16:creationId xmlns:a16="http://schemas.microsoft.com/office/drawing/2014/main" id="{3B8D949B-21FF-43D5-933B-3864E26A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arc-section-title-1">
            <a:extLst xmlns:a="http://schemas.openxmlformats.org/drawingml/2006/main">
              <a:ext uri="{FF2B5EF4-FFF2-40B4-BE49-F238E27FC236}">
                <a16:creationId xmlns:a16="http://schemas.microsoft.com/office/drawing/2014/main" id="{595B1FC0-908D-44D7-AB0A-4A554931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Food technology changes systems</a:t>
            </a:r>
          </a:p>
        </p:txBody>
      </p:sp>
      <p:sp>
        <p:nvSpPr>
          <p:cNvPr id="15" name="arc-section-purpose-1">
            <a:extLst xmlns:a="http://schemas.openxmlformats.org/drawingml/2006/main">
              <a:ext uri="{FF2B5EF4-FFF2-40B4-BE49-F238E27FC236}">
                <a16:creationId xmlns:a16="http://schemas.microsoft.com/office/drawing/2014/main" id="{4FDBED61-2F3E-4B2C-9C68-D4701A63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Analyse technology inside a system</a:t>
            </a:r>
          </a:p>
        </p:txBody>
      </p:sp>
      <p:sp>
        <p:nvSpPr>
          <p:cNvPr id="16" name="arc-section-title-2">
            <a:extLst xmlns:a="http://schemas.openxmlformats.org/drawingml/2006/main">
              <a:ext uri="{FF2B5EF4-FFF2-40B4-BE49-F238E27FC236}">
                <a16:creationId xmlns:a16="http://schemas.microsoft.com/office/drawing/2014/main" id="{FB4CB55D-11A7-45FF-B0B3-6C1D3CB7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Processing changes food properties</a:t>
            </a:r>
          </a:p>
        </p:txBody>
      </p:sp>
      <p:sp>
        <p:nvSpPr>
          <p:cNvPr id="17" name="arc-section-purpose-2">
            <a:extLst xmlns:a="http://schemas.openxmlformats.org/drawingml/2006/main">
              <a:ext uri="{FF2B5EF4-FFF2-40B4-BE49-F238E27FC236}">
                <a16:creationId xmlns:a16="http://schemas.microsoft.com/office/drawing/2014/main" id="{09FEB4D0-807B-4716-90A4-6F89D2F1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Explain observable property change</a:t>
            </a:r>
          </a:p>
        </p:txBody>
      </p:sp>
      <p:sp>
        <p:nvSpPr>
          <p:cNvPr id="18" name="arc-section-title-3">
            <a:extLst xmlns:a="http://schemas.openxmlformats.org/drawingml/2006/main">
              <a:ext uri="{FF2B5EF4-FFF2-40B4-BE49-F238E27FC236}">
                <a16:creationId xmlns:a16="http://schemas.microsoft.com/office/drawing/2014/main" id="{4F2A442B-1FF3-44C9-AFD2-61B2DF60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Choose a method for the purpose</a:t>
            </a:r>
          </a:p>
        </p:txBody>
      </p:sp>
      <p:sp>
        <p:nvSpPr>
          <p:cNvPr id="19" name="arc-section-purpose-3">
            <a:extLst xmlns:a="http://schemas.openxmlformats.org/drawingml/2006/main">
              <a:ext uri="{FF2B5EF4-FFF2-40B4-BE49-F238E27FC236}">
                <a16:creationId xmlns:a16="http://schemas.microsoft.com/office/drawing/2014/main" id="{5061C9E7-D4D0-4620-AAD7-26AEBC2D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Compare methods against one purpose</a:t>
            </a:r>
          </a:p>
        </p:txBody>
      </p:sp>
      <p:sp>
        <p:nvSpPr>
          <p:cNvPr id="20" name="arc-takeaway-band">
            <a:extLst xmlns:a="http://schemas.openxmlformats.org/drawingml/2006/main">
              <a:ext uri="{FF2B5EF4-FFF2-40B4-BE49-F238E27FC236}">
                <a16:creationId xmlns:a16="http://schemas.microsoft.com/office/drawing/2014/main" id="{215ABD0D-7607-48BA-B99C-B291904B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1" name="arc-takeaway">
            <a:extLst xmlns:a="http://schemas.openxmlformats.org/drawingml/2006/main">
              <a:ext uri="{FF2B5EF4-FFF2-40B4-BE49-F238E27FC236}">
                <a16:creationId xmlns:a16="http://schemas.microsoft.com/office/drawing/2014/main" id="{604EADE5-DC57-422B-BCD2-FF0B5461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92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Connect all three: Choose and judge food technologies by how they change properties, systems and trade-offs for a purpose.</a:t>
            </a:r>
          </a:p>
        </p:txBody>
      </p:sp>
    </p:spTree>
    <p:extLst>
      <p:ext uri="{BB962C8B-B14F-4D97-AF65-F5344CB8AC3E}">
        <p14:creationId xmlns:p14="http://schemas.microsoft.com/office/powerpoint/2010/main" val="1142087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65044C1D-E3A5-4D6A-8F5F-80A629F1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01CA7239-8805-48B0-8506-B43BA3F3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08</a:t>
            </a:r>
          </a:p>
        </p:txBody>
      </p:sp>
      <p:sp>
        <p:nvSpPr>
          <p:cNvPr id="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CD78F09-1112-42F5-97EC-18F6C653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B460E0F2-2F9D-4B84-A599-4D0BFB2C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1 · M08-S01</a:t>
            </a:r>
          </a:p>
        </p:txBody>
      </p:sp>
      <p:sp>
        <p:nvSpPr>
          <p:cNvPr id="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2FC1158D-F913-40BC-9000-06C33B9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Food technology changes systems</a:t>
            </a:r>
          </a:p>
        </p:txBody>
      </p:sp>
      <p:sp>
        <p:nvSpPr>
          <p:cNvPr id="6" name="idea-1-visual-frame">
            <a:extLst xmlns:a="http://schemas.openxmlformats.org/drawingml/2006/main">
              <a:ext uri="{FF2B5EF4-FFF2-40B4-BE49-F238E27FC236}">
                <a16:creationId xmlns:a16="http://schemas.microsoft.com/office/drawing/2014/main" id="{BCAFAA7E-AC87-4D18-B561-B7719310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98170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25895d6b447be"/>
          <a:stretch xmlns:a="http://schemas.openxmlformats.org/drawingml/2006/main"/>
        </p:blipFill>
        <p:spPr>
          <a:xfrm xmlns:a="http://schemas.openxmlformats.org/drawingml/2006/main">
            <a:off x="533400" y="1716881"/>
            <a:ext cx="5905500" cy="369093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idea-1-visual-caption">
            <a:extLst xmlns:a="http://schemas.openxmlformats.org/drawingml/2006/main">
              <a:ext uri="{FF2B5EF4-FFF2-40B4-BE49-F238E27FC236}">
                <a16:creationId xmlns:a16="http://schemas.microsoft.com/office/drawing/2014/main" id="{793A4826-319D-4C94-AE8B-3E0AF2C2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Food technologies create system ripples; judgement depends on mechanism, users, context, benefits and trade-offs rather than age alone.</a:t>
            </a:r>
          </a:p>
        </p:txBody>
      </p:sp>
      <p:sp>
        <p:nvSpPr>
          <p:cNvPr id="9" name="idea-1-body">
            <a:extLst xmlns:a="http://schemas.openxmlformats.org/drawingml/2006/main">
              <a:ext uri="{FF2B5EF4-FFF2-40B4-BE49-F238E27FC236}">
                <a16:creationId xmlns:a16="http://schemas.microsoft.com/office/drawing/2014/main" id="{CC753B88-3BD2-4E63-A0E5-F54D83CC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591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A food technology belongs in a system. Analyse the problem, how it works, who uses it, the benefit, the trade-off and the context. Newer does not automatically mean better.</a:t>
            </a:r>
          </a:p>
        </p:txBody>
      </p:sp>
      <p:sp>
        <p:nvSpPr>
          <p:cNvPr id="10" name="idea-1-notice-band">
            <a:extLst xmlns:a="http://schemas.openxmlformats.org/drawingml/2006/main">
              <a:ext uri="{FF2B5EF4-FFF2-40B4-BE49-F238E27FC236}">
                <a16:creationId xmlns:a16="http://schemas.microsoft.com/office/drawing/2014/main" id="{9DCC7E6F-29D5-4E5A-9920-6033C35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52925"/>
            <a:ext cx="4591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1" name="idea-1-notice">
            <a:extLst xmlns:a="http://schemas.openxmlformats.org/drawingml/2006/main">
              <a:ext uri="{FF2B5EF4-FFF2-40B4-BE49-F238E27FC236}">
                <a16:creationId xmlns:a16="http://schemas.microsoft.com/office/drawing/2014/main" id="{83F58E90-142C-4F1B-9754-95EFCA13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133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Choose one technology track. What problem, mechanism, system effect, benefit and trade-off would need evidence in a named context?</a:t>
            </a:r>
          </a:p>
        </p:txBody>
      </p:sp>
    </p:spTree>
    <p:extLst>
      <p:ext uri="{BB962C8B-B14F-4D97-AF65-F5344CB8AC3E}">
        <p14:creationId xmlns:p14="http://schemas.microsoft.com/office/powerpoint/2010/main" val="823289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202A2E71-9693-4C66-9E81-38929022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4C68D35C-4982-423D-AC43-621AA13F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08</a:t>
            </a:r>
          </a:p>
        </p:txBody>
      </p:sp>
      <p:sp>
        <p:nvSpPr>
          <p:cNvPr id="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FBC321A-A1ED-4687-BDEE-B0D095E9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5ABBB413-E360-4506-81EA-CF48AE2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2 · M08-S02</a:t>
            </a:r>
          </a:p>
        </p:txBody>
      </p:sp>
      <p:sp>
        <p:nvSpPr>
          <p:cNvPr id="5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21E8F254-E866-433B-A712-5498A33E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Processing changes food properties</a:t>
            </a:r>
          </a:p>
        </p:txBody>
      </p:sp>
      <p:sp>
        <p:nvSpPr>
          <p:cNvPr id="6" name="idea-2-body">
            <a:extLst xmlns:a="http://schemas.openxmlformats.org/drawingml/2006/main">
              <a:ext uri="{FF2B5EF4-FFF2-40B4-BE49-F238E27FC236}">
                <a16:creationId xmlns:a16="http://schemas.microsoft.com/office/drawing/2014/main" id="{F1B0B40B-8101-4478-8C77-A7DD12C9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6863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Use an evidence chain: processing action → property change → observable sign → product effect. Decide whether the change is physical, chemical or combined, and explain the mechanism rather than merely naming the result.</a:t>
            </a:r>
          </a:p>
        </p:txBody>
      </p:sp>
      <p:sp>
        <p:nvSpPr>
          <p:cNvPr id="7" name="idea-2-notice-band">
            <a:extLst xmlns:a="http://schemas.openxmlformats.org/drawingml/2006/main">
              <a:ext uri="{FF2B5EF4-FFF2-40B4-BE49-F238E27FC236}">
                <a16:creationId xmlns:a16="http://schemas.microsoft.com/office/drawing/2014/main" id="{3BCFA98F-54BC-4122-938F-F880BF4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4686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8" name="idea-2-notice">
            <a:extLst xmlns:a="http://schemas.openxmlformats.org/drawingml/2006/main">
              <a:ext uri="{FF2B5EF4-FFF2-40B4-BE49-F238E27FC236}">
                <a16:creationId xmlns:a16="http://schemas.microsoft.com/office/drawing/2014/main" id="{A5DCACE1-E3C7-4E2B-99A2-86AF204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229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2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Track the change from whole to coarse to smooth. Which properties can you observe directly, and which mechanism would need explanation?</a:t>
            </a:r>
          </a:p>
        </p:txBody>
      </p:sp>
      <p:sp>
        <p:nvSpPr>
          <p:cNvPr id="9" name="idea-2-visual-frame">
            <a:extLst xmlns:a="http://schemas.openxmlformats.org/drawingml/2006/main">
              <a:ext uri="{FF2B5EF4-FFF2-40B4-BE49-F238E27FC236}">
                <a16:creationId xmlns:a16="http://schemas.microsoft.com/office/drawing/2014/main" id="{EF2B2B00-DB80-4DEC-93E2-A7432DCF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8483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8e6fb4aa1433d"/>
          <a:srcRect xmlns:a="http://schemas.openxmlformats.org/drawingml/2006/main" l="10413" t="0" r="10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562100"/>
            <a:ext cx="57721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idea-2-visual-caption">
            <a:extLst xmlns:a="http://schemas.openxmlformats.org/drawingml/2006/main">
              <a:ext uri="{FF2B5EF4-FFF2-40B4-BE49-F238E27FC236}">
                <a16:creationId xmlns:a16="http://schemas.microsoft.com/office/drawing/2014/main" id="{BE2E489A-F727-45B3-93DF-3911F16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577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A fictional mechanical-processing sequence showing decreasing particle size and changing structure; no method, quantity or equipment use is implied.</a:t>
            </a:r>
          </a:p>
        </p:txBody>
      </p:sp>
    </p:spTree>
    <p:extLst>
      <p:ext uri="{BB962C8B-B14F-4D97-AF65-F5344CB8AC3E}">
        <p14:creationId xmlns:p14="http://schemas.microsoft.com/office/powerpoint/2010/main" val="1867099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A2550D27-40D2-4BB0-A650-99C75119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B69BEC2A-E261-41A5-B530-9C2D41F3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08</a:t>
            </a:r>
          </a:p>
        </p:txBody>
      </p:sp>
      <p:sp>
        <p:nvSpPr>
          <p:cNvPr id="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701ED7A8-CD82-4D0E-A896-FFDFE7E4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1E1F100F-EDD4-4955-9299-B88D0EC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IDEA 3 · M08-S03</a:t>
            </a:r>
          </a:p>
        </p:txBody>
      </p:sp>
      <p:sp>
        <p:nvSpPr>
          <p:cNvPr id="5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1A1CF6E3-65C8-4CC1-90E2-D3EAD2B6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Choose a method for the purpose</a:t>
            </a:r>
          </a:p>
        </p:txBody>
      </p:sp>
      <p:sp>
        <p:nvSpPr>
          <p:cNvPr id="6" name="idea-3-body">
            <a:extLst xmlns:a="http://schemas.openxmlformats.org/drawingml/2006/main">
              <a:ext uri="{FF2B5EF4-FFF2-40B4-BE49-F238E27FC236}">
                <a16:creationId xmlns:a16="http://schemas.microsoft.com/office/drawing/2014/main" id="{430FBEB9-DD69-4A19-AB87-B92FA9B3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a method against a stated purpose, common criteria and constraints. Compare expected sensory effects, ingredient properties, heat transfer, time, equipment and resource use, then name the trade-off and what still needs teacher confirmation.</a:t>
            </a:r>
          </a:p>
        </p:txBody>
      </p:sp>
      <p:sp>
        <p:nvSpPr>
          <p:cNvPr id="7" name="idea-3-decision-band">
            <a:extLst xmlns:a="http://schemas.openxmlformats.org/drawingml/2006/main">
              <a:ext uri="{FF2B5EF4-FFF2-40B4-BE49-F238E27FC236}">
                <a16:creationId xmlns:a16="http://schemas.microsoft.com/office/drawing/2014/main" id="{A1B51B22-5A32-44D9-AA43-E14ECC7E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4476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a-3-decision">
            <a:extLst xmlns:a="http://schemas.openxmlformats.org/drawingml/2006/main">
              <a:ext uri="{FF2B5EF4-FFF2-40B4-BE49-F238E27FC236}">
                <a16:creationId xmlns:a16="http://schemas.microsoft.com/office/drawing/2014/main" id="{CF4DF4DA-444D-4409-B798-712951A7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 across one criterion at a time. Which predicted effect best fits a stated product purpose, and what still needs teacher confirmation?</a:t>
            </a:r>
          </a:p>
        </p:txBody>
      </p:sp>
      <p:sp>
        <p:nvSpPr>
          <p:cNvPr id="9" name="idea-3-visual-frame">
            <a:extLst xmlns:a="http://schemas.openxmlformats.org/drawingml/2006/main">
              <a:ext uri="{FF2B5EF4-FFF2-40B4-BE49-F238E27FC236}">
                <a16:creationId xmlns:a16="http://schemas.microsoft.com/office/drawing/2014/main" id="{F93A813F-3F35-4D8A-A646-BB629906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24000"/>
            <a:ext cx="60579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1322d98aa47d8"/>
          <a:stretch xmlns:a="http://schemas.openxmlformats.org/drawingml/2006/main"/>
        </p:blipFill>
        <p:spPr>
          <a:xfrm xmlns:a="http://schemas.openxmlformats.org/drawingml/2006/main">
            <a:off x="5543550" y="1674019"/>
            <a:ext cx="5981700" cy="3738563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11" name="idea-3-visual-caption">
            <a:extLst xmlns:a="http://schemas.openxmlformats.org/drawingml/2006/main">
              <a:ext uri="{FF2B5EF4-FFF2-40B4-BE49-F238E27FC236}">
                <a16:creationId xmlns:a16="http://schemas.microsoft.com/office/drawing/2014/main" id="{58776872-4330-4281-9104-5D9A8890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197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Steaming and roasting are compared against the same qualitative criteria; suitability depends on purpose and local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1126611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4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15865B40-C7F7-409F-AA14-FB814995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55537A4F-FABC-44F6-9447-C7F7BED5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YEAR 9 FOOD IN AUSTRALIA  •  MODULE 08</a:t>
            </a:r>
          </a:p>
        </p:txBody>
      </p:sp>
      <p:sp>
        <p:nvSpPr>
          <p:cNvPr id="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D748AD4-8C6D-48EF-9BB3-A93166CD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9E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rieve-label">
            <a:extLst xmlns:a="http://schemas.openxmlformats.org/drawingml/2006/main">
              <a:ext uri="{FF2B5EF4-FFF2-40B4-BE49-F238E27FC236}">
                <a16:creationId xmlns:a16="http://schemas.microsoft.com/office/drawing/2014/main" id="{3EAE2E46-4132-4F6E-B118-CAB16D56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FOOD PRODUCTION AND PROCESSING · REHEARSAL</a:t>
            </a:r>
          </a:p>
        </p:txBody>
      </p:sp>
      <p:sp>
        <p:nvSpPr>
          <p:cNvPr id="5" name="retrieve-title">
            <a:extLst xmlns:a="http://schemas.openxmlformats.org/drawingml/2006/main">
              <a:ext uri="{FF2B5EF4-FFF2-40B4-BE49-F238E27FC236}">
                <a16:creationId xmlns:a16="http://schemas.microsoft.com/office/drawing/2014/main" id="{72346D6F-1C66-4966-812D-8738791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6" name="retrieve-instruction">
            <a:extLst xmlns:a="http://schemas.openxmlformats.org/drawingml/2006/main">
              <a:ext uri="{FF2B5EF4-FFF2-40B4-BE49-F238E27FC236}">
                <a16:creationId xmlns:a16="http://schemas.microsoft.com/office/drawing/2014/main" id="{6FD07C7D-692D-47B3-A738-C190BFA8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9E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9E2"/>
                </a:solidFill>
                <a:latin typeface="Aptos"/>
                <a:ea typeface="Aptos"/>
                <a:cs typeface="Aptos"/>
              </a:rPr>
              <a:t>Answer silently first. Then justify one response with a partner.</a:t>
            </a:r>
          </a:p>
        </p:txBody>
      </p:sp>
      <p:sp>
        <p:nvSpPr>
          <p:cNvPr id="7" name="retrieve-number-1">
            <a:extLst xmlns:a="http://schemas.openxmlformats.org/drawingml/2006/main">
              <a:ext uri="{FF2B5EF4-FFF2-40B4-BE49-F238E27FC236}">
                <a16:creationId xmlns:a16="http://schemas.microsoft.com/office/drawing/2014/main" id="{B8CFC9DE-5A21-4BF3-BE65-5341510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rieve-question-1">
            <a:extLst xmlns:a="http://schemas.openxmlformats.org/drawingml/2006/main">
              <a:ext uri="{FF2B5EF4-FFF2-40B4-BE49-F238E27FC236}">
                <a16:creationId xmlns:a16="http://schemas.microsoft.com/office/drawing/2014/main" id="{E0430875-A80E-4336-835D-E07A9B59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judgement about food technology is best supported?</a:t>
            </a:r>
          </a:p>
        </p:txBody>
      </p:sp>
      <p:sp>
        <p:nvSpPr>
          <p:cNvPr id="9" name="retrieve-divider-1">
            <a:extLst xmlns:a="http://schemas.openxmlformats.org/drawingml/2006/main">
              <a:ext uri="{FF2B5EF4-FFF2-40B4-BE49-F238E27FC236}">
                <a16:creationId xmlns:a16="http://schemas.microsoft.com/office/drawing/2014/main" id="{AD90E2AD-B41D-4A15-8108-D3E7BFE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0" name="retrieve-number-2">
            <a:extLst xmlns:a="http://schemas.openxmlformats.org/drawingml/2006/main">
              <a:ext uri="{FF2B5EF4-FFF2-40B4-BE49-F238E27FC236}">
                <a16:creationId xmlns:a16="http://schemas.microsoft.com/office/drawing/2014/main" id="{371C881D-EAC7-4151-8579-EF3A2D6A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trieve-question-2">
            <a:extLst xmlns:a="http://schemas.openxmlformats.org/drawingml/2006/main">
              <a:ext uri="{FF2B5EF4-FFF2-40B4-BE49-F238E27FC236}">
                <a16:creationId xmlns:a16="http://schemas.microsoft.com/office/drawing/2014/main" id="{767F028C-0EC2-46B8-83AC-A314761C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527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explanation best describes evidence of processing?</a:t>
            </a:r>
          </a:p>
        </p:txBody>
      </p:sp>
      <p:sp>
        <p:nvSpPr>
          <p:cNvPr id="12" name="retrieve-divider-2">
            <a:extLst xmlns:a="http://schemas.openxmlformats.org/drawingml/2006/main">
              <a:ext uri="{FF2B5EF4-FFF2-40B4-BE49-F238E27FC236}">
                <a16:creationId xmlns:a16="http://schemas.microsoft.com/office/drawing/2014/main" id="{839573A8-8569-415C-832E-1D72E4B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6225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6D"/>
            </a:solidFill>
            <a:prstDash val="solid"/>
          </a:ln>
        </p:spPr>
      </p:sp>
      <p:sp>
        <p:nvSpPr>
          <p:cNvPr id="13" name="retrieve-number-3">
            <a:extLst xmlns:a="http://schemas.openxmlformats.org/drawingml/2006/main">
              <a:ext uri="{FF2B5EF4-FFF2-40B4-BE49-F238E27FC236}">
                <a16:creationId xmlns:a16="http://schemas.microsoft.com/office/drawing/2014/main" id="{B0F869E4-AD02-41BD-8FDE-69826CB4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trieve-question-3">
            <a:extLst xmlns:a="http://schemas.openxmlformats.org/drawingml/2006/main">
              <a:ext uri="{FF2B5EF4-FFF2-40B4-BE49-F238E27FC236}">
                <a16:creationId xmlns:a16="http://schemas.microsoft.com/office/drawing/2014/main" id="{3B177EED-28F8-4FAE-BD65-A8CAD884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585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should a recommendation compare before choosing a food-processing method?</a:t>
            </a:r>
          </a:p>
        </p:txBody>
      </p:sp>
      <p:sp>
        <p:nvSpPr>
          <p:cNvPr id="15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77153E35-B7A9-4761-9227-1071AEEA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6" name="activity-label">
            <a:extLst xmlns:a="http://schemas.openxmlformats.org/drawingml/2006/main">
              <a:ext uri="{FF2B5EF4-FFF2-40B4-BE49-F238E27FC236}">
                <a16:creationId xmlns:a16="http://schemas.microsoft.com/office/drawing/2014/main" id="{F368E24B-D61D-4A36-B141-C8D9A164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APPLIED LEARNING ACTIVITY</a:t>
            </a:r>
          </a:p>
        </p:txBody>
      </p:sp>
      <p:sp>
        <p:nvSpPr>
          <p:cNvPr id="17" name="activity-title">
            <a:extLst xmlns:a="http://schemas.openxmlformats.org/drawingml/2006/main">
              <a:ext uri="{FF2B5EF4-FFF2-40B4-BE49-F238E27FC236}">
                <a16:creationId xmlns:a16="http://schemas.microsoft.com/office/drawing/2014/main" id="{4C894C0C-CDDD-44EC-ADAD-6CD095A9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622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Process-change investigator</a:t>
            </a:r>
          </a:p>
        </p:txBody>
      </p:sp>
      <p:sp>
        <p:nvSpPr>
          <p:cNvPr id="18" name="activity-purpose">
            <a:extLst xmlns:a="http://schemas.openxmlformats.org/drawingml/2006/main">
              <a:ext uri="{FF2B5EF4-FFF2-40B4-BE49-F238E27FC236}">
                <a16:creationId xmlns:a16="http://schemas.microsoft.com/office/drawing/2014/main" id="{5AE7F65F-110D-4A47-B723-127CDB58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38525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45B"/>
                </a:solidFill>
                <a:latin typeface="Aptos"/>
                <a:ea typeface="Aptos"/>
                <a:cs typeface="Aptos"/>
              </a:rPr>
              <a:t>Practise connecting processing observations with mechanisms and selecting methods against a stated purpose.</a:t>
            </a:r>
          </a:p>
        </p:txBody>
      </p:sp>
      <p:sp>
        <p:nvSpPr>
          <p:cNvPr id="19" name="activity-task">
            <a:extLst xmlns:a="http://schemas.openxmlformats.org/drawingml/2006/main">
              <a:ext uri="{FF2B5EF4-FFF2-40B4-BE49-F238E27FC236}">
                <a16:creationId xmlns:a16="http://schemas.microsoft.com/office/drawing/2014/main" id="{A0B74A43-8E09-4B94-A0ED-921331E4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43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4332"/>
                </a:solidFill>
                <a:latin typeface="Aptos"/>
                <a:ea typeface="Aptos"/>
                <a:cs typeface="Aptos"/>
              </a:rPr>
              <a:t>Try: Classify the strongest interpretation of each fictional observation.</a:t>
            </a:r>
          </a:p>
        </p:txBody>
      </p:sp>
      <p:sp>
        <p:nvSpPr>
          <p:cNvPr id="20" name="retrieve-boundary">
            <a:extLst xmlns:a="http://schemas.openxmlformats.org/drawingml/2006/main">
              <a:ext uri="{FF2B5EF4-FFF2-40B4-BE49-F238E27FC236}">
                <a16:creationId xmlns:a16="http://schemas.microsoft.com/office/drawing/2014/main" id="{BAF0131B-9D9C-40D3-A52E-890A3A5D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108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Rehearsal first. Save evidence only when the teacher directs.</a:t>
            </a:r>
          </a:p>
        </p:txBody>
      </p:sp>
    </p:spTree>
    <p:extLst>
      <p:ext uri="{BB962C8B-B14F-4D97-AF65-F5344CB8AC3E}">
        <p14:creationId xmlns:p14="http://schemas.microsoft.com/office/powerpoint/2010/main" val="297815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90593733-3F1E-4D1D-A04C-8B953A8A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21BBC1B5-75C5-4C16-9798-18429EEE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638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YEAR 9 FOOD IN AUSTRALIA  •  MODULE 08</a:t>
            </a:r>
          </a:p>
        </p:txBody>
      </p:sp>
      <p:sp>
        <p:nvSpPr>
          <p:cNvPr id="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23F37C4F-439B-4B53-8C99-D4FF0B33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4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C5CDD3F7-F911-48B0-B0C1-D06A509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FOOD PRODUCTION AND PROCESSING · GUIDED RESPONSE</a:t>
            </a:r>
          </a:p>
        </p:txBody>
      </p:sp>
      <p:sp>
        <p:nvSpPr>
          <p:cNvPr id="5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4DB3996F-E5CF-4496-8294-98014674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1108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31E"/>
                </a:solidFill>
                <a:latin typeface="Aptos Display"/>
                <a:ea typeface="Aptos Display"/>
                <a:cs typeface="Aptos Display"/>
              </a:rPr>
              <a:t>Build evidence someone else can follow</a:t>
            </a:r>
          </a:p>
        </p:txBody>
      </p:sp>
      <p:sp>
        <p:nvSpPr>
          <p:cNvPr id="6" name="evidence-question-panel">
            <a:extLst xmlns:a="http://schemas.openxmlformats.org/drawingml/2006/main">
              <a:ext uri="{FF2B5EF4-FFF2-40B4-BE49-F238E27FC236}">
                <a16:creationId xmlns:a16="http://schemas.microsoft.com/office/drawing/2014/main" id="{AB98C17C-5499-475B-84F0-8E724293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0871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1E5CE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7" name="evidence-question-label">
            <a:extLst xmlns:a="http://schemas.openxmlformats.org/drawingml/2006/main">
              <a:ext uri="{FF2B5EF4-FFF2-40B4-BE49-F238E27FC236}">
                <a16:creationId xmlns:a16="http://schemas.microsoft.com/office/drawing/2014/main" id="{0D006BC7-E6DE-465E-9017-F40CF62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8" name="evidence-question">
            <a:extLst xmlns:a="http://schemas.openxmlformats.org/drawingml/2006/main">
              <a:ext uri="{FF2B5EF4-FFF2-40B4-BE49-F238E27FC236}">
                <a16:creationId xmlns:a16="http://schemas.microsoft.com/office/drawing/2014/main" id="{B36E849D-965D-4B90-AD25-31A66CDE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1E"/>
                </a:solidFill>
                <a:latin typeface="Aptos"/>
                <a:ea typeface="Aptos"/>
                <a:cs typeface="Aptos"/>
              </a:rPr>
              <a:t>Recommend a method for a stated food purpose. Compare alternatives using common criteria, explain one important trade-off and identify any practical requirement that still needs teacher confirmation.</a:t>
            </a:r>
          </a:p>
        </p:txBody>
      </p:sp>
      <p:sp>
        <p:nvSpPr>
          <p:cNvPr id="9" name="evidence-connector-1">
            <a:extLst xmlns:a="http://schemas.openxmlformats.org/drawingml/2006/main">
              <a:ext uri="{FF2B5EF4-FFF2-40B4-BE49-F238E27FC236}">
                <a16:creationId xmlns:a16="http://schemas.microsoft.com/office/drawing/2014/main" id="{92BCE2C1-598A-474E-AA16-EB03E2D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0" name="evidence-connector-2">
            <a:extLst xmlns:a="http://schemas.openxmlformats.org/drawingml/2006/main">
              <a:ext uri="{FF2B5EF4-FFF2-40B4-BE49-F238E27FC236}">
                <a16:creationId xmlns:a16="http://schemas.microsoft.com/office/drawing/2014/main" id="{3F00128C-203D-442B-A268-5D3A248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1" name="evidence-connector-3">
            <a:extLst xmlns:a="http://schemas.openxmlformats.org/drawingml/2006/main">
              <a:ext uri="{FF2B5EF4-FFF2-40B4-BE49-F238E27FC236}">
                <a16:creationId xmlns:a16="http://schemas.microsoft.com/office/drawing/2014/main" id="{F13251CD-4884-456E-AE2D-9E4D2AED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3442F"/>
            </a:solidFill>
            <a:prstDash val="solid"/>
          </a:ln>
        </p:spPr>
      </p:sp>
      <p:sp>
        <p:nvSpPr>
          <p:cNvPr id="12" name="evidence-step-label-1">
            <a:extLst xmlns:a="http://schemas.openxmlformats.org/drawingml/2006/main">
              <a:ext uri="{FF2B5EF4-FFF2-40B4-BE49-F238E27FC236}">
                <a16:creationId xmlns:a16="http://schemas.microsoft.com/office/drawing/2014/main" id="{3A431BC1-4198-4349-94DD-E7549532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13" name="evidence-step-panel-1">
            <a:extLst xmlns:a="http://schemas.openxmlformats.org/drawingml/2006/main">
              <a:ext uri="{FF2B5EF4-FFF2-40B4-BE49-F238E27FC236}">
                <a16:creationId xmlns:a16="http://schemas.microsoft.com/office/drawing/2014/main" id="{3D13D382-499B-4EAC-AF15-2E40D3A2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4" name="evidence-step-text-1">
            <a:extLst xmlns:a="http://schemas.openxmlformats.org/drawingml/2006/main">
              <a:ext uri="{FF2B5EF4-FFF2-40B4-BE49-F238E27FC236}">
                <a16:creationId xmlns:a16="http://schemas.microsoft.com/office/drawing/2014/main" id="{DCE5E980-2673-486D-AA3D-2F0B6848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Underline the exact decision or explanation the prompt requires.</a:t>
            </a:r>
          </a:p>
        </p:txBody>
      </p:sp>
      <p:sp>
        <p:nvSpPr>
          <p:cNvPr id="15" name="evidence-step-label-2">
            <a:extLst xmlns:a="http://schemas.openxmlformats.org/drawingml/2006/main">
              <a:ext uri="{FF2B5EF4-FFF2-40B4-BE49-F238E27FC236}">
                <a16:creationId xmlns:a16="http://schemas.microsoft.com/office/drawing/2014/main" id="{708441DC-0456-4324-8783-19B40218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6" name="evidence-step-panel-2">
            <a:extLst xmlns:a="http://schemas.openxmlformats.org/drawingml/2006/main">
              <a:ext uri="{FF2B5EF4-FFF2-40B4-BE49-F238E27FC236}">
                <a16:creationId xmlns:a16="http://schemas.microsoft.com/office/drawing/2014/main" id="{E00C8B10-BC4A-4D6A-853E-D6C04205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17" name="evidence-step-text-2">
            <a:extLst xmlns:a="http://schemas.openxmlformats.org/drawingml/2006/main">
              <a:ext uri="{FF2B5EF4-FFF2-40B4-BE49-F238E27FC236}">
                <a16:creationId xmlns:a16="http://schemas.microsoft.com/office/drawing/2014/main" id="{32CAE98A-9E00-41E0-B19A-BD8F2921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Choose evidence that uses common comparison criteria.</a:t>
            </a:r>
          </a:p>
        </p:txBody>
      </p:sp>
      <p:sp>
        <p:nvSpPr>
          <p:cNvPr id="18" name="evidence-step-label-3">
            <a:extLst xmlns:a="http://schemas.openxmlformats.org/drawingml/2006/main">
              <a:ext uri="{FF2B5EF4-FFF2-40B4-BE49-F238E27FC236}">
                <a16:creationId xmlns:a16="http://schemas.microsoft.com/office/drawing/2014/main" id="{75FF1156-2610-4C24-8AA2-C0252D48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34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3442F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9" name="evidence-step-panel-3">
            <a:extLst xmlns:a="http://schemas.openxmlformats.org/drawingml/2006/main">
              <a:ext uri="{FF2B5EF4-FFF2-40B4-BE49-F238E27FC236}">
                <a16:creationId xmlns:a16="http://schemas.microsoft.com/office/drawing/2014/main" id="{458C995A-78DA-4444-9433-C745AD26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EE3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0" name="evidence-step-text-3">
            <a:extLst xmlns:a="http://schemas.openxmlformats.org/drawingml/2006/main">
              <a:ext uri="{FF2B5EF4-FFF2-40B4-BE49-F238E27FC236}">
                <a16:creationId xmlns:a16="http://schemas.microsoft.com/office/drawing/2014/main" id="{D760D767-E403-47B7-B729-EA8DE1AF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The product purpose and criteria are …</a:t>
            </a:r>
          </a:p>
        </p:txBody>
      </p:sp>
      <p:sp>
        <p:nvSpPr>
          <p:cNvPr id="21" name="evidence-step-label-4">
            <a:extLst xmlns:a="http://schemas.openxmlformats.org/drawingml/2006/main">
              <a:ext uri="{FF2B5EF4-FFF2-40B4-BE49-F238E27FC236}">
                <a16:creationId xmlns:a16="http://schemas.microsoft.com/office/drawing/2014/main" id="{56C37CC5-2415-4622-B7E5-075245C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D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5D46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22" name="evidence-step-panel-4">
            <a:extLst xmlns:a="http://schemas.openxmlformats.org/drawingml/2006/main">
              <a:ext uri="{FF2B5EF4-FFF2-40B4-BE49-F238E27FC236}">
                <a16:creationId xmlns:a16="http://schemas.microsoft.com/office/drawing/2014/main" id="{CCCEC41A-BDE4-47C3-858B-1BDE821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76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9525">
            <a:solidFill>
              <a:srgbClr val="CDD5CF"/>
            </a:solidFill>
            <a:prstDash val="solid"/>
          </a:ln>
        </p:spPr>
      </p:sp>
      <p:sp>
        <p:nvSpPr>
          <p:cNvPr id="23" name="evidence-step-text-4">
            <a:extLst xmlns:a="http://schemas.openxmlformats.org/drawingml/2006/main">
              <a:ext uri="{FF2B5EF4-FFF2-40B4-BE49-F238E27FC236}">
                <a16:creationId xmlns:a16="http://schemas.microsoft.com/office/drawing/2014/main" id="{FEF0C627-C035-439B-93E9-6D51DE9F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31E"/>
                </a:solidFill>
                <a:latin typeface="Aptos"/>
                <a:ea typeface="Aptos"/>
                <a:cs typeface="Aptos"/>
              </a:rPr>
              <a:t>Links prediction to purpose; records an honest teacher-confirm item.</a:t>
            </a:r>
          </a:p>
        </p:txBody>
      </p:sp>
      <p:sp>
        <p:nvSpPr>
          <p:cNvPr id="24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3F284478-0C07-4628-B4F2-1045062A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Save in My Folio only when your teacher asks. Saving is not submission.</a:t>
            </a:r>
          </a:p>
        </p:txBody>
      </p:sp>
    </p:spTree>
    <p:extLst>
      <p:ext uri="{BB962C8B-B14F-4D97-AF65-F5344CB8AC3E}">
        <p14:creationId xmlns:p14="http://schemas.microsoft.com/office/powerpoint/2010/main" val="1669170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9344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side-field">
            <a:extLst xmlns:a="http://schemas.openxmlformats.org/drawingml/2006/main">
              <a:ext uri="{FF2B5EF4-FFF2-40B4-BE49-F238E27FC236}">
                <a16:creationId xmlns:a16="http://schemas.microsoft.com/office/drawing/2014/main" id="{295B7789-7A53-43D4-81C8-1265A081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label">
            <a:extLst xmlns:a="http://schemas.openxmlformats.org/drawingml/2006/main">
              <a:ext uri="{FF2B5EF4-FFF2-40B4-BE49-F238E27FC236}">
                <a16:creationId xmlns:a16="http://schemas.microsoft.com/office/drawing/2014/main" id="{A868E3DF-29A9-44CC-82F2-52053D1F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MODULE 08 · EXIT EVIDENCE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6153A1E-7F0C-4EBE-91C2-B7288589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23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evidence, not a guess.</a:t>
            </a:r>
          </a:p>
        </p:txBody>
      </p:sp>
      <p:sp>
        <p:nvSpPr>
          <p:cNvPr id="4" name="close-prompt-1">
            <a:extLst xmlns:a="http://schemas.openxmlformats.org/drawingml/2006/main">
              <a:ext uri="{FF2B5EF4-FFF2-40B4-BE49-F238E27FC236}">
                <a16:creationId xmlns:a16="http://schemas.microsoft.com/office/drawing/2014/main" id="{7F3E6278-38A4-4A7C-8194-E8BF3A1B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1.  One idea I can explain is food technology changes systems because …</a:t>
            </a:r>
          </a:p>
        </p:txBody>
      </p:sp>
      <p:sp>
        <p:nvSpPr>
          <p:cNvPr id="5" name="close-divider-1">
            <a:extLst xmlns:a="http://schemas.openxmlformats.org/drawingml/2006/main">
              <a:ext uri="{FF2B5EF4-FFF2-40B4-BE49-F238E27FC236}">
                <a16:creationId xmlns:a16="http://schemas.microsoft.com/office/drawing/2014/main" id="{1127EF97-EDBD-4691-A93E-ED88781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6" name="close-prompt-2">
            <a:extLst xmlns:a="http://schemas.openxmlformats.org/drawingml/2006/main">
              <a:ext uri="{FF2B5EF4-FFF2-40B4-BE49-F238E27FC236}">
                <a16:creationId xmlns:a16="http://schemas.microsoft.com/office/drawing/2014/main" id="{6F7B150E-BADC-4E03-815D-4F8CC40D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 One connection across the three ideas is …</a:t>
            </a:r>
          </a:p>
        </p:txBody>
      </p:sp>
      <p:sp>
        <p:nvSpPr>
          <p:cNvPr id="7" name="close-divider-2">
            <a:extLst xmlns:a="http://schemas.openxmlformats.org/drawingml/2006/main">
              <a:ext uri="{FF2B5EF4-FFF2-40B4-BE49-F238E27FC236}">
                <a16:creationId xmlns:a16="http://schemas.microsoft.com/office/drawing/2014/main" id="{63A83B29-9602-431B-8970-F7B50E5C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8875"/>
            </a:solidFill>
            <a:prstDash val="solid"/>
          </a:ln>
        </p:spPr>
      </p:sp>
      <p:sp>
        <p:nvSpPr>
          <p:cNvPr id="8" name="close-prompt-3">
            <a:extLst xmlns:a="http://schemas.openxmlformats.org/drawingml/2006/main">
              <a:ext uri="{FF2B5EF4-FFF2-40B4-BE49-F238E27FC236}">
                <a16:creationId xmlns:a16="http://schemas.microsoft.com/office/drawing/2014/main" id="{A1D59A19-55A2-41B4-A69B-039E7E9E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693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 One question or check I still need is …</a:t>
            </a:r>
          </a:p>
        </p:txBody>
      </p:sp>
      <p:sp>
        <p:nvSpPr>
          <p:cNvPr id="9" name="close-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43FDDB64-25E3-4F56-971C-75F9902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ED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EDE7"/>
                </a:solidFill>
                <a:latin typeface="Aptos"/>
                <a:ea typeface="Aptos"/>
                <a:cs typeface="Aptos"/>
              </a:rPr>
              <a:t>Evidence destination: My Folio when directed. Exporting or saving is not submission.</a:t>
            </a:r>
          </a:p>
        </p:txBody>
      </p:sp>
      <p:sp>
        <p:nvSpPr>
          <p:cNvPr id="10" name="teacher-confirm-label">
            <a:extLst xmlns:a="http://schemas.openxmlformats.org/drawingml/2006/main">
              <a:ext uri="{FF2B5EF4-FFF2-40B4-BE49-F238E27FC236}">
                <a16:creationId xmlns:a16="http://schemas.microsoft.com/office/drawing/2014/main" id="{08A52177-A1DD-41D4-9D07-C6F28581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TEACHER TO CONFIRM</a:t>
            </a:r>
          </a:p>
        </p:txBody>
      </p:sp>
      <p:sp>
        <p:nvSpPr>
          <p:cNvPr id="11" name="teacher-confirm-panel">
            <a:extLst xmlns:a="http://schemas.openxmlformats.org/drawingml/2006/main">
              <a:ext uri="{FF2B5EF4-FFF2-40B4-BE49-F238E27FC236}">
                <a16:creationId xmlns:a16="http://schemas.microsoft.com/office/drawing/2014/main" id="{4DCB72D7-1DC3-45D6-B2A7-542DF772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57325"/>
            <a:ext cx="3143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5E2"/>
          </a:solidFill>
          <a:ln xmlns:a="http://schemas.openxmlformats.org/drawingml/2006/main" w="28575">
            <a:solidFill>
              <a:srgbClr val="93442F"/>
            </a:solidFill>
            <a:prstDash val="solid"/>
          </a:ln>
        </p:spPr>
      </p:sp>
      <p:sp>
        <p:nvSpPr>
          <p:cNvPr id="12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412B40D9-8F7B-4FAC-9637-325BD3D0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47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24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B2430"/>
                </a:solidFill>
                <a:latin typeface="Aptos"/>
                <a:ea typeface="Aptos"/>
                <a:cs typeface="Aptos"/>
              </a:rPr>
              <a:t>Equipment, method, safety conditions and teacher-controlled practical requirements.</a:t>
            </a:r>
          </a:p>
        </p:txBody>
      </p:sp>
      <p:sp>
        <p:nvSpPr>
          <p:cNvPr id="13" name="close-next-step-label">
            <a:extLst xmlns:a="http://schemas.openxmlformats.org/drawingml/2006/main">
              <a:ext uri="{FF2B5EF4-FFF2-40B4-BE49-F238E27FC236}">
                <a16:creationId xmlns:a16="http://schemas.microsoft.com/office/drawing/2014/main" id="{366A43C1-4F0C-4D50-A5F0-C5741632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E5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E5CE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4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7C19F0E6-C15B-487E-AA0E-F6C17BD6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module page to refine one response, then follow your teacher’s directions.</a:t>
            </a:r>
          </a:p>
        </p:txBody>
      </p:sp>
    </p:spTree>
    <p:extLst>
      <p:ext uri="{BB962C8B-B14F-4D97-AF65-F5344CB8AC3E}">
        <p14:creationId xmlns:p14="http://schemas.microsoft.com/office/powerpoint/2010/main" val="1369178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2026-08-26T13:29:34.4450000Z</dcterms:created>
  <dcterms:modified xsi:type="dcterms:W3CDTF">2026-08-26T13:29:34.4450000Z</dcterms:modified>
</coreProperties>
</file>