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93ab5127e941ba" /><Relationship Type="http://schemas.openxmlformats.org/officeDocument/2006/relationships/extended-properties" Target="/docProps/app.xml" Id="R8d2b024f26fc4e5f" /><Relationship Type="http://schemas.openxmlformats.org/officeDocument/2006/relationships/officeDocument" Target="/ppt/presentation.xml" Id="Rd162850e1fa946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d9a39e28e249b6"/>
  </p:sldMasterIdLst>
  <p:notesMasterIdLst>
    <p:notesMasterId xmlns:r="http://schemas.openxmlformats.org/officeDocument/2006/relationships" r:id="R5a528ea972b84c52"/>
  </p:notesMasterIdLst>
  <p:sldIdLst>
    <p:sldId xmlns:r="http://schemas.openxmlformats.org/officeDocument/2006/relationships" id="256" r:id="R4c1e24394d2d48fd"/>
    <p:sldId xmlns:r="http://schemas.openxmlformats.org/officeDocument/2006/relationships" id="257" r:id="R2a6b41cd1fdb465a"/>
    <p:sldId xmlns:r="http://schemas.openxmlformats.org/officeDocument/2006/relationships" id="258" r:id="R32857749fa1a4de3"/>
    <p:sldId xmlns:r="http://schemas.openxmlformats.org/officeDocument/2006/relationships" id="259" r:id="Rc9e99be4ed144a16"/>
    <p:sldId xmlns:r="http://schemas.openxmlformats.org/officeDocument/2006/relationships" id="260" r:id="Rd9252fafc3084062"/>
    <p:sldId xmlns:r="http://schemas.openxmlformats.org/officeDocument/2006/relationships" id="261" r:id="Rcd11fffe0c9f4a46"/>
    <p:sldId xmlns:r="http://schemas.openxmlformats.org/officeDocument/2006/relationships" id="262" r:id="R03f354689fc741a9"/>
    <p:sldId xmlns:r="http://schemas.openxmlformats.org/officeDocument/2006/relationships" id="263" r:id="R4cd8f6d382fe4c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58d8ed47d84619" /><Relationship Type="http://schemas.openxmlformats.org/officeDocument/2006/relationships/slideMaster" Target="/ppt/slideMasters/slideMaster1.xml" Id="R87d9a39e28e249b6" /><Relationship Type="http://schemas.openxmlformats.org/officeDocument/2006/relationships/notesMaster" Target="/ppt/notesMasters/notesMaster1.xml" Id="R5a528ea972b84c52" /><Relationship Type="http://schemas.openxmlformats.org/officeDocument/2006/relationships/presProps" Target="/ppt/presProps.xml" Id="R55bc7d1052374860" /><Relationship Type="http://schemas.openxmlformats.org/officeDocument/2006/relationships/tableStyles" Target="/ppt/tableStyles.xml" Id="R07f4c1a4a9ac4683" /><Relationship Type="http://schemas.openxmlformats.org/officeDocument/2006/relationships/slide" Target="/ppt/slides/slide1.xml" Id="R4c1e24394d2d48fd" /><Relationship Type="http://schemas.openxmlformats.org/officeDocument/2006/relationships/slide" Target="/ppt/slides/slide2.xml" Id="R2a6b41cd1fdb465a" /><Relationship Type="http://schemas.openxmlformats.org/officeDocument/2006/relationships/slide" Target="/ppt/slides/slide3.xml" Id="R32857749fa1a4de3" /><Relationship Type="http://schemas.openxmlformats.org/officeDocument/2006/relationships/slide" Target="/ppt/slides/slide4.xml" Id="Rc9e99be4ed144a16" /><Relationship Type="http://schemas.openxmlformats.org/officeDocument/2006/relationships/slide" Target="/ppt/slides/slide5.xml" Id="Rd9252fafc3084062" /><Relationship Type="http://schemas.openxmlformats.org/officeDocument/2006/relationships/slide" Target="/ppt/slides/slide6.xml" Id="Rcd11fffe0c9f4a46" /><Relationship Type="http://schemas.openxmlformats.org/officeDocument/2006/relationships/slide" Target="/ppt/slides/slide7.xml" Id="R03f354689fc741a9" /><Relationship Type="http://schemas.openxmlformats.org/officeDocument/2006/relationships/slide" Target="/ppt/slides/slide8.xml" Id="R4cd8f6d382fe4c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7a9be75b594d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e0f3590efa49ef" /><Relationship Type="http://schemas.openxmlformats.org/officeDocument/2006/relationships/notesMaster" Target="/ppt/notesMasters/notesMaster1.xml" Id="R5275acf0946048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d092ea29914083" /><Relationship Type="http://schemas.openxmlformats.org/officeDocument/2006/relationships/notesMaster" Target="/ppt/notesMasters/notesMaster1.xml" Id="R2592006112344e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51a7f248754d4f" /><Relationship Type="http://schemas.openxmlformats.org/officeDocument/2006/relationships/notesMaster" Target="/ppt/notesMasters/notesMaster1.xml" Id="R0b6bc2722e434f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38d6741ad9402f" /><Relationship Type="http://schemas.openxmlformats.org/officeDocument/2006/relationships/notesMaster" Target="/ppt/notesMasters/notesMaster1.xml" Id="R15ba614d614945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4c17798ed445f8" /><Relationship Type="http://schemas.openxmlformats.org/officeDocument/2006/relationships/notesMaster" Target="/ppt/notesMasters/notesMaster1.xml" Id="R0296f58d5fb847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24300a38474409" /><Relationship Type="http://schemas.openxmlformats.org/officeDocument/2006/relationships/notesMaster" Target="/ppt/notesMasters/notesMaster1.xml" Id="R7d32f14530d841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69f78e97104b0b" /><Relationship Type="http://schemas.openxmlformats.org/officeDocument/2006/relationships/notesMaster" Target="/ppt/notesMasters/notesMaster1.xml" Id="R3a1245755f5740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6ec623f3bf46d6" /><Relationship Type="http://schemas.openxmlformats.org/officeDocument/2006/relationships/notesMaster" Target="/ppt/notesMasters/notesMaster1.xml" Id="R3f134947b41a4a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question: how does cultural knowledge and icip change a food decision or explanation?</a:t>
            </a:r>
          </a:p>
          <a:p xmlns:a="http://schemas.openxmlformats.org/drawingml/2006/main">
            <a:r>
              <a:t>State the outcome in plain language: Responsible research keeps Cultural Knowledge connected to authority, context, permission and purpose.</a:t>
            </a:r>
          </a:p>
          <a:p xmlns:a="http://schemas.openxmlformats.org/drawingml/2006/main">
            <a:r>
              <a:t>Ask students what the visual helps them notice, then make clear that it is a generated learning visual, not documentary evidence or practical permission.</a:t>
            </a:r>
          </a:p>
          <a:p xmlns:a="http://schemas.openxmlformats.org/drawingml/2006/main">
            <a:r>
              <a:t>Transition: the next slide shows the three connected ideas students will use to reach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visual: assets/photos/m03-s02-seasonal-observation.png; Course-original generated PNG; depicts a generic observation setting only;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timeline as a learning sequence, not an agenda. Briefly name each idea and show how the third depends on the first two.</a:t>
            </a:r>
          </a:p>
          <a:p xmlns:a="http://schemas.openxmlformats.org/drawingml/2006/main">
            <a:r>
              <a:t>Retrieval prompt: ask students to define or exemplify one term from Cultural Knowledge is living, local and owned, then name one uncertainty to check.</a:t>
            </a:r>
          </a:p>
          <a:p xmlns:a="http://schemas.openxmlformats.org/drawingml/2006/main">
            <a:r>
              <a:t>Listen for unsupported certainty. Model language such as ‘the source supports…’, ‘in this context…’ and ‘Teacher to confirm…’ where relevant.</a:t>
            </a:r>
          </a:p>
          <a:p xmlns:a="http://schemas.openxmlformats.org/drawingml/2006/main">
            <a:r>
              <a:t>Transition: begin with Cultural Knowledge is living, local and owned; students will use it as the first part of the final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m03-s01: Cultural Knowledge is living, local and owned.</a:t>
            </a:r>
          </a:p>
          <a:p xmlns:a="http://schemas.openxmlformats.org/drawingml/2006/main">
            <a:r>
              <a:t>- Course theory section m03-s02: Seasons, cycles and caring for resources.</a:t>
            </a:r>
          </a:p>
          <a:p xmlns:a="http://schemas.openxmlformats.org/drawingml/2006/main">
            <a:r>
              <a:t>- Course theory section m03-s03: Research, permission and ICIP.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Cultural Knowledge is living and connected to people, Community, Country, permission and purpose. Finding information online does not transfer authority or make every use appropriate.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Publicly accessible information is free to reuse.</a:t>
            </a:r>
          </a:p>
          <a:p xmlns:a="http://schemas.openxmlformats.org/drawingml/2006/main">
            <a:r>
              <a:t>Transition: connect this idea to cultural knowledge and icip, then move to "the second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m03-s01: Cultural Knowledge is living, local and owned.</a:t>
            </a:r>
          </a:p>
          <a:p xmlns:a="http://schemas.openxmlformats.org/drawingml/2006/main">
            <a:r>
              <a:t>- Course visual: assets/diagrams/m03-s01-knowledge-permission-web.svg; Course-original abstract relationship SVG with no cultural motifs or third-party artwork;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Seasonal knowledge is place-specific and may use local environmental indicators rather than four imported seasons. Observe only what you can see; do not invent local interpretation, harvesting permission or cultural authority.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A generic observation can stand in for local seasonal knowledge.</a:t>
            </a:r>
          </a:p>
          <a:p xmlns:a="http://schemas.openxmlformats.org/drawingml/2006/main">
            <a:r>
              <a:t>Transition: connect this idea to cultural knowledge and icip, then move to "the final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m03-s02: Seasons, cycles and caring for resources.</a:t>
            </a:r>
          </a:p>
          <a:p xmlns:a="http://schemas.openxmlformats.org/drawingml/2006/main">
            <a:r>
              <a:t>- Course visual: assets/photos/m03-s02-seasonal-observation.png; Course-original generated PNG; depicts a generic observation setting only;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Check creator, rights, cultural authority, purpose and reuse conditions. Attribution is necessary but not always sufficient. If authority or permission is unclear, pause, link, ask or leave the material out.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Giving credit is always the same as having permission.</a:t>
            </a:r>
          </a:p>
          <a:p xmlns:a="http://schemas.openxmlformats.org/drawingml/2006/main">
            <a:r>
              <a:t>Transition: students now rehearse all three ideas through the module activity and retrieval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m03-s03: Research, permission and ICIP.</a:t>
            </a:r>
          </a:p>
          <a:p xmlns:a="http://schemas.openxmlformats.org/drawingml/2006/main">
            <a:r>
              <a:t>- Course visual: assets/diagrams/m03-s03-icip-source-check.svg; Course-original SVG; no third-party source content;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activity as rehearsal: Audit fictional source metadata only. Decide what is clear, then choose a responsible action.</a:t>
            </a:r>
          </a:p>
          <a:p xmlns:a="http://schemas.openxmlformats.org/drawingml/2006/main">
            <a:r>
              <a:t>Give quiet thinking time before discussion. Ask students to explain why an alternative is weaker, not merely name the correct choice.</a:t>
            </a:r>
          </a:p>
          <a:p xmlns:a="http://schemas.openxmlformats.org/drawingml/2006/main">
            <a:r>
              <a:t>Check 1: Identify the creator, Country or Community context, public purpose, authority and stated limits before deciding how to use it.</a:t>
            </a:r>
          </a:p>
          <a:p xmlns:a="http://schemas.openxmlformats.org/drawingml/2006/main">
            <a:r>
              <a:t>Check 2: It can show relationships among local indicators, timing, decisions and care in the identified context, but it does not grant harvesting permission.</a:t>
            </a:r>
          </a:p>
          <a:p xmlns:a="http://schemas.openxmlformats.org/drawingml/2006/main">
            <a:r>
              <a:t>Check 3: Pause, seek context or teacher guidance, and prefer linking or a clearer authorised source rather than guessing permission.</a:t>
            </a:r>
          </a:p>
          <a:p xmlns:a="http://schemas.openxmlformats.org/drawingml/2006/main">
            <a:r>
              <a:t>Misconception to correct: a correct choice without reasoning is enough evidence. Ask for the link between the claim and the source or scenario.</a:t>
            </a:r>
          </a:p>
          <a:p xmlns:a="http://schemas.openxmlformats.org/drawingml/2006/main">
            <a:r>
              <a:t>Transition: move from short retrieval to one constructed evidence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activity activity-m03: ICIP source-permission audit.</a:t>
            </a:r>
          </a:p>
          <a:p xmlns:a="http://schemas.openxmlformats.org/drawingml/2006/main">
            <a:r>
              <a:t>- Course formative check check-m03-s01 for m03-s01.</a:t>
            </a:r>
          </a:p>
          <a:p xmlns:a="http://schemas.openxmlformats.org/drawingml/2006/main">
            <a:r>
              <a:t>- Course formative check check-m03-s02 for m03-s02.</a:t>
            </a:r>
          </a:p>
          <a:p xmlns:a="http://schemas.openxmlformats.org/drawingml/2006/main">
            <a:r>
              <a:t>- Course formative check check-m03-s03 for m03-s03.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prompt aloud once, then ask students to restate its decision or explanation in their own words.</a:t>
            </a:r>
          </a:p>
          <a:p xmlns:a="http://schemas.openxmlformats.org/drawingml/2006/main">
            <a:r>
              <a:t>Model the sequence: Read → Select → Explain → Check. Use the starter "I can verify the source's …" only if students need it.</a:t>
            </a:r>
          </a:p>
          <a:p xmlns:a="http://schemas.openxmlformats.org/drawingml/2006/main">
            <a:r>
              <a:t>Look for: separates attribution from permission; uses source-specific evidence; pauses or links when authority is unclear.</a:t>
            </a:r>
          </a:p>
          <a:p xmlns:a="http://schemas.openxmlformats.org/drawingml/2006/main">
            <a:r>
              <a:t>Misconception to correct: saving locally means the work has been submitted or formally assessed. It has not.</a:t>
            </a:r>
          </a:p>
          <a:p xmlns:a="http://schemas.openxmlformats.org/drawingml/2006/main">
            <a:r>
              <a:t>Transition: close with a three-part exit ticket and the teacher-controlled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evidence record for m03-s03: ICIP-aware research pathway.</a:t>
            </a:r>
          </a:p>
          <a:p xmlns:a="http://schemas.openxmlformats.org/drawingml/2006/main">
            <a:r>
              <a:t>- Course folio contract: device-local saving is not submission.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one minute to write all three exit lines. Ask for a specific connection, not a generic summary.</a:t>
            </a:r>
          </a:p>
          <a:p xmlns:a="http://schemas.openxmlformats.org/drawingml/2006/main">
            <a:r>
              <a:t>Listen for the module takeaway: Responsible research keeps Cultural Knowledge connected to authority, context, permission and purpose.</a:t>
            </a:r>
          </a:p>
          <a:p xmlns:a="http://schemas.openxmlformats.org/drawingml/2006/main">
            <a:r>
              <a:t>State the sign-off exactly as shown: Teacher to confirm local community, aecg or knowledge holder guidance before localising cultural content.</a:t>
            </a:r>
          </a:p>
          <a:p xmlns:a="http://schemas.openxmlformats.org/drawingml/2006/main">
            <a:r>
              <a:t>Do not announce a practical, due date, weighting, grade or submission route unless it is in the current teacher-issued instruction.</a:t>
            </a:r>
          </a:p>
          <a:p xmlns:a="http://schemas.openxmlformats.org/drawingml/2006/main">
            <a:r>
              <a:t>Close by directing students to the Module 03 page or My Folio only as the teacher decides.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Current Year 9 Assessment Booklet 2026: course-level task boundaries only; this deck does not invent unit task details.</a:t>
            </a:r>
          </a:p>
          <a:p xmlns:a="http://schemas.openxmlformats.org/drawingml/2006/main">
            <a:r>
              <a:t>- Course source-map v1.1 and assessment-orientation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1e9076f114a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89306a2ac440ab" /><Relationship Type="http://schemas.openxmlformats.org/officeDocument/2006/relationships/slideLayout" Target="/ppt/slideLayouts/slideLayout1.xml" Id="Rbc576888510a44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576888510a44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9a95f531149f5" /><Relationship Type="http://schemas.openxmlformats.org/officeDocument/2006/relationships/image" Target="/ppt/media/image.png" Id="R6e6e4e9e2fcf4766" /><Relationship Type="http://schemas.openxmlformats.org/officeDocument/2006/relationships/notesSlide" Target="/ppt/notesSlides/notesSlide1.xml" Id="R25135eaad23e49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b3efc5c0e4b9f" /><Relationship Type="http://schemas.openxmlformats.org/officeDocument/2006/relationships/notesSlide" Target="/ppt/notesSlides/notesSlide2.xml" Id="R70117297a05b43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263cf5d144b02" /><Relationship Type="http://schemas.openxmlformats.org/officeDocument/2006/relationships/image" Target="/ppt/media/image2.png" Id="R847b404866374dd0" /><Relationship Type="http://schemas.openxmlformats.org/officeDocument/2006/relationships/notesSlide" Target="/ppt/notesSlides/notesSlide3.xml" Id="R2d1ad05d6c864c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dc9c12df84c7f" /><Relationship Type="http://schemas.openxmlformats.org/officeDocument/2006/relationships/image" Target="/ppt/media/image3.png" Id="Rb9d4a587e7874dd0" /><Relationship Type="http://schemas.openxmlformats.org/officeDocument/2006/relationships/notesSlide" Target="/ppt/notesSlides/notesSlide4.xml" Id="Rabcbbf416e344b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1be9d5c764018" /><Relationship Type="http://schemas.openxmlformats.org/officeDocument/2006/relationships/image" Target="/ppt/media/image4.png" Id="R5333cab00129439b" /><Relationship Type="http://schemas.openxmlformats.org/officeDocument/2006/relationships/notesSlide" Target="/ppt/notesSlides/notesSlide5.xml" Id="R4b317300249b43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fe41bb811435e" /><Relationship Type="http://schemas.openxmlformats.org/officeDocument/2006/relationships/notesSlide" Target="/ppt/notesSlides/notesSlide6.xml" Id="R39e188bd9b1747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02366a5b545f0" /><Relationship Type="http://schemas.openxmlformats.org/officeDocument/2006/relationships/notesSlide" Target="/ppt/notesSlides/notesSlide7.xml" Id="Raf02bc529c7446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c39b433b04a59" /><Relationship Type="http://schemas.openxmlformats.org/officeDocument/2006/relationships/notesSlide" Target="/ppt/notesSlides/notesSlide8.xml" Id="Rdaa95d03296c41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ED08AF85-DC8A-49E7-A5CF-5DFE305F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hero-frame">
            <a:extLst xmlns:a="http://schemas.openxmlformats.org/drawingml/2006/main">
              <a:ext uri="{FF2B5EF4-FFF2-40B4-BE49-F238E27FC236}">
                <a16:creationId xmlns:a16="http://schemas.microsoft.com/office/drawing/2014/main" id="{20BDC469-24F4-4FF4-84ED-EE9CA329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"/>
            <a:ext cx="5181600" cy="6019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e4e9e2fcf4766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266700"/>
            <a:ext cx="5105400" cy="59436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4" name="cover-notice-panel">
            <a:extLst xmlns:a="http://schemas.openxmlformats.org/drawingml/2006/main">
              <a:ext uri="{FF2B5EF4-FFF2-40B4-BE49-F238E27FC236}">
                <a16:creationId xmlns:a16="http://schemas.microsoft.com/office/drawing/2014/main" id="{66CEEA69-383C-498D-AB37-6636A7FE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48006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cover-notice">
            <a:extLst xmlns:a="http://schemas.openxmlformats.org/drawingml/2006/main">
              <a:ext uri="{FF2B5EF4-FFF2-40B4-BE49-F238E27FC236}">
                <a16:creationId xmlns:a16="http://schemas.microsoft.com/office/drawing/2014/main" id="{F328D92B-8C22-4143-A09D-938115F6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531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Generated learning visual — not documentary evidence.</a:t>
            </a:r>
          </a:p>
        </p:txBody>
      </p:sp>
      <p:sp>
        <p:nvSpPr>
          <p:cNvPr id="6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687899F7-865E-4369-B76C-0DA3EFF9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984B51FA-FC60-45A7-8B93-5CE801A4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odule-label">
            <a:extLst xmlns:a="http://schemas.openxmlformats.org/drawingml/2006/main">
              <a:ext uri="{FF2B5EF4-FFF2-40B4-BE49-F238E27FC236}">
                <a16:creationId xmlns:a16="http://schemas.microsoft.com/office/drawing/2014/main" id="{74CAB94C-F10D-430C-A5DD-E85FB5D6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MODULE 03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0DE3E4B-D8FF-463D-B904-7BEF6A5A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Cultural Knowledge and ICIP</a:t>
            </a:r>
          </a:p>
        </p:txBody>
      </p:sp>
      <p:sp>
        <p:nvSpPr>
          <p:cNvPr id="10" name="cover-outcome">
            <a:extLst xmlns:a="http://schemas.openxmlformats.org/drawingml/2006/main">
              <a:ext uri="{FF2B5EF4-FFF2-40B4-BE49-F238E27FC236}">
                <a16:creationId xmlns:a16="http://schemas.microsoft.com/office/drawing/2014/main" id="{7C6082B5-D0C3-4934-A941-3FCEAE00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E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2ED"/>
                </a:solidFill>
                <a:latin typeface="Aptos"/>
                <a:ea typeface="Aptos"/>
                <a:cs typeface="Aptos"/>
              </a:rPr>
              <a:t>Responsible research keeps Cultural Knowledge connected to authority, context, permission and purpose.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FF244E8-6EA7-4EDC-83E4-2F5E2583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1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1C6"/>
                </a:solidFill>
                <a:latin typeface="Aptos"/>
                <a:ea typeface="Aptos"/>
                <a:cs typeface="Aptos"/>
              </a:rPr>
              <a:t>Editable classroom presentation  •  Local review copy</a:t>
            </a:r>
          </a:p>
        </p:txBody>
      </p:sp>
    </p:spTree>
    <p:extLst>
      <p:ext uri="{BB962C8B-B14F-4D97-AF65-F5344CB8AC3E}">
        <p14:creationId xmlns:p14="http://schemas.microsoft.com/office/powerpoint/2010/main" val="1538228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91059CA0-8CD1-4CA2-B913-A693B7D5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2">
            <a:extLst xmlns:a="http://schemas.openxmlformats.org/drawingml/2006/main">
              <a:ext uri="{FF2B5EF4-FFF2-40B4-BE49-F238E27FC236}">
                <a16:creationId xmlns:a16="http://schemas.microsoft.com/office/drawing/2014/main" id="{7DCDABDE-E431-4AAB-B8F5-93C6B75F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03</a:t>
            </a:r>
          </a:p>
        </p:txBody>
      </p:sp>
      <p:sp>
        <p:nvSpPr>
          <p:cNvPr id="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B9729D8-8CEB-4F5F-A65D-05F9A5AD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6F071059-6541-45A9-8119-845AD7D2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CULTURAL KNOWLEDGE AND ICIP · LEARNING PATHWAY</a:t>
            </a:r>
          </a:p>
        </p:txBody>
      </p:sp>
      <p:sp>
        <p:nvSpPr>
          <p:cNvPr id="5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70100E55-B9B0-48CD-94F4-9AF3236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Three ideas build one explanation</a:t>
            </a:r>
          </a:p>
        </p:txBody>
      </p:sp>
      <p:sp>
        <p:nvSpPr>
          <p:cNvPr id="6" name="arc-retrieval-prompt">
            <a:extLst xmlns:a="http://schemas.openxmlformats.org/drawingml/2006/main">
              <a:ext uri="{FF2B5EF4-FFF2-40B4-BE49-F238E27FC236}">
                <a16:creationId xmlns:a16="http://schemas.microsoft.com/office/drawing/2014/main" id="{C280C7D4-30CB-4FE0-933C-0BFED2D6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Retrieval warm-up: What do you already know—and what needs checking?</a:t>
            </a:r>
          </a:p>
        </p:txBody>
      </p:sp>
      <p:sp>
        <p:nvSpPr>
          <p:cNvPr id="7" name="arc-connector">
            <a:extLst xmlns:a="http://schemas.openxmlformats.org/drawingml/2006/main">
              <a:ext uri="{FF2B5EF4-FFF2-40B4-BE49-F238E27FC236}">
                <a16:creationId xmlns:a16="http://schemas.microsoft.com/office/drawing/2014/main" id="{1FC342FA-D09B-4E1A-B13A-1F8290D7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4795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8" name="arc-node-1">
            <a:extLst xmlns:a="http://schemas.openxmlformats.org/drawingml/2006/main">
              <a:ext uri="{FF2B5EF4-FFF2-40B4-BE49-F238E27FC236}">
                <a16:creationId xmlns:a16="http://schemas.microsoft.com/office/drawing/2014/main" id="{391B0137-01EE-4712-9188-6987B71C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arc-number-1">
            <a:extLst xmlns:a="http://schemas.openxmlformats.org/drawingml/2006/main">
              <a:ext uri="{FF2B5EF4-FFF2-40B4-BE49-F238E27FC236}">
                <a16:creationId xmlns:a16="http://schemas.microsoft.com/office/drawing/2014/main" id="{704A3C9A-4BB7-44E4-8198-06B788AC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arc-node-2">
            <a:extLst xmlns:a="http://schemas.openxmlformats.org/drawingml/2006/main">
              <a:ext uri="{FF2B5EF4-FFF2-40B4-BE49-F238E27FC236}">
                <a16:creationId xmlns:a16="http://schemas.microsoft.com/office/drawing/2014/main" id="{20F1472B-5FE0-42CA-AB1D-C3844601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442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arc-number-2">
            <a:extLst xmlns:a="http://schemas.openxmlformats.org/drawingml/2006/main">
              <a:ext uri="{FF2B5EF4-FFF2-40B4-BE49-F238E27FC236}">
                <a16:creationId xmlns:a16="http://schemas.microsoft.com/office/drawing/2014/main" id="{9CF27F14-B197-42CF-AF23-04C1F9AE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arc-node-3">
            <a:extLst xmlns:a="http://schemas.openxmlformats.org/drawingml/2006/main">
              <a:ext uri="{FF2B5EF4-FFF2-40B4-BE49-F238E27FC236}">
                <a16:creationId xmlns:a16="http://schemas.microsoft.com/office/drawing/2014/main" id="{10D13403-6425-4F5C-9137-A8B87FA5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arc-number-3">
            <a:extLst xmlns:a="http://schemas.openxmlformats.org/drawingml/2006/main">
              <a:ext uri="{FF2B5EF4-FFF2-40B4-BE49-F238E27FC236}">
                <a16:creationId xmlns:a16="http://schemas.microsoft.com/office/drawing/2014/main" id="{7877A419-A91B-4EEF-AC09-97C7F9B2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arc-section-title-1">
            <a:extLst xmlns:a="http://schemas.openxmlformats.org/drawingml/2006/main">
              <a:ext uri="{FF2B5EF4-FFF2-40B4-BE49-F238E27FC236}">
                <a16:creationId xmlns:a16="http://schemas.microsoft.com/office/drawing/2014/main" id="{B591F12F-3D84-4D4F-AE83-4AC3A5FE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Cultural Knowledge is living, local and owned</a:t>
            </a:r>
          </a:p>
        </p:txBody>
      </p:sp>
      <p:sp>
        <p:nvSpPr>
          <p:cNvPr id="15" name="arc-section-purpose-1">
            <a:extLst xmlns:a="http://schemas.openxmlformats.org/drawingml/2006/main">
              <a:ext uri="{FF2B5EF4-FFF2-40B4-BE49-F238E27FC236}">
                <a16:creationId xmlns:a16="http://schemas.microsoft.com/office/drawing/2014/main" id="{F75B93DC-08E0-4971-9F1E-B38D19CA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Recognise living, local ownership</a:t>
            </a:r>
          </a:p>
        </p:txBody>
      </p:sp>
      <p:sp>
        <p:nvSpPr>
          <p:cNvPr id="16" name="arc-section-title-2">
            <a:extLst xmlns:a="http://schemas.openxmlformats.org/drawingml/2006/main">
              <a:ext uri="{FF2B5EF4-FFF2-40B4-BE49-F238E27FC236}">
                <a16:creationId xmlns:a16="http://schemas.microsoft.com/office/drawing/2014/main" id="{7A304523-8381-4B47-ABC0-A9CB9202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Seasons, cycles and caring for resources</a:t>
            </a:r>
          </a:p>
        </p:txBody>
      </p:sp>
      <p:sp>
        <p:nvSpPr>
          <p:cNvPr id="17" name="arc-section-purpose-2">
            <a:extLst xmlns:a="http://schemas.openxmlformats.org/drawingml/2006/main">
              <a:ext uri="{FF2B5EF4-FFF2-40B4-BE49-F238E27FC236}">
                <a16:creationId xmlns:a16="http://schemas.microsoft.com/office/drawing/2014/main" id="{C3EB6338-7099-4857-8536-27790B1A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Separate observation from local knowledge</a:t>
            </a:r>
          </a:p>
        </p:txBody>
      </p:sp>
      <p:sp>
        <p:nvSpPr>
          <p:cNvPr id="18" name="arc-section-title-3">
            <a:extLst xmlns:a="http://schemas.openxmlformats.org/drawingml/2006/main">
              <a:ext uri="{FF2B5EF4-FFF2-40B4-BE49-F238E27FC236}">
                <a16:creationId xmlns:a16="http://schemas.microsoft.com/office/drawing/2014/main" id="{0132EE44-B655-45BC-98F2-2D112F05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Research, permission and ICIP</a:t>
            </a:r>
          </a:p>
        </p:txBody>
      </p:sp>
      <p:sp>
        <p:nvSpPr>
          <p:cNvPr id="19" name="arc-section-purpose-3">
            <a:extLst xmlns:a="http://schemas.openxmlformats.org/drawingml/2006/main">
              <a:ext uri="{FF2B5EF4-FFF2-40B4-BE49-F238E27FC236}">
                <a16:creationId xmlns:a16="http://schemas.microsoft.com/office/drawing/2014/main" id="{FA3D3D5C-3FFB-4090-BC10-A92A6ED5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Check authority, rights and purpose</a:t>
            </a:r>
          </a:p>
        </p:txBody>
      </p:sp>
      <p:sp>
        <p:nvSpPr>
          <p:cNvPr id="20" name="arc-takeaway-band">
            <a:extLst xmlns:a="http://schemas.openxmlformats.org/drawingml/2006/main">
              <a:ext uri="{FF2B5EF4-FFF2-40B4-BE49-F238E27FC236}">
                <a16:creationId xmlns:a16="http://schemas.microsoft.com/office/drawing/2014/main" id="{4D0F47D6-9109-4A43-BD56-918AC9A4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08710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1" name="arc-takeaway">
            <a:extLst xmlns:a="http://schemas.openxmlformats.org/drawingml/2006/main">
              <a:ext uri="{FF2B5EF4-FFF2-40B4-BE49-F238E27FC236}">
                <a16:creationId xmlns:a16="http://schemas.microsoft.com/office/drawing/2014/main" id="{7B016753-9C21-461F-B751-6FAE18F5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7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Connect all three: Responsible research keeps Cultural Knowledge connected to authority, context, permission and purpose.</a:t>
            </a:r>
          </a:p>
        </p:txBody>
      </p:sp>
    </p:spTree>
    <p:extLst>
      <p:ext uri="{BB962C8B-B14F-4D97-AF65-F5344CB8AC3E}">
        <p14:creationId xmlns:p14="http://schemas.microsoft.com/office/powerpoint/2010/main" val="312450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A7E7D09E-AA19-41F1-9F8D-1BDAFE50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3">
            <a:extLst xmlns:a="http://schemas.openxmlformats.org/drawingml/2006/main">
              <a:ext uri="{FF2B5EF4-FFF2-40B4-BE49-F238E27FC236}">
                <a16:creationId xmlns:a16="http://schemas.microsoft.com/office/drawing/2014/main" id="{243D609A-F38E-469C-B94B-3E83C82E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03</a:t>
            </a:r>
          </a:p>
        </p:txBody>
      </p:sp>
      <p:sp>
        <p:nvSpPr>
          <p:cNvPr id="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BCFFA13-689A-4350-AB1B-54738F9D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ection-label-3">
            <a:extLst xmlns:a="http://schemas.openxmlformats.org/drawingml/2006/main">
              <a:ext uri="{FF2B5EF4-FFF2-40B4-BE49-F238E27FC236}">
                <a16:creationId xmlns:a16="http://schemas.microsoft.com/office/drawing/2014/main" id="{D6F301DC-11D5-46D1-B4C4-033D8ED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1 · M03-S01</a:t>
            </a:r>
          </a:p>
        </p:txBody>
      </p:sp>
      <p:sp>
        <p:nvSpPr>
          <p:cNvPr id="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A4CB4779-0B3A-4D3F-8AF9-5A918F5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Cultural Knowledge is living, local and owned</a:t>
            </a:r>
          </a:p>
        </p:txBody>
      </p:sp>
      <p:sp>
        <p:nvSpPr>
          <p:cNvPr id="6" name="idea-1-visual-frame">
            <a:extLst xmlns:a="http://schemas.openxmlformats.org/drawingml/2006/main">
              <a:ext uri="{FF2B5EF4-FFF2-40B4-BE49-F238E27FC236}">
                <a16:creationId xmlns:a16="http://schemas.microsoft.com/office/drawing/2014/main" id="{2C9C2286-1B8D-4A81-9E92-C88C0DA9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98170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b404866374dd0"/>
          <a:stretch xmlns:a="http://schemas.openxmlformats.org/drawingml/2006/main"/>
        </p:blipFill>
        <p:spPr>
          <a:xfrm xmlns:a="http://schemas.openxmlformats.org/drawingml/2006/main">
            <a:off x="533400" y="1901428"/>
            <a:ext cx="5905500" cy="3321844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idea-1-visual-caption">
            <a:extLst xmlns:a="http://schemas.openxmlformats.org/drawingml/2006/main">
              <a:ext uri="{FF2B5EF4-FFF2-40B4-BE49-F238E27FC236}">
                <a16:creationId xmlns:a16="http://schemas.microsoft.com/office/drawing/2014/main" id="{A7F562FA-EB17-47BE-9C3D-FD244E31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Cultural Knowledge remains connected to people, Community, Country, permission and purpose.</a:t>
            </a:r>
          </a:p>
        </p:txBody>
      </p:sp>
      <p:sp>
        <p:nvSpPr>
          <p:cNvPr id="9" name="idea-1-body">
            <a:extLst xmlns:a="http://schemas.openxmlformats.org/drawingml/2006/main">
              <a:ext uri="{FF2B5EF4-FFF2-40B4-BE49-F238E27FC236}">
                <a16:creationId xmlns:a16="http://schemas.microsoft.com/office/drawing/2014/main" id="{36617991-7017-47BE-BF65-AB2380A2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4591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Cultural Knowledge is living and connected to people, Community, Country, permission and purpose. Finding information online does not transfer authority or make every use appropriate.</a:t>
            </a:r>
          </a:p>
        </p:txBody>
      </p:sp>
      <p:sp>
        <p:nvSpPr>
          <p:cNvPr id="10" name="idea-1-notice-band">
            <a:extLst xmlns:a="http://schemas.openxmlformats.org/drawingml/2006/main">
              <a:ext uri="{FF2B5EF4-FFF2-40B4-BE49-F238E27FC236}">
                <a16:creationId xmlns:a16="http://schemas.microsoft.com/office/drawing/2014/main" id="{107D4775-B21D-4BE6-96EE-95D0C1BE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52925"/>
            <a:ext cx="4591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1" name="idea-1-notice">
            <a:extLst xmlns:a="http://schemas.openxmlformats.org/drawingml/2006/main">
              <a:ext uri="{FF2B5EF4-FFF2-40B4-BE49-F238E27FC236}">
                <a16:creationId xmlns:a16="http://schemas.microsoft.com/office/drawing/2014/main" id="{28660E67-7E3A-4AA3-934E-C92B27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133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Notice: If one relationship is missing—for example, permission—why is finding the information not enough?</a:t>
            </a:r>
          </a:p>
        </p:txBody>
      </p:sp>
    </p:spTree>
    <p:extLst>
      <p:ext uri="{BB962C8B-B14F-4D97-AF65-F5344CB8AC3E}">
        <p14:creationId xmlns:p14="http://schemas.microsoft.com/office/powerpoint/2010/main" val="19244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676C2AE3-DAFA-4114-B5CC-90D53A26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4">
            <a:extLst xmlns:a="http://schemas.openxmlformats.org/drawingml/2006/main">
              <a:ext uri="{FF2B5EF4-FFF2-40B4-BE49-F238E27FC236}">
                <a16:creationId xmlns:a16="http://schemas.microsoft.com/office/drawing/2014/main" id="{4552BE45-3A63-42F1-B395-14872A1D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03</a:t>
            </a:r>
          </a:p>
        </p:txBody>
      </p:sp>
      <p:sp>
        <p:nvSpPr>
          <p:cNvPr id="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2FA09725-F283-4FC1-B1A9-CA5F116A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E76448E8-EF86-450F-B165-F7901BAB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2 · M03-S02</a:t>
            </a:r>
          </a:p>
        </p:txBody>
      </p:sp>
      <p:sp>
        <p:nvSpPr>
          <p:cNvPr id="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B94A114B-E7C9-4CAE-BD3B-E84BB83A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Seasons, cycles and caring for resources</a:t>
            </a:r>
          </a:p>
        </p:txBody>
      </p:sp>
      <p:sp>
        <p:nvSpPr>
          <p:cNvPr id="6" name="idea-2-body">
            <a:extLst xmlns:a="http://schemas.openxmlformats.org/drawingml/2006/main">
              <a:ext uri="{FF2B5EF4-FFF2-40B4-BE49-F238E27FC236}">
                <a16:creationId xmlns:a16="http://schemas.microsoft.com/office/drawing/2014/main" id="{D93B73CB-A91B-4ADC-A64B-590307AF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46863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Seasonal knowledge is place-specific and may use local environmental indicators rather than four imported seasons. Observe only what you can see; do not invent local interpretation, harvesting permission or cultural authority.</a:t>
            </a:r>
          </a:p>
        </p:txBody>
      </p:sp>
      <p:sp>
        <p:nvSpPr>
          <p:cNvPr id="7" name="idea-2-notice-band">
            <a:extLst xmlns:a="http://schemas.openxmlformats.org/drawingml/2006/main">
              <a:ext uri="{FF2B5EF4-FFF2-40B4-BE49-F238E27FC236}">
                <a16:creationId xmlns:a16="http://schemas.microsoft.com/office/drawing/2014/main" id="{B609395F-4690-4C85-8CF0-48936E7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4686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8" name="idea-2-notice">
            <a:extLst xmlns:a="http://schemas.openxmlformats.org/drawingml/2006/main">
              <a:ext uri="{FF2B5EF4-FFF2-40B4-BE49-F238E27FC236}">
                <a16:creationId xmlns:a16="http://schemas.microsoft.com/office/drawing/2014/main" id="{9B9A8EFB-13E1-49FA-AA96-B5425ABF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229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Notice: Which clues can you observe directly? Which interpretation would require an authorised local source rather than your own assumption?</a:t>
            </a:r>
          </a:p>
        </p:txBody>
      </p:sp>
      <p:sp>
        <p:nvSpPr>
          <p:cNvPr id="9" name="idea-2-visual-frame">
            <a:extLst xmlns:a="http://schemas.openxmlformats.org/drawingml/2006/main">
              <a:ext uri="{FF2B5EF4-FFF2-40B4-BE49-F238E27FC236}">
                <a16:creationId xmlns:a16="http://schemas.microsoft.com/office/drawing/2014/main" id="{1A7C6EF0-AB83-417F-B183-53AB4924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84835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4a587e7874dd0"/>
          <a:srcRect xmlns:a="http://schemas.openxmlformats.org/drawingml/2006/main" l="1905" t="0" r="19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562100"/>
            <a:ext cx="57721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idea-2-visual-caption">
            <a:extLst xmlns:a="http://schemas.openxmlformats.org/drawingml/2006/main">
              <a:ext uri="{FF2B5EF4-FFF2-40B4-BE49-F238E27FC236}">
                <a16:creationId xmlns:a16="http://schemas.microsoft.com/office/drawing/2014/main" id="{32417576-FA2E-43A3-9EA2-52F4DDB9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577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 generic observation setting—not a Cultural calendar or source of Cultural Knowledge. Local interpretation requires authorised local sources and permission.</a:t>
            </a:r>
          </a:p>
        </p:txBody>
      </p:sp>
    </p:spTree>
    <p:extLst>
      <p:ext uri="{BB962C8B-B14F-4D97-AF65-F5344CB8AC3E}">
        <p14:creationId xmlns:p14="http://schemas.microsoft.com/office/powerpoint/2010/main" val="693889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3723B7CC-A761-4E03-898D-C1B4CE12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5">
            <a:extLst xmlns:a="http://schemas.openxmlformats.org/drawingml/2006/main">
              <a:ext uri="{FF2B5EF4-FFF2-40B4-BE49-F238E27FC236}">
                <a16:creationId xmlns:a16="http://schemas.microsoft.com/office/drawing/2014/main" id="{5A6F5284-71FC-47E2-B4FB-6ACB7F45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03</a:t>
            </a:r>
          </a:p>
        </p:txBody>
      </p:sp>
      <p:sp>
        <p:nvSpPr>
          <p:cNvPr id="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D0E51AA2-FFE5-4EAB-ABC9-75EE9762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ection-label-5">
            <a:extLst xmlns:a="http://schemas.openxmlformats.org/drawingml/2006/main">
              <a:ext uri="{FF2B5EF4-FFF2-40B4-BE49-F238E27FC236}">
                <a16:creationId xmlns:a16="http://schemas.microsoft.com/office/drawing/2014/main" id="{BBBFF59D-5AA5-44FE-AE58-518A53B7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3 · M03-S03</a:t>
            </a:r>
          </a:p>
        </p:txBody>
      </p:sp>
      <p:sp>
        <p:nvSpPr>
          <p:cNvPr id="5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3116E6B1-E8E3-457D-87F7-E5D231FE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Research, permission and ICIP</a:t>
            </a:r>
          </a:p>
        </p:txBody>
      </p:sp>
      <p:sp>
        <p:nvSpPr>
          <p:cNvPr id="6" name="idea-3-body">
            <a:extLst xmlns:a="http://schemas.openxmlformats.org/drawingml/2006/main">
              <a:ext uri="{FF2B5EF4-FFF2-40B4-BE49-F238E27FC236}">
                <a16:creationId xmlns:a16="http://schemas.microsoft.com/office/drawing/2014/main" id="{3EE91F94-89ED-4A28-B93D-F842A66E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476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Check creator, rights, cultural authority, purpose and reuse conditions. Attribution is necessary but not always sufficient. If authority or permission is unclear, pause, link, ask or leave the material out.</a:t>
            </a:r>
          </a:p>
        </p:txBody>
      </p:sp>
      <p:sp>
        <p:nvSpPr>
          <p:cNvPr id="7" name="idea-3-decision-band">
            <a:extLst xmlns:a="http://schemas.openxmlformats.org/drawingml/2006/main">
              <a:ext uri="{FF2B5EF4-FFF2-40B4-BE49-F238E27FC236}">
                <a16:creationId xmlns:a16="http://schemas.microsoft.com/office/drawing/2014/main" id="{C1593F7B-FEA1-437B-A5C2-68D9D43B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476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a-3-decision">
            <a:extLst xmlns:a="http://schemas.openxmlformats.org/drawingml/2006/main">
              <a:ext uri="{FF2B5EF4-FFF2-40B4-BE49-F238E27FC236}">
                <a16:creationId xmlns:a16="http://schemas.microsoft.com/office/drawing/2014/main" id="{FF712864-3E8E-415D-8ABC-51C5ED4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019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Notice: Which question would stop you from publishing material even if you could open it online?</a:t>
            </a:r>
          </a:p>
        </p:txBody>
      </p:sp>
      <p:sp>
        <p:nvSpPr>
          <p:cNvPr id="9" name="idea-3-visual-frame">
            <a:extLst xmlns:a="http://schemas.openxmlformats.org/drawingml/2006/main">
              <a:ext uri="{FF2B5EF4-FFF2-40B4-BE49-F238E27FC236}">
                <a16:creationId xmlns:a16="http://schemas.microsoft.com/office/drawing/2014/main" id="{64EC19BF-E9C3-48D0-BB93-830C6D61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24000"/>
            <a:ext cx="605790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3cab00129439b"/>
          <a:stretch xmlns:a="http://schemas.openxmlformats.org/drawingml/2006/main"/>
        </p:blipFill>
        <p:spPr>
          <a:xfrm xmlns:a="http://schemas.openxmlformats.org/drawingml/2006/main">
            <a:off x="5543550" y="1860947"/>
            <a:ext cx="5981700" cy="3364706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11" name="idea-3-visual-caption">
            <a:extLst xmlns:a="http://schemas.openxmlformats.org/drawingml/2006/main">
              <a:ext uri="{FF2B5EF4-FFF2-40B4-BE49-F238E27FC236}">
                <a16:creationId xmlns:a16="http://schemas.microsoft.com/office/drawing/2014/main" id="{B5147330-73DA-431A-BFE5-6EAEB34A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1975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Check creator, rights, cultural authority and purpose before using or publishing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04611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439AE7D7-B280-4B72-98A4-A41FD868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6">
            <a:extLst xmlns:a="http://schemas.openxmlformats.org/drawingml/2006/main">
              <a:ext uri="{FF2B5EF4-FFF2-40B4-BE49-F238E27FC236}">
                <a16:creationId xmlns:a16="http://schemas.microsoft.com/office/drawing/2014/main" id="{BCD701B5-7CDA-40F2-9D70-F8F6DD4F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  •  MODULE 03</a:t>
            </a:r>
          </a:p>
        </p:txBody>
      </p:sp>
      <p:sp>
        <p:nvSpPr>
          <p:cNvPr id="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7C112BC-E29A-41F6-AE86-258E0A6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trieve-label">
            <a:extLst xmlns:a="http://schemas.openxmlformats.org/drawingml/2006/main">
              <a:ext uri="{FF2B5EF4-FFF2-40B4-BE49-F238E27FC236}">
                <a16:creationId xmlns:a16="http://schemas.microsoft.com/office/drawing/2014/main" id="{5B92D6BE-B2E8-4B2A-AA3E-C7040AD8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CULTURAL KNOWLEDGE AND ICIP · REHEARSAL</a:t>
            </a:r>
          </a:p>
        </p:txBody>
      </p:sp>
      <p:sp>
        <p:nvSpPr>
          <p:cNvPr id="5" name="retrieve-title">
            <a:extLst xmlns:a="http://schemas.openxmlformats.org/drawingml/2006/main">
              <a:ext uri="{FF2B5EF4-FFF2-40B4-BE49-F238E27FC236}">
                <a16:creationId xmlns:a16="http://schemas.microsoft.com/office/drawing/2014/main" id="{7D7B82E7-C522-4F12-B0EB-EE042628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6" name="retrieve-instruction">
            <a:extLst xmlns:a="http://schemas.openxmlformats.org/drawingml/2006/main">
              <a:ext uri="{FF2B5EF4-FFF2-40B4-BE49-F238E27FC236}">
                <a16:creationId xmlns:a16="http://schemas.microsoft.com/office/drawing/2014/main" id="{A34E4AB5-EBD7-4A10-BA6A-E245AB84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9E2"/>
                </a:solidFill>
                <a:latin typeface="Aptos"/>
                <a:ea typeface="Aptos"/>
                <a:cs typeface="Aptos"/>
              </a:rPr>
              <a:t>Answer silently first. Then justify one response with a partner.</a:t>
            </a:r>
          </a:p>
        </p:txBody>
      </p:sp>
      <p:sp>
        <p:nvSpPr>
          <p:cNvPr id="7" name="retrieve-number-1">
            <a:extLst xmlns:a="http://schemas.openxmlformats.org/drawingml/2006/main">
              <a:ext uri="{FF2B5EF4-FFF2-40B4-BE49-F238E27FC236}">
                <a16:creationId xmlns:a16="http://schemas.microsoft.com/office/drawing/2014/main" id="{80DCEB32-3D61-44B2-A055-6BF30B30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rieve-question-1">
            <a:extLst xmlns:a="http://schemas.openxmlformats.org/drawingml/2006/main">
              <a:ext uri="{FF2B5EF4-FFF2-40B4-BE49-F238E27FC236}">
                <a16:creationId xmlns:a16="http://schemas.microsoft.com/office/drawing/2014/main" id="{18AA1014-3260-4C40-9E0E-91DB923B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source check best supports responsible use of Cultural Knowledge in a school explanation?</a:t>
            </a:r>
          </a:p>
        </p:txBody>
      </p:sp>
      <p:sp>
        <p:nvSpPr>
          <p:cNvPr id="9" name="retrieve-divider-1">
            <a:extLst xmlns:a="http://schemas.openxmlformats.org/drawingml/2006/main">
              <a:ext uri="{FF2B5EF4-FFF2-40B4-BE49-F238E27FC236}">
                <a16:creationId xmlns:a16="http://schemas.microsoft.com/office/drawing/2014/main" id="{A54BC7ED-964E-4D1A-8442-E50F09E7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0" name="retrieve-number-2">
            <a:extLst xmlns:a="http://schemas.openxmlformats.org/drawingml/2006/main">
              <a:ext uri="{FF2B5EF4-FFF2-40B4-BE49-F238E27FC236}">
                <a16:creationId xmlns:a16="http://schemas.microsoft.com/office/drawing/2014/main" id="{6943F32E-63A3-4C73-A8A2-BEBD0F77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trieve-question-2">
            <a:extLst xmlns:a="http://schemas.openxmlformats.org/drawingml/2006/main">
              <a:ext uri="{FF2B5EF4-FFF2-40B4-BE49-F238E27FC236}">
                <a16:creationId xmlns:a16="http://schemas.microsoft.com/office/drawing/2014/main" id="{F369476B-8EA0-4056-B12D-1B9BBE02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27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a responsible conclusion from a public Aboriginal seasonal calendar?</a:t>
            </a:r>
          </a:p>
        </p:txBody>
      </p:sp>
      <p:sp>
        <p:nvSpPr>
          <p:cNvPr id="12" name="retrieve-divider-2">
            <a:extLst xmlns:a="http://schemas.openxmlformats.org/drawingml/2006/main">
              <a:ext uri="{FF2B5EF4-FFF2-40B4-BE49-F238E27FC236}">
                <a16:creationId xmlns:a16="http://schemas.microsoft.com/office/drawing/2014/main" id="{EA686847-0D69-40FD-A8CC-4A4FD274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3" name="retrieve-number-3">
            <a:extLst xmlns:a="http://schemas.openxmlformats.org/drawingml/2006/main">
              <a:ext uri="{FF2B5EF4-FFF2-40B4-BE49-F238E27FC236}">
                <a16:creationId xmlns:a16="http://schemas.microsoft.com/office/drawing/2014/main" id="{019DE580-6A5F-402C-A2F4-49EA5711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2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trieve-question-3">
            <a:extLst xmlns:a="http://schemas.openxmlformats.org/drawingml/2006/main">
              <a:ext uri="{FF2B5EF4-FFF2-40B4-BE49-F238E27FC236}">
                <a16:creationId xmlns:a16="http://schemas.microsoft.com/office/drawing/2014/main" id="{31109266-81F5-450B-B461-06A808EE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source names no creator or Community and gives no reuse conditions. What is the best next step?</a:t>
            </a:r>
          </a:p>
        </p:txBody>
      </p:sp>
      <p:sp>
        <p:nvSpPr>
          <p:cNvPr id="15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6C07EBF3-824E-4440-80E3-1590894F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6" name="activity-label">
            <a:extLst xmlns:a="http://schemas.openxmlformats.org/drawingml/2006/main">
              <a:ext uri="{FF2B5EF4-FFF2-40B4-BE49-F238E27FC236}">
                <a16:creationId xmlns:a16="http://schemas.microsoft.com/office/drawing/2014/main" id="{2F0D4CCB-CA45-457F-BCCA-9992DEC6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APPLIED LEARNING ACTIVITY</a:t>
            </a:r>
          </a:p>
        </p:txBody>
      </p:sp>
      <p:sp>
        <p:nvSpPr>
          <p:cNvPr id="17" name="activity-title">
            <a:extLst xmlns:a="http://schemas.openxmlformats.org/drawingml/2006/main">
              <a:ext uri="{FF2B5EF4-FFF2-40B4-BE49-F238E27FC236}">
                <a16:creationId xmlns:a16="http://schemas.microsoft.com/office/drawing/2014/main" id="{7071C467-A17A-40BA-9871-E277520E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ICIP source-permission audit</a:t>
            </a:r>
          </a:p>
        </p:txBody>
      </p:sp>
      <p:sp>
        <p:nvSpPr>
          <p:cNvPr id="18" name="activity-purpose">
            <a:extLst xmlns:a="http://schemas.openxmlformats.org/drawingml/2006/main">
              <a:ext uri="{FF2B5EF4-FFF2-40B4-BE49-F238E27FC236}">
                <a16:creationId xmlns:a16="http://schemas.microsoft.com/office/drawing/2014/main" id="{CFDEEB00-0940-4D44-AD26-B4E7FA60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38525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Practise checking identity, place, purpose, permission and renewal without reproducing Cultural Knowledge.</a:t>
            </a:r>
          </a:p>
        </p:txBody>
      </p:sp>
      <p:sp>
        <p:nvSpPr>
          <p:cNvPr id="19" name="activity-task">
            <a:extLst xmlns:a="http://schemas.openxmlformats.org/drawingml/2006/main">
              <a:ext uri="{FF2B5EF4-FFF2-40B4-BE49-F238E27FC236}">
                <a16:creationId xmlns:a16="http://schemas.microsoft.com/office/drawing/2014/main" id="{6A8ADED7-65E7-4273-843F-59C5F9B2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150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Try: For this fictional source card, mark each detail as clear or unclear: it names an Aboriginal organisation, identifies Country, states 'public classroom viewing', asks users to link rather than copy, but gives no harvesting advice.</a:t>
            </a:r>
          </a:p>
        </p:txBody>
      </p:sp>
      <p:sp>
        <p:nvSpPr>
          <p:cNvPr id="20" name="retrieve-boundary">
            <a:extLst xmlns:a="http://schemas.openxmlformats.org/drawingml/2006/main">
              <a:ext uri="{FF2B5EF4-FFF2-40B4-BE49-F238E27FC236}">
                <a16:creationId xmlns:a16="http://schemas.microsoft.com/office/drawing/2014/main" id="{D1593473-14FB-498B-87FC-8920507F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08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Rehearsal first. Save evidence only when the teacher directs.</a:t>
            </a:r>
          </a:p>
        </p:txBody>
      </p:sp>
    </p:spTree>
    <p:extLst>
      <p:ext uri="{BB962C8B-B14F-4D97-AF65-F5344CB8AC3E}">
        <p14:creationId xmlns:p14="http://schemas.microsoft.com/office/powerpoint/2010/main" val="1496120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B8667B04-12B4-49B3-B36E-34105469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7">
            <a:extLst xmlns:a="http://schemas.openxmlformats.org/drawingml/2006/main">
              <a:ext uri="{FF2B5EF4-FFF2-40B4-BE49-F238E27FC236}">
                <a16:creationId xmlns:a16="http://schemas.microsoft.com/office/drawing/2014/main" id="{3216A2D8-835A-4E92-B0C6-F4D9D1CA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03</a:t>
            </a:r>
          </a:p>
        </p:txBody>
      </p:sp>
      <p:sp>
        <p:nvSpPr>
          <p:cNvPr id="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A8B39F81-765C-4AC6-A2F5-8D67E924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section-label-7">
            <a:extLst xmlns:a="http://schemas.openxmlformats.org/drawingml/2006/main">
              <a:ext uri="{FF2B5EF4-FFF2-40B4-BE49-F238E27FC236}">
                <a16:creationId xmlns:a16="http://schemas.microsoft.com/office/drawing/2014/main" id="{D96E9B33-AD96-45D1-A043-02A4CFEF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CULTURAL KNOWLEDGE AND ICIP · GUIDED RESPONSE</a:t>
            </a:r>
          </a:p>
        </p:txBody>
      </p:sp>
      <p:sp>
        <p:nvSpPr>
          <p:cNvPr id="5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3A6F5976-EF42-4F2B-95F3-E8CF850F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Build evidence someone else can follow</a:t>
            </a:r>
          </a:p>
        </p:txBody>
      </p:sp>
      <p:sp>
        <p:nvSpPr>
          <p:cNvPr id="6" name="evidence-question-panel">
            <a:extLst xmlns:a="http://schemas.openxmlformats.org/drawingml/2006/main">
              <a:ext uri="{FF2B5EF4-FFF2-40B4-BE49-F238E27FC236}">
                <a16:creationId xmlns:a16="http://schemas.microsoft.com/office/drawing/2014/main" id="{CECCA9A1-808D-4105-95B0-B32F26AC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871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7" name="evidence-question-label">
            <a:extLst xmlns:a="http://schemas.openxmlformats.org/drawingml/2006/main">
              <a:ext uri="{FF2B5EF4-FFF2-40B4-BE49-F238E27FC236}">
                <a16:creationId xmlns:a16="http://schemas.microsoft.com/office/drawing/2014/main" id="{0D59F449-A6BA-4EF5-921E-744D2FCB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8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23073CA5-C977-4825-8517-5080B842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Explain why a chosen source is appropriate to use and how your proposed research action respects its authority, context, reuse conditions and acknowledgement needs.</a:t>
            </a:r>
          </a:p>
        </p:txBody>
      </p:sp>
      <p:sp>
        <p:nvSpPr>
          <p:cNvPr id="9" name="evidence-connector-1">
            <a:extLst xmlns:a="http://schemas.openxmlformats.org/drawingml/2006/main">
              <a:ext uri="{FF2B5EF4-FFF2-40B4-BE49-F238E27FC236}">
                <a16:creationId xmlns:a16="http://schemas.microsoft.com/office/drawing/2014/main" id="{BB37FB42-E257-4B04-9293-3EA3E79B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0" name="evidence-connector-2">
            <a:extLst xmlns:a="http://schemas.openxmlformats.org/drawingml/2006/main">
              <a:ext uri="{FF2B5EF4-FFF2-40B4-BE49-F238E27FC236}">
                <a16:creationId xmlns:a16="http://schemas.microsoft.com/office/drawing/2014/main" id="{88D723D0-68B1-47D7-87B4-5208D65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1" name="evidence-connector-3">
            <a:extLst xmlns:a="http://schemas.openxmlformats.org/drawingml/2006/main">
              <a:ext uri="{FF2B5EF4-FFF2-40B4-BE49-F238E27FC236}">
                <a16:creationId xmlns:a16="http://schemas.microsoft.com/office/drawing/2014/main" id="{80684235-919D-4F4D-9774-56903977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2" name="evidence-step-label-1">
            <a:extLst xmlns:a="http://schemas.openxmlformats.org/drawingml/2006/main">
              <a:ext uri="{FF2B5EF4-FFF2-40B4-BE49-F238E27FC236}">
                <a16:creationId xmlns:a16="http://schemas.microsoft.com/office/drawing/2014/main" id="{8BA82186-84AD-4B19-B24B-FF0DBC5D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13" name="evidence-step-panel-1">
            <a:extLst xmlns:a="http://schemas.openxmlformats.org/drawingml/2006/main">
              <a:ext uri="{FF2B5EF4-FFF2-40B4-BE49-F238E27FC236}">
                <a16:creationId xmlns:a16="http://schemas.microsoft.com/office/drawing/2014/main" id="{5CA14A45-679E-488D-908C-B1008B4B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4" name="evidence-step-text-1">
            <a:extLst xmlns:a="http://schemas.openxmlformats.org/drawingml/2006/main">
              <a:ext uri="{FF2B5EF4-FFF2-40B4-BE49-F238E27FC236}">
                <a16:creationId xmlns:a16="http://schemas.microsoft.com/office/drawing/2014/main" id="{33E56EC1-FC9B-4A47-B83C-94B0648A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Underline the exact decision or explanation the prompt requires.</a:t>
            </a:r>
          </a:p>
        </p:txBody>
      </p:sp>
      <p:sp>
        <p:nvSpPr>
          <p:cNvPr id="15" name="evidence-step-label-2">
            <a:extLst xmlns:a="http://schemas.openxmlformats.org/drawingml/2006/main">
              <a:ext uri="{FF2B5EF4-FFF2-40B4-BE49-F238E27FC236}">
                <a16:creationId xmlns:a16="http://schemas.microsoft.com/office/drawing/2014/main" id="{F715C3A3-A40D-408D-A8D3-F45943A9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6" name="evidence-step-panel-2">
            <a:extLst xmlns:a="http://schemas.openxmlformats.org/drawingml/2006/main">
              <a:ext uri="{FF2B5EF4-FFF2-40B4-BE49-F238E27FC236}">
                <a16:creationId xmlns:a16="http://schemas.microsoft.com/office/drawing/2014/main" id="{9AB4EBFE-EE74-4002-9727-D5F35E25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7" name="evidence-step-text-2">
            <a:extLst xmlns:a="http://schemas.openxmlformats.org/drawingml/2006/main">
              <a:ext uri="{FF2B5EF4-FFF2-40B4-BE49-F238E27FC236}">
                <a16:creationId xmlns:a16="http://schemas.microsoft.com/office/drawing/2014/main" id="{CF200357-0751-4F5A-A58C-049EAB95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Choose evidence that separates attribution from permission.</a:t>
            </a:r>
          </a:p>
        </p:txBody>
      </p:sp>
      <p:sp>
        <p:nvSpPr>
          <p:cNvPr id="18" name="evidence-step-label-3">
            <a:extLst xmlns:a="http://schemas.openxmlformats.org/drawingml/2006/main">
              <a:ext uri="{FF2B5EF4-FFF2-40B4-BE49-F238E27FC236}">
                <a16:creationId xmlns:a16="http://schemas.microsoft.com/office/drawing/2014/main" id="{A385191D-194D-491E-9FD9-EF35DBAE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9" name="evidence-step-panel-3">
            <a:extLst xmlns:a="http://schemas.openxmlformats.org/drawingml/2006/main">
              <a:ext uri="{FF2B5EF4-FFF2-40B4-BE49-F238E27FC236}">
                <a16:creationId xmlns:a16="http://schemas.microsoft.com/office/drawing/2014/main" id="{9BE572DC-73C4-4745-9532-A806CFB1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EE3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0" name="evidence-step-text-3">
            <a:extLst xmlns:a="http://schemas.openxmlformats.org/drawingml/2006/main">
              <a:ext uri="{FF2B5EF4-FFF2-40B4-BE49-F238E27FC236}">
                <a16:creationId xmlns:a16="http://schemas.microsoft.com/office/drawing/2014/main" id="{75EA404B-BFCF-4371-80B9-C3877540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I can verify the source's …</a:t>
            </a:r>
          </a:p>
        </p:txBody>
      </p:sp>
      <p:sp>
        <p:nvSpPr>
          <p:cNvPr id="21" name="evidence-step-label-4">
            <a:extLst xmlns:a="http://schemas.openxmlformats.org/drawingml/2006/main">
              <a:ext uri="{FF2B5EF4-FFF2-40B4-BE49-F238E27FC236}">
                <a16:creationId xmlns:a16="http://schemas.microsoft.com/office/drawing/2014/main" id="{947B48E7-50A4-49CF-AE87-3E5CA765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22" name="evidence-step-panel-4">
            <a:extLst xmlns:a="http://schemas.openxmlformats.org/drawingml/2006/main">
              <a:ext uri="{FF2B5EF4-FFF2-40B4-BE49-F238E27FC236}">
                <a16:creationId xmlns:a16="http://schemas.microsoft.com/office/drawing/2014/main" id="{85B7E11D-565E-4A21-928B-6ED555D3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3" name="evidence-step-text-4">
            <a:extLst xmlns:a="http://schemas.openxmlformats.org/drawingml/2006/main">
              <a:ext uri="{FF2B5EF4-FFF2-40B4-BE49-F238E27FC236}">
                <a16:creationId xmlns:a16="http://schemas.microsoft.com/office/drawing/2014/main" id="{976414CC-EE6D-44DE-9AED-91B4C019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Uses source-specific evidence; pauses or links when authority is unclear.</a:t>
            </a:r>
          </a:p>
        </p:txBody>
      </p:sp>
      <p:sp>
        <p:nvSpPr>
          <p:cNvPr id="24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AB86D519-5DD8-4607-B2CD-99851A3D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Save in My Folio only when your teacher asks. Saving is not submission.</a:t>
            </a:r>
          </a:p>
        </p:txBody>
      </p:sp>
    </p:spTree>
    <p:extLst>
      <p:ext uri="{BB962C8B-B14F-4D97-AF65-F5344CB8AC3E}">
        <p14:creationId xmlns:p14="http://schemas.microsoft.com/office/powerpoint/2010/main" val="1924780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9344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side-field">
            <a:extLst xmlns:a="http://schemas.openxmlformats.org/drawingml/2006/main">
              <a:ext uri="{FF2B5EF4-FFF2-40B4-BE49-F238E27FC236}">
                <a16:creationId xmlns:a16="http://schemas.microsoft.com/office/drawing/2014/main" id="{B46E86BC-1816-4B29-9586-F86FBCA9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label">
            <a:extLst xmlns:a="http://schemas.openxmlformats.org/drawingml/2006/main">
              <a:ext uri="{FF2B5EF4-FFF2-40B4-BE49-F238E27FC236}">
                <a16:creationId xmlns:a16="http://schemas.microsoft.com/office/drawing/2014/main" id="{B26594A6-11A0-4481-A54C-53ABB765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MODULE 03 · EXIT EVIDENCE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0FF49AF-980D-4F47-B635-FF0498EC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Leave with evidence, not a guess.</a:t>
            </a:r>
          </a:p>
        </p:txBody>
      </p:sp>
      <p:sp>
        <p:nvSpPr>
          <p:cNvPr id="4" name="close-prompt-1">
            <a:extLst xmlns:a="http://schemas.openxmlformats.org/drawingml/2006/main">
              <a:ext uri="{FF2B5EF4-FFF2-40B4-BE49-F238E27FC236}">
                <a16:creationId xmlns:a16="http://schemas.microsoft.com/office/drawing/2014/main" id="{AB025D09-AAF2-4654-9859-3DFB1DB7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 One idea I can explain is Cultural Knowledge is living, local and owned because …</a:t>
            </a:r>
          </a:p>
        </p:txBody>
      </p:sp>
      <p:sp>
        <p:nvSpPr>
          <p:cNvPr id="5" name="close-divider-1">
            <a:extLst xmlns:a="http://schemas.openxmlformats.org/drawingml/2006/main">
              <a:ext uri="{FF2B5EF4-FFF2-40B4-BE49-F238E27FC236}">
                <a16:creationId xmlns:a16="http://schemas.microsoft.com/office/drawing/2014/main" id="{3717A31D-7775-48EE-A280-054AF559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6" name="close-prompt-2">
            <a:extLst xmlns:a="http://schemas.openxmlformats.org/drawingml/2006/main">
              <a:ext uri="{FF2B5EF4-FFF2-40B4-BE49-F238E27FC236}">
                <a16:creationId xmlns:a16="http://schemas.microsoft.com/office/drawing/2014/main" id="{179D6877-7904-41DD-9940-979F40CE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 One connection across the three ideas is …</a:t>
            </a:r>
          </a:p>
        </p:txBody>
      </p:sp>
      <p:sp>
        <p:nvSpPr>
          <p:cNvPr id="7" name="close-divider-2">
            <a:extLst xmlns:a="http://schemas.openxmlformats.org/drawingml/2006/main">
              <a:ext uri="{FF2B5EF4-FFF2-40B4-BE49-F238E27FC236}">
                <a16:creationId xmlns:a16="http://schemas.microsoft.com/office/drawing/2014/main" id="{C7E54926-8460-4392-B5A4-F92EE3CE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8" name="close-prompt-3">
            <a:extLst xmlns:a="http://schemas.openxmlformats.org/drawingml/2006/main">
              <a:ext uri="{FF2B5EF4-FFF2-40B4-BE49-F238E27FC236}">
                <a16:creationId xmlns:a16="http://schemas.microsoft.com/office/drawing/2014/main" id="{12029BC0-7075-4BAC-9AE6-A84C7154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 One question or check I still need is …</a:t>
            </a:r>
          </a:p>
        </p:txBody>
      </p:sp>
      <p:sp>
        <p:nvSpPr>
          <p:cNvPr id="9" name="close-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C313DA68-22BA-4E50-BB92-6A11FD9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Evidence destination: My Folio when directed. Exporting or saving is not submission.</a:t>
            </a:r>
          </a:p>
        </p:txBody>
      </p:sp>
      <p:sp>
        <p:nvSpPr>
          <p:cNvPr id="10" name="teacher-confirm-label">
            <a:extLst xmlns:a="http://schemas.openxmlformats.org/drawingml/2006/main">
              <a:ext uri="{FF2B5EF4-FFF2-40B4-BE49-F238E27FC236}">
                <a16:creationId xmlns:a16="http://schemas.microsoft.com/office/drawing/2014/main" id="{B26D6D19-FFEA-4C96-BA82-19AE96B8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6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TEACHER TO CONFIRM</a:t>
            </a:r>
          </a:p>
        </p:txBody>
      </p:sp>
      <p:sp>
        <p:nvSpPr>
          <p:cNvPr id="11" name="teacher-confirm-panel">
            <a:extLst xmlns:a="http://schemas.openxmlformats.org/drawingml/2006/main">
              <a:ext uri="{FF2B5EF4-FFF2-40B4-BE49-F238E27FC236}">
                <a16:creationId xmlns:a16="http://schemas.microsoft.com/office/drawing/2014/main" id="{E15FC70F-3D9F-4B22-B106-13716144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57325"/>
            <a:ext cx="3143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5E2"/>
          </a:solidFill>
          <a:ln xmlns:a="http://schemas.openxmlformats.org/drawingml/2006/main" w="28575">
            <a:solidFill>
              <a:srgbClr val="93442F"/>
            </a:solidFill>
            <a:prstDash val="solid"/>
          </a:ln>
        </p:spPr>
      </p:sp>
      <p:sp>
        <p:nvSpPr>
          <p:cNvPr id="12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9FB42FD2-D2F1-49A7-A86A-DA4328DA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47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Local Community, AECG or Knowledge Holder guidance before localising cultural content.</a:t>
            </a:r>
          </a:p>
        </p:txBody>
      </p:sp>
      <p:sp>
        <p:nvSpPr>
          <p:cNvPr id="13" name="close-next-step-label">
            <a:extLst xmlns:a="http://schemas.openxmlformats.org/drawingml/2006/main">
              <a:ext uri="{FF2B5EF4-FFF2-40B4-BE49-F238E27FC236}">
                <a16:creationId xmlns:a16="http://schemas.microsoft.com/office/drawing/2014/main" id="{0DDCC905-6BF7-4569-AD94-42CE43AC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4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F0C0B173-6A92-4843-8072-F8A5E942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module page to refine one response, then follow your teacher’s directions.</a:t>
            </a:r>
          </a:p>
        </p:txBody>
      </p:sp>
    </p:spTree>
    <p:extLst>
      <p:ext uri="{BB962C8B-B14F-4D97-AF65-F5344CB8AC3E}">
        <p14:creationId xmlns:p14="http://schemas.microsoft.com/office/powerpoint/2010/main" val="1606097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2026-08-26T13:29:09.2190000Z</dcterms:created>
  <dcterms:modified xsi:type="dcterms:W3CDTF">2026-08-26T13:29:09.2190000Z</dcterms:modified>
</coreProperties>
</file>