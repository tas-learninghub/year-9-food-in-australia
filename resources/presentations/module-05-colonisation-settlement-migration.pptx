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d447b20bdc34f2a" /><Relationship Type="http://schemas.openxmlformats.org/officeDocument/2006/relationships/extended-properties" Target="/docProps/app.xml" Id="R427df47ea9ba4603" /><Relationship Type="http://schemas.openxmlformats.org/officeDocument/2006/relationships/officeDocument" Target="/ppt/presentation.xml" Id="R2ca6815424204d66" /></Relationships>
</file>

<file path=ppt/presentation.xml><?xml version="1.0" encoding="utf-8"?>
<p:presentation xmlns:p="http://schemas.openxmlformats.org/presentationml/2006/main">
  <p:sldMasterIdLst>
    <p:sldMasterId xmlns:r="http://schemas.openxmlformats.org/officeDocument/2006/relationships" id="2147483648" r:id="Rbd03dfd71b6545af"/>
  </p:sldMasterIdLst>
  <p:notesMasterIdLst>
    <p:notesMasterId xmlns:r="http://schemas.openxmlformats.org/officeDocument/2006/relationships" r:id="R4c971dd0dc0743b8"/>
  </p:notesMasterIdLst>
  <p:sldIdLst>
    <p:sldId xmlns:r="http://schemas.openxmlformats.org/officeDocument/2006/relationships" id="256" r:id="Rfa3bb3b379b44c20"/>
    <p:sldId xmlns:r="http://schemas.openxmlformats.org/officeDocument/2006/relationships" id="257" r:id="R918193f8fe5b4d4f"/>
    <p:sldId xmlns:r="http://schemas.openxmlformats.org/officeDocument/2006/relationships" id="258" r:id="Re9075aaafacf4c8a"/>
    <p:sldId xmlns:r="http://schemas.openxmlformats.org/officeDocument/2006/relationships" id="259" r:id="Rf06700a1e7c343c0"/>
    <p:sldId xmlns:r="http://schemas.openxmlformats.org/officeDocument/2006/relationships" id="260" r:id="R5a08994f50994f90"/>
    <p:sldId xmlns:r="http://schemas.openxmlformats.org/officeDocument/2006/relationships" id="261" r:id="R83f16c64480f47e4"/>
    <p:sldId xmlns:r="http://schemas.openxmlformats.org/officeDocument/2006/relationships" id="262" r:id="Rbea2a5256ee3405f"/>
    <p:sldId xmlns:r="http://schemas.openxmlformats.org/officeDocument/2006/relationships" id="263" r:id="Rfd2cbea9c38041f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41c0467a28a4234" /><Relationship Type="http://schemas.openxmlformats.org/officeDocument/2006/relationships/slideMaster" Target="/ppt/slideMasters/slideMaster1.xml" Id="Rbd03dfd71b6545af" /><Relationship Type="http://schemas.openxmlformats.org/officeDocument/2006/relationships/notesMaster" Target="/ppt/notesMasters/notesMaster1.xml" Id="R4c971dd0dc0743b8" /><Relationship Type="http://schemas.openxmlformats.org/officeDocument/2006/relationships/presProps" Target="/ppt/presProps.xml" Id="R95354ed0dd504995" /><Relationship Type="http://schemas.openxmlformats.org/officeDocument/2006/relationships/tableStyles" Target="/ppt/tableStyles.xml" Id="R79db8c6792f347d0" /><Relationship Type="http://schemas.openxmlformats.org/officeDocument/2006/relationships/slide" Target="/ppt/slides/slide1.xml" Id="Rfa3bb3b379b44c20" /><Relationship Type="http://schemas.openxmlformats.org/officeDocument/2006/relationships/slide" Target="/ppt/slides/slide2.xml" Id="R918193f8fe5b4d4f" /><Relationship Type="http://schemas.openxmlformats.org/officeDocument/2006/relationships/slide" Target="/ppt/slides/slide3.xml" Id="Re9075aaafacf4c8a" /><Relationship Type="http://schemas.openxmlformats.org/officeDocument/2006/relationships/slide" Target="/ppt/slides/slide4.xml" Id="Rf06700a1e7c343c0" /><Relationship Type="http://schemas.openxmlformats.org/officeDocument/2006/relationships/slide" Target="/ppt/slides/slide5.xml" Id="R5a08994f50994f90" /><Relationship Type="http://schemas.openxmlformats.org/officeDocument/2006/relationships/slide" Target="/ppt/slides/slide6.xml" Id="R83f16c64480f47e4" /><Relationship Type="http://schemas.openxmlformats.org/officeDocument/2006/relationships/slide" Target="/ppt/slides/slide7.xml" Id="Rbea2a5256ee3405f" /><Relationship Type="http://schemas.openxmlformats.org/officeDocument/2006/relationships/slide" Target="/ppt/slides/slide8.xml" Id="Rfd2cbea9c38041f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9f44f985bc04f2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84a05c2a334408d" /><Relationship Type="http://schemas.openxmlformats.org/officeDocument/2006/relationships/notesMaster" Target="/ppt/notesMasters/notesMaster1.xml" Id="R12df726a6b4c4888" /></Relationships>
</file>

<file path=ppt/notesSlides/_rels/notesSlide2.xml.rels>&#65279;<?xml version="1.0" encoding="utf-8"?><Relationships xmlns="http://schemas.openxmlformats.org/package/2006/relationships"><Relationship Type="http://schemas.openxmlformats.org/officeDocument/2006/relationships/slide" Target="/ppt/slides/slide2.xml" Id="R92a1f90fcef44f13" /><Relationship Type="http://schemas.openxmlformats.org/officeDocument/2006/relationships/notesMaster" Target="/ppt/notesMasters/notesMaster1.xml" Id="R807b2a83853245ae" /></Relationships>
</file>

<file path=ppt/notesSlides/_rels/notesSlide3.xml.rels>&#65279;<?xml version="1.0" encoding="utf-8"?><Relationships xmlns="http://schemas.openxmlformats.org/package/2006/relationships"><Relationship Type="http://schemas.openxmlformats.org/officeDocument/2006/relationships/slide" Target="/ppt/slides/slide3.xml" Id="R7014a8e5d8094df3" /><Relationship Type="http://schemas.openxmlformats.org/officeDocument/2006/relationships/notesMaster" Target="/ppt/notesMasters/notesMaster1.xml" Id="R329f4aa295e64bfc" /></Relationships>
</file>

<file path=ppt/notesSlides/_rels/notesSlide4.xml.rels>&#65279;<?xml version="1.0" encoding="utf-8"?><Relationships xmlns="http://schemas.openxmlformats.org/package/2006/relationships"><Relationship Type="http://schemas.openxmlformats.org/officeDocument/2006/relationships/slide" Target="/ppt/slides/slide4.xml" Id="R5ea1b357f2544f41" /><Relationship Type="http://schemas.openxmlformats.org/officeDocument/2006/relationships/notesMaster" Target="/ppt/notesMasters/notesMaster1.xml" Id="R2818a6fa227e4720" /></Relationships>
</file>

<file path=ppt/notesSlides/_rels/notesSlide5.xml.rels>&#65279;<?xml version="1.0" encoding="utf-8"?><Relationships xmlns="http://schemas.openxmlformats.org/package/2006/relationships"><Relationship Type="http://schemas.openxmlformats.org/officeDocument/2006/relationships/slide" Target="/ppt/slides/slide5.xml" Id="R9aac11c90c174496" /><Relationship Type="http://schemas.openxmlformats.org/officeDocument/2006/relationships/notesMaster" Target="/ppt/notesMasters/notesMaster1.xml" Id="R6fa2cfc8dc3647e4" /></Relationships>
</file>

<file path=ppt/notesSlides/_rels/notesSlide6.xml.rels>&#65279;<?xml version="1.0" encoding="utf-8"?><Relationships xmlns="http://schemas.openxmlformats.org/package/2006/relationships"><Relationship Type="http://schemas.openxmlformats.org/officeDocument/2006/relationships/slide" Target="/ppt/slides/slide6.xml" Id="R7d50625a2c9d4d75" /><Relationship Type="http://schemas.openxmlformats.org/officeDocument/2006/relationships/notesMaster" Target="/ppt/notesMasters/notesMaster1.xml" Id="Rac0033de68c0428c" /></Relationships>
</file>

<file path=ppt/notesSlides/_rels/notesSlide7.xml.rels>&#65279;<?xml version="1.0" encoding="utf-8"?><Relationships xmlns="http://schemas.openxmlformats.org/package/2006/relationships"><Relationship Type="http://schemas.openxmlformats.org/officeDocument/2006/relationships/slide" Target="/ppt/slides/slide7.xml" Id="R4b4fe5f30c294d0a" /><Relationship Type="http://schemas.openxmlformats.org/officeDocument/2006/relationships/notesMaster" Target="/ppt/notesMasters/notesMaster1.xml" Id="Rd7797cd3f6d04d74" /></Relationships>
</file>

<file path=ppt/notesSlides/_rels/notesSlide8.xml.rels>&#65279;<?xml version="1.0" encoding="utf-8"?><Relationships xmlns="http://schemas.openxmlformats.org/package/2006/relationships"><Relationship Type="http://schemas.openxmlformats.org/officeDocument/2006/relationships/slide" Target="/ppt/slides/slide8.xml" Id="Rbe1e76374078407e" /><Relationship Type="http://schemas.openxmlformats.org/officeDocument/2006/relationships/notesMaster" Target="/ppt/notesMasters/notesMaster1.xml" Id="R04962f240cdf489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module question: how does colonisation, settlement and migration change a food decision or explanation?</a:t>
            </a:r>
          </a:p>
          <a:p xmlns:a="http://schemas.openxmlformats.org/drawingml/2006/main">
            <a:r>
              <a:t>State the outcome in plain language: Food systems changed through disruption, technology, migration and adaptation—not through one simple pathway.</a:t>
            </a:r>
          </a:p>
          <a:p xmlns:a="http://schemas.openxmlformats.org/drawingml/2006/main">
            <a:r>
              <a:t>Ask students what the visual helps them notice, then make clear that it is a generated learning visual, not documentary evidence or practical permission.</a:t>
            </a:r>
          </a:p>
          <a:p xmlns:a="http://schemas.openxmlformats.org/drawingml/2006/main">
            <a:r>
              <a:t>Transition: the next slide shows the three connected ideas students will use to reach the outcome.</a:t>
            </a:r>
          </a:p>
          <a:p xmlns:a="http://schemas.openxmlformats.org/drawingml/2006/main">
            <a:r>
              <a:t/>
            </a:r>
          </a:p>
          <a:p xmlns:a="http://schemas.openxmlformats.org/drawingml/2006/main">
            <a:r>
              <a:t>[Sources]</a:t>
            </a:r>
          </a:p>
          <a:p xmlns:a="http://schemas.openxmlformats.org/drawingml/2006/main">
            <a:r>
              <a:t>- Teacher-supplied Food in Australia unit program and Classroom/Drive masters; private identifiers retained only in source-map v1.1.</a:t>
            </a:r>
          </a:p>
          <a:p xmlns:a="http://schemas.openxmlformats.org/drawingml/2006/main">
            <a:r>
              <a:t>- NESA Food Technology Years 7–10 Syllabus (2019), the controlling 2026 syllabus basis recorded in source-map v1.1.</a:t>
            </a:r>
          </a:p>
          <a:p xmlns:a="http://schemas.openxmlformats.org/drawingml/2006/main">
            <a:r>
              <a:t>- Arts Law Centre of Australia ICIP guidance and authorised public cultural sources recorded in source-map v1.1.</a:t>
            </a:r>
          </a:p>
          <a:p xmlns:a="http://schemas.openxmlformats.org/drawingml/2006/main">
            <a:r>
              <a:t>- Course visual: assets/photos/m05-s03-contemporary-ingredient-diversity.png; Course-original generated PNG; no person, brand, flag or proprietary source image; project-local educational use pending release authority.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timeline as a learning sequence, not an agenda. Briefly name each idea and show how the third depends on the first two.</a:t>
            </a:r>
          </a:p>
          <a:p xmlns:a="http://schemas.openxmlformats.org/drawingml/2006/main">
            <a:r>
              <a:t>Retrieval prompt: ask students to define or exemplify one term from Colonisation changed food access, then name one uncertainty to check.</a:t>
            </a:r>
          </a:p>
          <a:p xmlns:a="http://schemas.openxmlformats.org/drawingml/2006/main">
            <a:r>
              <a:t>Listen for unsupported certainty. Model language such as ‘the source supports…’, ‘in this context…’ and ‘Teacher to confirm…’ where relevant.</a:t>
            </a:r>
          </a:p>
          <a:p xmlns:a="http://schemas.openxmlformats.org/drawingml/2006/main">
            <a:r>
              <a:t>Transition: begin with Colonisation changed food access; students will use it as the first part of the final explanation.</a:t>
            </a:r>
          </a:p>
          <a:p xmlns:a="http://schemas.openxmlformats.org/drawingml/2006/main">
            <a:r>
              <a:t/>
            </a:r>
          </a:p>
          <a:p xmlns:a="http://schemas.openxmlformats.org/drawingml/2006/main">
            <a:r>
              <a:t>[Sources]</a:t>
            </a:r>
          </a:p>
          <a:p xmlns:a="http://schemas.openxmlformats.org/drawingml/2006/main">
            <a:r>
              <a:t>- Teacher-supplied Food in Australia unit program and Classroom/Drive masters; private identifiers retained only in source-map v1.1.</a:t>
            </a:r>
          </a:p>
          <a:p xmlns:a="http://schemas.openxmlformats.org/drawingml/2006/main">
            <a:r>
              <a:t>- NESA Food Technology Years 7–10 Syllabus (2019), the controlling 2026 syllabus basis recorded in source-map v1.1.</a:t>
            </a:r>
          </a:p>
          <a:p xmlns:a="http://schemas.openxmlformats.org/drawingml/2006/main">
            <a:r>
              <a:t>- Arts Law Centre of Australia ICIP guidance and authorised public cultural sources recorded in source-map v1.1.</a:t>
            </a:r>
          </a:p>
          <a:p xmlns:a="http://schemas.openxmlformats.org/drawingml/2006/main">
            <a:r>
              <a:t>- Course theory section m05-s01: Colonisation changed food access.</a:t>
            </a:r>
          </a:p>
          <a:p xmlns:a="http://schemas.openxmlformats.org/drawingml/2006/main">
            <a:r>
              <a:t>- Course theory section m05-s02: Settler food constraints and technology.</a:t>
            </a:r>
          </a:p>
          <a:p xmlns:a="http://schemas.openxmlformats.org/drawingml/2006/main">
            <a:r>
              <a:t>- Course theory section m05-s03: Migration changed Australian food habits.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Colonisation disrupted access to Country and food systems, but it did not erase Cultural Knowledge. Strong explanations hold disruption beside continuity, adaptation, Community agency and revitalisation—and limit claims to the sourced context.</a:t>
            </a:r>
          </a:p>
          <a:p xmlns:a="http://schemas.openxmlformats.org/drawingml/2006/main">
            <a:r>
              <a:t>Ask students to respond to the on-slide notice prompt before volunteering an answer.</a:t>
            </a:r>
          </a:p>
          <a:p xmlns:a="http://schemas.openxmlformats.org/drawingml/2006/main">
            <a:r>
              <a:t>Misconception to correct: Colonisation affected every place in the same way or erased all knowledge.</a:t>
            </a:r>
          </a:p>
          <a:p xmlns:a="http://schemas.openxmlformats.org/drawingml/2006/main">
            <a:r>
              <a:t>Transition: connect this idea to colonisation, settlement and migration, then move to "the second idea".</a:t>
            </a:r>
          </a:p>
          <a:p xmlns:a="http://schemas.openxmlformats.org/drawingml/2006/main">
            <a:r>
              <a:t/>
            </a:r>
          </a:p>
          <a:p xmlns:a="http://schemas.openxmlformats.org/drawingml/2006/main">
            <a:r>
              <a:t>[Sources]</a:t>
            </a:r>
          </a:p>
          <a:p xmlns:a="http://schemas.openxmlformats.org/drawingml/2006/main">
            <a:r>
              <a:t>- Teacher-supplied Food in Australia unit program and Classroom/Drive masters; private identifiers retained only in source-map v1.1.</a:t>
            </a:r>
          </a:p>
          <a:p xmlns:a="http://schemas.openxmlformats.org/drawingml/2006/main">
            <a:r>
              <a:t>- NESA Food Technology Years 7–10 Syllabus (2019), the controlling 2026 syllabus basis recorded in source-map v1.1.</a:t>
            </a:r>
          </a:p>
          <a:p xmlns:a="http://schemas.openxmlformats.org/drawingml/2006/main">
            <a:r>
              <a:t>- Arts Law Centre of Australia ICIP guidance and authorised public cultural sources recorded in source-map v1.1.</a:t>
            </a:r>
          </a:p>
          <a:p xmlns:a="http://schemas.openxmlformats.org/drawingml/2006/main">
            <a:r>
              <a:t>- Course theory section m05-s01: Colonisation changed food access.</a:t>
            </a:r>
          </a:p>
          <a:p xmlns:a="http://schemas.openxmlformats.org/drawingml/2006/main">
            <a:r>
              <a:t>- Course visual: assets/diagrams/m05-s01-disruption-continuity-pathways.svg; Course-original abstract pathway SVG with no cultural motif or third-party artwork; project-local educational use pending release authority.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Settler food patterns depended on access, preservation, transport, storage, cost and technology. Judge a technology by the constraint it addressed, its system effect, who benefited and the trade-offs—not by novelty alone.</a:t>
            </a:r>
          </a:p>
          <a:p xmlns:a="http://schemas.openxmlformats.org/drawingml/2006/main">
            <a:r>
              <a:t>Ask students to respond to the on-slide notice prompt before volunteering an answer.</a:t>
            </a:r>
          </a:p>
          <a:p xmlns:a="http://schemas.openxmlformats.org/drawingml/2006/main">
            <a:r>
              <a:t>Misconception to correct: New technology always improved access for everyone.</a:t>
            </a:r>
          </a:p>
          <a:p xmlns:a="http://schemas.openxmlformats.org/drawingml/2006/main">
            <a:r>
              <a:t>Transition: connect this idea to colonisation, settlement and migration, then move to "the final idea".</a:t>
            </a:r>
          </a:p>
          <a:p xmlns:a="http://schemas.openxmlformats.org/drawingml/2006/main">
            <a:r>
              <a:t/>
            </a:r>
          </a:p>
          <a:p xmlns:a="http://schemas.openxmlformats.org/drawingml/2006/main">
            <a:r>
              <a:t>[Sources]</a:t>
            </a:r>
          </a:p>
          <a:p xmlns:a="http://schemas.openxmlformats.org/drawingml/2006/main">
            <a:r>
              <a:t>- Teacher-supplied Food in Australia unit program and Classroom/Drive masters; private identifiers retained only in source-map v1.1.</a:t>
            </a:r>
          </a:p>
          <a:p xmlns:a="http://schemas.openxmlformats.org/drawingml/2006/main">
            <a:r>
              <a:t>- NESA Food Technology Years 7–10 Syllabus (2019), the controlling 2026 syllabus basis recorded in source-map v1.1.</a:t>
            </a:r>
          </a:p>
          <a:p xmlns:a="http://schemas.openxmlformats.org/drawingml/2006/main">
            <a:r>
              <a:t>- Arts Law Centre of Australia ICIP guidance and authorised public cultural sources recorded in source-map v1.1.</a:t>
            </a:r>
          </a:p>
          <a:p xmlns:a="http://schemas.openxmlformats.org/drawingml/2006/main">
            <a:r>
              <a:t>- Course theory section m05-s02: Settler food constraints and technology.</a:t>
            </a:r>
          </a:p>
          <a:p xmlns:a="http://schemas.openxmlformats.org/drawingml/2006/main">
            <a:r>
              <a:t>- Course visual: assets/photos/m05-s02-food-access-technologies.png; Course-original generated PNG; no historical artefact claim or proprietary source image; project-local educational use pending release authority.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Migration changes food habits through people, knowledge, ingredients, businesses and adaptation. Explain the pathway, acknowledge origins and variation, and avoid reducing a culture to a famous dish.</a:t>
            </a:r>
          </a:p>
          <a:p xmlns:a="http://schemas.openxmlformats.org/drawingml/2006/main">
            <a:r>
              <a:t>Ask students to respond to the on-slide notice prompt before volunteering an answer.</a:t>
            </a:r>
          </a:p>
          <a:p xmlns:a="http://schemas.openxmlformats.org/drawingml/2006/main">
            <a:r>
              <a:t>Misconception to correct: Migration influence can be shown by naming a dish.</a:t>
            </a:r>
          </a:p>
          <a:p xmlns:a="http://schemas.openxmlformats.org/drawingml/2006/main">
            <a:r>
              <a:t>Transition: students now rehearse all three ideas through the module activity and retrieval checks.</a:t>
            </a:r>
          </a:p>
          <a:p xmlns:a="http://schemas.openxmlformats.org/drawingml/2006/main">
            <a:r>
              <a:t/>
            </a:r>
          </a:p>
          <a:p xmlns:a="http://schemas.openxmlformats.org/drawingml/2006/main">
            <a:r>
              <a:t>[Sources]</a:t>
            </a:r>
          </a:p>
          <a:p xmlns:a="http://schemas.openxmlformats.org/drawingml/2006/main">
            <a:r>
              <a:t>- Teacher-supplied Food in Australia unit program and Classroom/Drive masters; private identifiers retained only in source-map v1.1.</a:t>
            </a:r>
          </a:p>
          <a:p xmlns:a="http://schemas.openxmlformats.org/drawingml/2006/main">
            <a:r>
              <a:t>- NESA Food Technology Years 7–10 Syllabus (2019), the controlling 2026 syllabus basis recorded in source-map v1.1.</a:t>
            </a:r>
          </a:p>
          <a:p xmlns:a="http://schemas.openxmlformats.org/drawingml/2006/main">
            <a:r>
              <a:t>- Arts Law Centre of Australia ICIP guidance and authorised public cultural sources recorded in source-map v1.1.</a:t>
            </a:r>
          </a:p>
          <a:p xmlns:a="http://schemas.openxmlformats.org/drawingml/2006/main">
            <a:r>
              <a:t>- Course theory section m05-s03: Migration changed Australian food habits.</a:t>
            </a:r>
          </a:p>
          <a:p xmlns:a="http://schemas.openxmlformats.org/drawingml/2006/main">
            <a:r>
              <a:t>- Course visual: assets/photos/m05-s03-contemporary-ingredient-diversity.png; Course-original generated PNG; no person, brand, flag or proprietary source image; project-local educational use pending release authority.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the activity as rehearsal: Match each evidence clue to the analytical role it performs, then choose the strongest migration pathway.</a:t>
            </a:r>
          </a:p>
          <a:p xmlns:a="http://schemas.openxmlformats.org/drawingml/2006/main">
            <a:r>
              <a:t>Give quiet thinking time before discussion. Ask students to explain why an alternative is weaker, not merely name the correct choice.</a:t>
            </a:r>
          </a:p>
          <a:p xmlns:a="http://schemas.openxmlformats.org/drawingml/2006/main">
            <a:r>
              <a:t>Check 1: A specific evidenced change, its direct food-system effect, a supported consequence, and evidence of continuity or adaptation where available.</a:t>
            </a:r>
          </a:p>
          <a:p xmlns:a="http://schemas.openxmlformats.org/drawingml/2006/main">
            <a:r>
              <a:t>Check 2: Identify the context and constraint, explain what changed in the system, then weigh a benefit against a trade-off.</a:t>
            </a:r>
          </a:p>
          <a:p xmlns:a="http://schemas.openxmlformats.org/drawingml/2006/main">
            <a:r>
              <a:t>Check 3: Trace how people, knowledge, ingredients, growing, businesses or adaptation affected wider habits in a specific evidenced example.</a:t>
            </a:r>
          </a:p>
          <a:p xmlns:a="http://schemas.openxmlformats.org/drawingml/2006/main">
            <a:r>
              <a:t>Misconception to correct: a correct choice without reasoning is enough evidence. Ask for the link between the claim and the source or scenario.</a:t>
            </a:r>
          </a:p>
          <a:p xmlns:a="http://schemas.openxmlformats.org/drawingml/2006/main">
            <a:r>
              <a:t>Transition: move from short retrieval to one constructed evidence response.</a:t>
            </a:r>
          </a:p>
          <a:p xmlns:a="http://schemas.openxmlformats.org/drawingml/2006/main">
            <a:r>
              <a:t/>
            </a:r>
          </a:p>
          <a:p xmlns:a="http://schemas.openxmlformats.org/drawingml/2006/main">
            <a:r>
              <a:t>[Sources]</a:t>
            </a:r>
          </a:p>
          <a:p xmlns:a="http://schemas.openxmlformats.org/drawingml/2006/main">
            <a:r>
              <a:t>- Teacher-supplied Food in Australia unit program and Classroom/Drive masters; private identifiers retained only in source-map v1.1.</a:t>
            </a:r>
          </a:p>
          <a:p xmlns:a="http://schemas.openxmlformats.org/drawingml/2006/main">
            <a:r>
              <a:t>- NESA Food Technology Years 7–10 Syllabus (2019), the controlling 2026 syllabus basis recorded in source-map v1.1.</a:t>
            </a:r>
          </a:p>
          <a:p xmlns:a="http://schemas.openxmlformats.org/drawingml/2006/main">
            <a:r>
              <a:t>- Arts Law Centre of Australia ICIP guidance and authorised public cultural sources recorded in source-map v1.1.</a:t>
            </a:r>
          </a:p>
          <a:p xmlns:a="http://schemas.openxmlformats.org/drawingml/2006/main">
            <a:r>
              <a:t>- Course activity activity-m05: Change-pathway mapper.</a:t>
            </a:r>
          </a:p>
          <a:p xmlns:a="http://schemas.openxmlformats.org/drawingml/2006/main">
            <a:r>
              <a:t>- Course formative check check-m05-s01 for m05-s01.</a:t>
            </a:r>
          </a:p>
          <a:p xmlns:a="http://schemas.openxmlformats.org/drawingml/2006/main">
            <a:r>
              <a:t>- Course formative check check-m05-s02 for m05-s02.</a:t>
            </a:r>
          </a:p>
          <a:p xmlns:a="http://schemas.openxmlformats.org/drawingml/2006/main">
            <a:r>
              <a:t>- Course formative check check-m05-s03 for m05-s03.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prompt aloud once, then ask students to restate its decision or explanation in their own words.</a:t>
            </a:r>
          </a:p>
          <a:p xmlns:a="http://schemas.openxmlformats.org/drawingml/2006/main">
            <a:r>
              <a:t>Model the sequence: Read → Select → Explain → Check. Use the starter "The sourced example identifies …" only if students need it.</a:t>
            </a:r>
          </a:p>
          <a:p xmlns:a="http://schemas.openxmlformats.org/drawingml/2006/main">
            <a:r>
              <a:t>Look for: moves beyond naming dishes; links mechanisms to evidence; acknowledges origins and variation.</a:t>
            </a:r>
          </a:p>
          <a:p xmlns:a="http://schemas.openxmlformats.org/drawingml/2006/main">
            <a:r>
              <a:t>Misconception to correct: saving locally means the work has been submitted or formally assessed. It has not.</a:t>
            </a:r>
          </a:p>
          <a:p xmlns:a="http://schemas.openxmlformats.org/drawingml/2006/main">
            <a:r>
              <a:t>Transition: close with a three-part exit ticket and the teacher-controlled next step.</a:t>
            </a:r>
          </a:p>
          <a:p xmlns:a="http://schemas.openxmlformats.org/drawingml/2006/main">
            <a:r>
              <a:t/>
            </a:r>
          </a:p>
          <a:p xmlns:a="http://schemas.openxmlformats.org/drawingml/2006/main">
            <a:r>
              <a:t>[Sources]</a:t>
            </a:r>
          </a:p>
          <a:p xmlns:a="http://schemas.openxmlformats.org/drawingml/2006/main">
            <a:r>
              <a:t>- Teacher-supplied Food in Australia unit program and Classroom/Drive masters; private identifiers retained only in source-map v1.1.</a:t>
            </a:r>
          </a:p>
          <a:p xmlns:a="http://schemas.openxmlformats.org/drawingml/2006/main">
            <a:r>
              <a:t>- NESA Food Technology Years 7–10 Syllabus (2019), the controlling 2026 syllabus basis recorded in source-map v1.1.</a:t>
            </a:r>
          </a:p>
          <a:p xmlns:a="http://schemas.openxmlformats.org/drawingml/2006/main">
            <a:r>
              <a:t>- Arts Law Centre of Australia ICIP guidance and authorised public cultural sources recorded in source-map v1.1.</a:t>
            </a:r>
          </a:p>
          <a:p xmlns:a="http://schemas.openxmlformats.org/drawingml/2006/main">
            <a:r>
              <a:t>- Course evidence record for m05-s03: Migration influence pathway.</a:t>
            </a:r>
          </a:p>
          <a:p xmlns:a="http://schemas.openxmlformats.org/drawingml/2006/main">
            <a:r>
              <a:t>- Course folio contract: device-local saving is not submission.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students one minute to write all three exit lines. Ask for a specific connection, not a generic summary.</a:t>
            </a:r>
          </a:p>
          <a:p xmlns:a="http://schemas.openxmlformats.org/drawingml/2006/main">
            <a:r>
              <a:t>Listen for the module takeaway: Food systems changed through disruption, technology, migration and adaptation—not through one simple pathway.</a:t>
            </a:r>
          </a:p>
          <a:p xmlns:a="http://schemas.openxmlformats.org/drawingml/2006/main">
            <a:r>
              <a:t>State the sign-off exactly as shown: Teacher to confirm the place, period and source set students should use for historical claims.</a:t>
            </a:r>
          </a:p>
          <a:p xmlns:a="http://schemas.openxmlformats.org/drawingml/2006/main">
            <a:r>
              <a:t>Do not announce a practical, due date, weighting, grade or submission route unless it is in the current teacher-issued instruction.</a:t>
            </a:r>
          </a:p>
          <a:p xmlns:a="http://schemas.openxmlformats.org/drawingml/2006/main">
            <a:r>
              <a:t>Close by directing students to the Module 05 page or My Folio only as the teacher decides.</a:t>
            </a:r>
          </a:p>
          <a:p xmlns:a="http://schemas.openxmlformats.org/drawingml/2006/main">
            <a:r>
              <a:t/>
            </a:r>
          </a:p>
          <a:p xmlns:a="http://schemas.openxmlformats.org/drawingml/2006/main">
            <a:r>
              <a:t>[Sources]</a:t>
            </a:r>
          </a:p>
          <a:p xmlns:a="http://schemas.openxmlformats.org/drawingml/2006/main">
            <a:r>
              <a:t>- Teacher-supplied Food in Australia unit program and Classroom/Drive masters; private identifiers retained only in source-map v1.1.</a:t>
            </a:r>
          </a:p>
          <a:p xmlns:a="http://schemas.openxmlformats.org/drawingml/2006/main">
            <a:r>
              <a:t>- NESA Food Technology Years 7–10 Syllabus (2019), the controlling 2026 syllabus basis recorded in source-map v1.1.</a:t>
            </a:r>
          </a:p>
          <a:p xmlns:a="http://schemas.openxmlformats.org/drawingml/2006/main">
            <a:r>
              <a:t>- Arts Law Centre of Australia ICIP guidance and authorised public cultural sources recorded in source-map v1.1.</a:t>
            </a:r>
          </a:p>
          <a:p xmlns:a="http://schemas.openxmlformats.org/drawingml/2006/main">
            <a:r>
              <a:t>- Current Year 9 Assessment Booklet 2026: course-level task boundaries only; this deck does not invent unit task details.</a:t>
            </a:r>
          </a:p>
          <a:p xmlns:a="http://schemas.openxmlformats.org/drawingml/2006/main">
            <a:r>
              <a:t>- Course source-map v1.1 and assessment-orientation boundary.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ea048c576748c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96601c86485410c" /><Relationship Type="http://schemas.openxmlformats.org/officeDocument/2006/relationships/slideLayout" Target="/ppt/slideLayouts/slideLayout1.xml" Id="Re95858473212436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95858473212436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e46c0cbb5694896" /><Relationship Type="http://schemas.openxmlformats.org/officeDocument/2006/relationships/image" Target="/ppt/media/image.png" Id="Ra9100801fe1c464c" /><Relationship Type="http://schemas.openxmlformats.org/officeDocument/2006/relationships/notesSlide" Target="/ppt/notesSlides/notesSlide1.xml" Id="R7d59a15c469841f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a3cdc9844134859" /><Relationship Type="http://schemas.openxmlformats.org/officeDocument/2006/relationships/notesSlide" Target="/ppt/notesSlides/notesSlide2.xml" Id="Rf232b19f87c4480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11259ee527f4122" /><Relationship Type="http://schemas.openxmlformats.org/officeDocument/2006/relationships/image" Target="/ppt/media/image2.png" Id="Rd2dfee8f9bfe4e89" /><Relationship Type="http://schemas.openxmlformats.org/officeDocument/2006/relationships/notesSlide" Target="/ppt/notesSlides/notesSlide3.xml" Id="R4bacde44ab4f42a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2ddf0a7ba664a90" /><Relationship Type="http://schemas.openxmlformats.org/officeDocument/2006/relationships/image" Target="/ppt/media/image3.png" Id="Rf76dcdfe5b0f4fdb" /><Relationship Type="http://schemas.openxmlformats.org/officeDocument/2006/relationships/notesSlide" Target="/ppt/notesSlides/notesSlide4.xml" Id="R04c5d749c6bc454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70446ede6de40e9" /><Relationship Type="http://schemas.openxmlformats.org/officeDocument/2006/relationships/image" Target="/ppt/media/image4.png" Id="R9b6efe8520ec4599" /><Relationship Type="http://schemas.openxmlformats.org/officeDocument/2006/relationships/notesSlide" Target="/ppt/notesSlides/notesSlide5.xml" Id="R75b708acbca6474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03a619dd0c74ce9" /><Relationship Type="http://schemas.openxmlformats.org/officeDocument/2006/relationships/notesSlide" Target="/ppt/notesSlides/notesSlide6.xml" Id="R19e5f199e3d4435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be9d54a343f422f" /><Relationship Type="http://schemas.openxmlformats.org/officeDocument/2006/relationships/notesSlide" Target="/ppt/notesSlides/notesSlide7.xml" Id="R26d5633043af405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e733ff607e04f4a" /><Relationship Type="http://schemas.openxmlformats.org/officeDocument/2006/relationships/notesSlide" Target="/ppt/notesSlides/notesSlide8.xml" Id="R74fb3509122246ef" /></Relationships>
</file>

<file path=ppt/slides/slide1.xml><?xml version="1.0" encoding="utf-8"?>
<p:sld xmlns:p="http://schemas.openxmlformats.org/presentationml/2006/main">
  <p:cSld>
    <p:bg>
      <p:bgPr>
        <a:solidFill xmlns:a="http://schemas.openxmlformats.org/drawingml/2006/main">
          <a:srgbClr val="154332"/>
        </a:solidFill>
      </p:bgPr>
    </p:bg>
    <p:spTree>
      <p:nvGrpSpPr>
        <p:cNvPr id="1" name=""/>
        <p:cNvGrpSpPr/>
        <p:nvPr/>
      </p:nvGrpSpPr>
      <p:grpSpPr>
        <a:xfrm xmlns:a="http://schemas.openxmlformats.org/drawingml/2006/main"/>
      </p:grpSpPr>
      <p:sp>
        <p:nvSpPr>
          <p:cNvPr id="12" name="cover-image-field">
            <a:extLst xmlns:a="http://schemas.openxmlformats.org/drawingml/2006/main">
              <a:ext uri="{FF2B5EF4-FFF2-40B4-BE49-F238E27FC236}">
                <a16:creationId xmlns:a16="http://schemas.microsoft.com/office/drawing/2014/main" id="{1F6820D8-7396-4A21-AE00-A87762383A00}"/>
              </a:ext>
            </a:extLst>
          </p:cNvPr>
          <p:cNvSpPr>
            <a:spLocks xmlns:a="http://schemas.openxmlformats.org/drawingml/2006/main" noGrp="1"/>
          </p:cNvSpPr>
          <p:nvPr/>
        </p:nvSpPr>
        <p:spPr>
          <a:xfrm xmlns:a="http://schemas.openxmlformats.org/drawingml/2006/main">
            <a:off x="6705600" y="0"/>
            <a:ext cx="5486400" cy="6858000"/>
          </a:xfrm>
          <a:prstGeom xmlns:a="http://schemas.openxmlformats.org/drawingml/2006/main" prst="rect">
            <a:avLst/>
          </a:prstGeom>
          <a:solidFill xmlns:a="http://schemas.openxmlformats.org/drawingml/2006/main">
            <a:srgbClr val="FFFDF8"/>
          </a:solidFill>
          <a:ln xmlns:a="http://schemas.openxmlformats.org/drawingml/2006/main" w="0">
            <a:noFill/>
            <a:prstDash val="solid"/>
          </a:ln>
        </p:spPr>
      </p:sp>
      <p:sp>
        <p:nvSpPr>
          <p:cNvPr id="2" name="cover-hero-frame">
            <a:extLst xmlns:a="http://schemas.openxmlformats.org/drawingml/2006/main">
              <a:ext uri="{FF2B5EF4-FFF2-40B4-BE49-F238E27FC236}">
                <a16:creationId xmlns:a16="http://schemas.microsoft.com/office/drawing/2014/main" id="{905921E5-A2FC-499F-87F4-5FFD701F2556}"/>
              </a:ext>
            </a:extLst>
          </p:cNvPr>
          <p:cNvSpPr>
            <a:spLocks xmlns:a="http://schemas.openxmlformats.org/drawingml/2006/main" noGrp="1"/>
          </p:cNvSpPr>
          <p:nvPr/>
        </p:nvSpPr>
        <p:spPr>
          <a:xfrm xmlns:a="http://schemas.openxmlformats.org/drawingml/2006/main">
            <a:off x="6762750" y="228600"/>
            <a:ext cx="5181600" cy="6019800"/>
          </a:xfrm>
          <a:prstGeom xmlns:a="http://schemas.openxmlformats.org/drawingml/2006/main" prst="roundRect">
            <a:avLst>
              <a:gd name="adj" fmla="val 2941"/>
            </a:avLst>
          </a:prstGeom>
          <a:solidFill xmlns:a="http://schemas.openxmlformats.org/drawingml/2006/main">
            <a:srgbClr val="FFFFFF"/>
          </a:solidFill>
          <a:ln xmlns:a="http://schemas.openxmlformats.org/drawingml/2006/main" w="9525">
            <a:solidFill>
              <a:srgbClr val="CDD5CF"/>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9100801fe1c464c"/>
          <a:srcRect xmlns:a="http://schemas.openxmlformats.org/drawingml/2006/main" l="21368" t="0" r="21368" b="0"/>
          <a:stretch xmlns:a="http://schemas.openxmlformats.org/drawingml/2006/main">
            <a:fillRect l="0" t="0" r="0" b="0"/>
          </a:stretch>
        </p:blipFill>
        <p:spPr>
          <a:xfrm xmlns:a="http://schemas.openxmlformats.org/drawingml/2006/main">
            <a:off x="6800850" y="266700"/>
            <a:ext cx="5105400" cy="5943600"/>
          </a:xfrm>
          <a:prstGeom xmlns:a="http://schemas.openxmlformats.org/drawingml/2006/main" prst="roundRect">
            <a:avLst>
              <a:gd name="adj" fmla="val 2239"/>
            </a:avLst>
          </a:prstGeom>
        </p:spPr>
      </p:pic>
      <p:sp>
        <p:nvSpPr>
          <p:cNvPr id="4" name="cover-notice-panel">
            <a:extLst xmlns:a="http://schemas.openxmlformats.org/drawingml/2006/main">
              <a:ext uri="{FF2B5EF4-FFF2-40B4-BE49-F238E27FC236}">
                <a16:creationId xmlns:a16="http://schemas.microsoft.com/office/drawing/2014/main" id="{CF511A48-D001-4D09-9438-D3FE028ECF52}"/>
              </a:ext>
            </a:extLst>
          </p:cNvPr>
          <p:cNvSpPr>
            <a:spLocks xmlns:a="http://schemas.openxmlformats.org/drawingml/2006/main" noGrp="1"/>
          </p:cNvSpPr>
          <p:nvPr/>
        </p:nvSpPr>
        <p:spPr>
          <a:xfrm xmlns:a="http://schemas.openxmlformats.org/drawingml/2006/main">
            <a:off x="6953250" y="5619750"/>
            <a:ext cx="4800600" cy="438150"/>
          </a:xfrm>
          <a:prstGeom xmlns:a="http://schemas.openxmlformats.org/drawingml/2006/main" prst="roundRect">
            <a:avLst>
              <a:gd name="adj" fmla="val 21739"/>
            </a:avLst>
          </a:prstGeom>
          <a:solidFill xmlns:a="http://schemas.openxmlformats.org/drawingml/2006/main">
            <a:srgbClr val="FFFDF8"/>
          </a:solidFill>
          <a:ln xmlns:a="http://schemas.openxmlformats.org/drawingml/2006/main" w="9525">
            <a:solidFill>
              <a:srgbClr val="CDD5CF"/>
            </a:solidFill>
            <a:prstDash val="solid"/>
          </a:ln>
        </p:spPr>
      </p:sp>
      <p:sp>
        <p:nvSpPr>
          <p:cNvPr id="5" name="cover-notice">
            <a:extLst xmlns:a="http://schemas.openxmlformats.org/drawingml/2006/main">
              <a:ext uri="{FF2B5EF4-FFF2-40B4-BE49-F238E27FC236}">
                <a16:creationId xmlns:a16="http://schemas.microsoft.com/office/drawing/2014/main" id="{C34A122F-359A-4492-A5DC-83B474904E3A}"/>
              </a:ext>
            </a:extLst>
          </p:cNvPr>
          <p:cNvSpPr>
            <a:spLocks xmlns:a="http://schemas.openxmlformats.org/drawingml/2006/main" noGrp="1"/>
          </p:cNvSpPr>
          <p:nvPr/>
        </p:nvSpPr>
        <p:spPr>
          <a:xfrm xmlns:a="http://schemas.openxmlformats.org/drawingml/2006/main">
            <a:off x="7105650" y="5753100"/>
            <a:ext cx="449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0">
                <a:solidFill>
                  <a:srgbClr val="53645B"/>
                </a:solidFill>
                <a:latin typeface="Aptos"/>
                <a:ea typeface="Aptos"/>
                <a:cs typeface="Aptos"/>
              </a:defRPr>
            </a:pPr>
            <a:r>
              <a:rPr sz="1200" b="0">
                <a:solidFill>
                  <a:srgbClr val="53645B"/>
                </a:solidFill>
                <a:latin typeface="Aptos"/>
                <a:ea typeface="Aptos"/>
                <a:cs typeface="Aptos"/>
              </a:rPr>
              <a:t>Generated learning visual — not documentary evidence.</a:t>
            </a:r>
          </a:p>
        </p:txBody>
      </p:sp>
      <p:sp>
        <p:nvSpPr>
          <p:cNvPr id="6" name="cover-course">
            <a:extLst xmlns:a="http://schemas.openxmlformats.org/drawingml/2006/main">
              <a:ext uri="{FF2B5EF4-FFF2-40B4-BE49-F238E27FC236}">
                <a16:creationId xmlns:a16="http://schemas.microsoft.com/office/drawing/2014/main" id="{23F4751D-EA97-405D-8CD4-007DB80199B0}"/>
              </a:ext>
            </a:extLst>
          </p:cNvPr>
          <p:cNvSpPr>
            <a:spLocks xmlns:a="http://schemas.openxmlformats.org/drawingml/2006/main" noGrp="1"/>
          </p:cNvSpPr>
          <p:nvPr/>
        </p:nvSpPr>
        <p:spPr>
          <a:xfrm xmlns:a="http://schemas.openxmlformats.org/drawingml/2006/main">
            <a:off x="609600" y="619125"/>
            <a:ext cx="514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DDE9E2"/>
                </a:solidFill>
                <a:latin typeface="Aptos"/>
                <a:ea typeface="Aptos"/>
                <a:cs typeface="Aptos"/>
              </a:defRPr>
            </a:pPr>
            <a:r>
              <a:rPr sz="1500" b="1">
                <a:solidFill>
                  <a:srgbClr val="DDE9E2"/>
                </a:solidFill>
                <a:latin typeface="Aptos"/>
                <a:ea typeface="Aptos"/>
                <a:cs typeface="Aptos"/>
              </a:rPr>
              <a:t>YEAR 9 FOOD IN AUSTRALIA</a:t>
            </a:r>
          </a:p>
        </p:txBody>
      </p:sp>
      <p:sp>
        <p:nvSpPr>
          <p:cNvPr id="7" name="cover-rule">
            <a:extLst xmlns:a="http://schemas.openxmlformats.org/drawingml/2006/main">
              <a:ext uri="{FF2B5EF4-FFF2-40B4-BE49-F238E27FC236}">
                <a16:creationId xmlns:a16="http://schemas.microsoft.com/office/drawing/2014/main" id="{03BD99E0-BB0E-412D-9955-0F9F4FBF188C}"/>
              </a:ext>
            </a:extLst>
          </p:cNvPr>
          <p:cNvSpPr>
            <a:spLocks xmlns:a="http://schemas.openxmlformats.org/drawingml/2006/main" noGrp="1"/>
          </p:cNvSpPr>
          <p:nvPr/>
        </p:nvSpPr>
        <p:spPr>
          <a:xfrm xmlns:a="http://schemas.openxmlformats.org/drawingml/2006/main">
            <a:off x="609600" y="1114425"/>
            <a:ext cx="685800" cy="66675"/>
          </a:xfrm>
          <a:prstGeom xmlns:a="http://schemas.openxmlformats.org/drawingml/2006/main" prst="rect">
            <a:avLst/>
          </a:prstGeom>
          <a:solidFill xmlns:a="http://schemas.openxmlformats.org/drawingml/2006/main">
            <a:srgbClr val="93442F"/>
          </a:solidFill>
          <a:ln xmlns:a="http://schemas.openxmlformats.org/drawingml/2006/main" w="0">
            <a:noFill/>
            <a:prstDash val="solid"/>
          </a:ln>
        </p:spPr>
      </p:sp>
      <p:sp>
        <p:nvSpPr>
          <p:cNvPr id="8" name="cover-module-label">
            <a:extLst xmlns:a="http://schemas.openxmlformats.org/drawingml/2006/main">
              <a:ext uri="{FF2B5EF4-FFF2-40B4-BE49-F238E27FC236}">
                <a16:creationId xmlns:a16="http://schemas.microsoft.com/office/drawing/2014/main" id="{5E0B4BC9-744C-46B2-ABE6-7D7F25604C70}"/>
              </a:ext>
            </a:extLst>
          </p:cNvPr>
          <p:cNvSpPr>
            <a:spLocks xmlns:a="http://schemas.openxmlformats.org/drawingml/2006/main" noGrp="1"/>
          </p:cNvSpPr>
          <p:nvPr/>
        </p:nvSpPr>
        <p:spPr>
          <a:xfrm xmlns:a="http://schemas.openxmlformats.org/drawingml/2006/main">
            <a:off x="609600" y="14668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1E5CE"/>
                </a:solidFill>
                <a:latin typeface="Aptos"/>
                <a:ea typeface="Aptos"/>
                <a:cs typeface="Aptos"/>
              </a:defRPr>
            </a:pPr>
            <a:r>
              <a:rPr sz="1650" b="1">
                <a:solidFill>
                  <a:srgbClr val="F1E5CE"/>
                </a:solidFill>
                <a:latin typeface="Aptos"/>
                <a:ea typeface="Aptos"/>
                <a:cs typeface="Aptos"/>
              </a:rPr>
              <a:t>MODULE 05</a:t>
            </a:r>
          </a:p>
        </p:txBody>
      </p:sp>
      <p:sp>
        <p:nvSpPr>
          <p:cNvPr id="9" name="cover-title">
            <a:extLst xmlns:a="http://schemas.openxmlformats.org/drawingml/2006/main">
              <a:ext uri="{FF2B5EF4-FFF2-40B4-BE49-F238E27FC236}">
                <a16:creationId xmlns:a16="http://schemas.microsoft.com/office/drawing/2014/main" id="{6E6EC372-739D-4A62-93F8-C37C1426F98C}"/>
              </a:ext>
            </a:extLst>
          </p:cNvPr>
          <p:cNvSpPr>
            <a:spLocks xmlns:a="http://schemas.openxmlformats.org/drawingml/2006/main" noGrp="1"/>
          </p:cNvSpPr>
          <p:nvPr/>
        </p:nvSpPr>
        <p:spPr>
          <a:xfrm xmlns:a="http://schemas.openxmlformats.org/drawingml/2006/main">
            <a:off x="609600" y="1952625"/>
            <a:ext cx="5381625"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100" b="1">
                <a:solidFill>
                  <a:srgbClr val="FFFFFF"/>
                </a:solidFill>
                <a:latin typeface="Aptos Display"/>
                <a:ea typeface="Aptos Display"/>
                <a:cs typeface="Aptos Display"/>
              </a:defRPr>
            </a:pPr>
            <a:r>
              <a:rPr sz="5100" b="1">
                <a:solidFill>
                  <a:srgbClr val="FFFFFF"/>
                </a:solidFill>
                <a:latin typeface="Aptos Display"/>
                <a:ea typeface="Aptos Display"/>
                <a:cs typeface="Aptos Display"/>
              </a:rPr>
              <a:t>Colonisation, settlement and migration</a:t>
            </a:r>
          </a:p>
        </p:txBody>
      </p:sp>
      <p:sp>
        <p:nvSpPr>
          <p:cNvPr id="10" name="cover-outcome">
            <a:extLst xmlns:a="http://schemas.openxmlformats.org/drawingml/2006/main">
              <a:ext uri="{FF2B5EF4-FFF2-40B4-BE49-F238E27FC236}">
                <a16:creationId xmlns:a16="http://schemas.microsoft.com/office/drawing/2014/main" id="{3D1269D5-0280-435E-908B-1337A16AF78F}"/>
              </a:ext>
            </a:extLst>
          </p:cNvPr>
          <p:cNvSpPr>
            <a:spLocks xmlns:a="http://schemas.openxmlformats.org/drawingml/2006/main" noGrp="1"/>
          </p:cNvSpPr>
          <p:nvPr/>
        </p:nvSpPr>
        <p:spPr>
          <a:xfrm xmlns:a="http://schemas.openxmlformats.org/drawingml/2006/main">
            <a:off x="609600" y="4476750"/>
            <a:ext cx="52578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a:solidFill>
                  <a:srgbClr val="EAF2ED"/>
                </a:solidFill>
                <a:latin typeface="Aptos"/>
                <a:ea typeface="Aptos"/>
                <a:cs typeface="Aptos"/>
              </a:defRPr>
            </a:pPr>
            <a:r>
              <a:rPr sz="1875" b="0">
                <a:solidFill>
                  <a:srgbClr val="EAF2ED"/>
                </a:solidFill>
                <a:latin typeface="Aptos"/>
                <a:ea typeface="Aptos"/>
                <a:cs typeface="Aptos"/>
              </a:rPr>
              <a:t>Food systems changed through disruption, technology, migration and adaptation—not through one simple pathway.</a:t>
            </a:r>
          </a:p>
        </p:txBody>
      </p:sp>
      <p:sp>
        <p:nvSpPr>
          <p:cNvPr id="11" name="cover-footer">
            <a:extLst xmlns:a="http://schemas.openxmlformats.org/drawingml/2006/main">
              <a:ext uri="{FF2B5EF4-FFF2-40B4-BE49-F238E27FC236}">
                <a16:creationId xmlns:a16="http://schemas.microsoft.com/office/drawing/2014/main" id="{A3CB813B-63A4-4F3F-9E04-7258A9E15744}"/>
              </a:ext>
            </a:extLst>
          </p:cNvPr>
          <p:cNvSpPr>
            <a:spLocks xmlns:a="http://schemas.openxmlformats.org/drawingml/2006/main" noGrp="1"/>
          </p:cNvSpPr>
          <p:nvPr/>
        </p:nvSpPr>
        <p:spPr>
          <a:xfrm xmlns:a="http://schemas.openxmlformats.org/drawingml/2006/main">
            <a:off x="609600" y="6324600"/>
            <a:ext cx="581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a:solidFill>
                  <a:srgbClr val="BFD1C6"/>
                </a:solidFill>
                <a:latin typeface="Aptos"/>
                <a:ea typeface="Aptos"/>
                <a:cs typeface="Aptos"/>
              </a:defRPr>
            </a:pPr>
            <a:r>
              <a:rPr sz="1050" b="0">
                <a:solidFill>
                  <a:srgbClr val="BFD1C6"/>
                </a:solidFill>
                <a:latin typeface="Aptos"/>
                <a:ea typeface="Aptos"/>
                <a:cs typeface="Aptos"/>
              </a:rPr>
              <a:t>Editable classroom presentation  •  Local review copy</a:t>
            </a:r>
          </a:p>
        </p:txBody>
      </p:sp>
    </p:spTree>
    <p:extLst>
      <p:ext uri="{BB962C8B-B14F-4D97-AF65-F5344CB8AC3E}">
        <p14:creationId xmlns:p14="http://schemas.microsoft.com/office/powerpoint/2010/main" val="1811347547"/>
      </p:ext>
    </p:extLst>
  </p:cSld>
</p:sld>
</file>

<file path=ppt/slides/slide2.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2" name="top-accent-2">
            <a:extLst xmlns:a="http://schemas.openxmlformats.org/drawingml/2006/main">
              <a:ext uri="{FF2B5EF4-FFF2-40B4-BE49-F238E27FC236}">
                <a16:creationId xmlns:a16="http://schemas.microsoft.com/office/drawing/2014/main" id="{B3BFEAD5-4B3B-4A5F-BD4A-545B57B63A6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93442F"/>
          </a:solidFill>
          <a:ln xmlns:a="http://schemas.openxmlformats.org/drawingml/2006/main" w="0">
            <a:noFill/>
            <a:prstDash val="solid"/>
          </a:ln>
        </p:spPr>
      </p:sp>
      <p:sp>
        <p:nvSpPr>
          <p:cNvPr id="2" name="footer-module-2">
            <a:extLst xmlns:a="http://schemas.openxmlformats.org/drawingml/2006/main">
              <a:ext uri="{FF2B5EF4-FFF2-40B4-BE49-F238E27FC236}">
                <a16:creationId xmlns:a16="http://schemas.microsoft.com/office/drawing/2014/main" id="{5A36AEAC-5829-4E2E-B59D-9C92DC0F3FB6}"/>
              </a:ext>
            </a:extLst>
          </p:cNvPr>
          <p:cNvSpPr>
            <a:spLocks xmlns:a="http://schemas.openxmlformats.org/drawingml/2006/main" noGrp="1"/>
          </p:cNvSpPr>
          <p:nvPr/>
        </p:nvSpPr>
        <p:spPr>
          <a:xfrm xmlns:a="http://schemas.openxmlformats.org/drawingml/2006/main">
            <a:off x="533400" y="6505575"/>
            <a:ext cx="63817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3645B"/>
                </a:solidFill>
                <a:latin typeface="Aptos"/>
                <a:ea typeface="Aptos"/>
                <a:cs typeface="Aptos"/>
              </a:defRPr>
            </a:pPr>
            <a:r>
              <a:rPr sz="1050" b="1">
                <a:solidFill>
                  <a:srgbClr val="53645B"/>
                </a:solidFill>
                <a:latin typeface="Aptos"/>
                <a:ea typeface="Aptos"/>
                <a:cs typeface="Aptos"/>
              </a:rPr>
              <a:t>YEAR 9 FOOD IN AUSTRALIA  •  MODULE 05</a:t>
            </a:r>
          </a:p>
        </p:txBody>
      </p:sp>
      <p:sp>
        <p:nvSpPr>
          <p:cNvPr id="3" name="footer-page-2">
            <a:extLst xmlns:a="http://schemas.openxmlformats.org/drawingml/2006/main">
              <a:ext uri="{FF2B5EF4-FFF2-40B4-BE49-F238E27FC236}">
                <a16:creationId xmlns:a16="http://schemas.microsoft.com/office/drawing/2014/main" id="{765F78CA-46F2-46C3-86DE-F1DBB14B8867}"/>
              </a:ext>
            </a:extLst>
          </p:cNvPr>
          <p:cNvSpPr>
            <a:spLocks xmlns:a="http://schemas.openxmlformats.org/drawingml/2006/main" noGrp="1"/>
          </p:cNvSpPr>
          <p:nvPr/>
        </p:nvSpPr>
        <p:spPr>
          <a:xfrm xmlns:a="http://schemas.openxmlformats.org/drawingml/2006/main">
            <a:off x="11144250" y="648652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1">
                <a:solidFill>
                  <a:srgbClr val="53645B"/>
                </a:solidFill>
                <a:latin typeface="Aptos"/>
                <a:ea typeface="Aptos"/>
                <a:cs typeface="Aptos"/>
              </a:defRPr>
            </a:pPr>
            <a:r>
              <a:rPr sz="1050" b="1">
                <a:solidFill>
                  <a:srgbClr val="53645B"/>
                </a:solidFill>
                <a:latin typeface="Aptos"/>
                <a:ea typeface="Aptos"/>
                <a:cs typeface="Aptos"/>
              </a:rPr>
              <a:t>02</a:t>
            </a:r>
          </a:p>
        </p:txBody>
      </p:sp>
      <p:sp>
        <p:nvSpPr>
          <p:cNvPr id="4" name="section-label-2">
            <a:extLst xmlns:a="http://schemas.openxmlformats.org/drawingml/2006/main">
              <a:ext uri="{FF2B5EF4-FFF2-40B4-BE49-F238E27FC236}">
                <a16:creationId xmlns:a16="http://schemas.microsoft.com/office/drawing/2014/main" id="{7AF34A1E-5E33-448B-B5E6-CC96B70C7A1D}"/>
              </a:ext>
            </a:extLst>
          </p:cNvPr>
          <p:cNvSpPr>
            <a:spLocks xmlns:a="http://schemas.openxmlformats.org/drawingml/2006/main" noGrp="1"/>
          </p:cNvSpPr>
          <p:nvPr/>
        </p:nvSpPr>
        <p:spPr>
          <a:xfrm xmlns:a="http://schemas.openxmlformats.org/drawingml/2006/main">
            <a:off x="533400" y="304800"/>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93442F"/>
                </a:solidFill>
                <a:latin typeface="Aptos"/>
                <a:ea typeface="Aptos"/>
                <a:cs typeface="Aptos"/>
              </a:defRPr>
            </a:pPr>
            <a:r>
              <a:rPr sz="1275" b="1">
                <a:solidFill>
                  <a:srgbClr val="93442F"/>
                </a:solidFill>
                <a:latin typeface="Aptos"/>
                <a:ea typeface="Aptos"/>
                <a:cs typeface="Aptos"/>
              </a:rPr>
              <a:t>COLONISATION, SETTLEMENT AND MIGRATION · LEARNING PATHWAY</a:t>
            </a:r>
          </a:p>
        </p:txBody>
      </p:sp>
      <p:sp>
        <p:nvSpPr>
          <p:cNvPr id="5" name="slide-title-2">
            <a:extLst xmlns:a="http://schemas.openxmlformats.org/drawingml/2006/main">
              <a:ext uri="{FF2B5EF4-FFF2-40B4-BE49-F238E27FC236}">
                <a16:creationId xmlns:a16="http://schemas.microsoft.com/office/drawing/2014/main" id="{231DA8BA-14D7-41E0-88BD-50F76EB53C25}"/>
              </a:ext>
            </a:extLst>
          </p:cNvPr>
          <p:cNvSpPr>
            <a:spLocks xmlns:a="http://schemas.openxmlformats.org/drawingml/2006/main" noGrp="1"/>
          </p:cNvSpPr>
          <p:nvPr/>
        </p:nvSpPr>
        <p:spPr>
          <a:xfrm xmlns:a="http://schemas.openxmlformats.org/drawingml/2006/main">
            <a:off x="533400" y="638175"/>
            <a:ext cx="11087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231E"/>
                </a:solidFill>
                <a:latin typeface="Aptos Display"/>
                <a:ea typeface="Aptos Display"/>
                <a:cs typeface="Aptos Display"/>
              </a:defRPr>
            </a:pPr>
            <a:r>
              <a:rPr sz="3600" b="1">
                <a:solidFill>
                  <a:srgbClr val="17231E"/>
                </a:solidFill>
                <a:latin typeface="Aptos Display"/>
                <a:ea typeface="Aptos Display"/>
                <a:cs typeface="Aptos Display"/>
              </a:rPr>
              <a:t>Three ideas build one explanation</a:t>
            </a:r>
          </a:p>
        </p:txBody>
      </p:sp>
      <p:sp>
        <p:nvSpPr>
          <p:cNvPr id="6" name="arc-retrieval-prompt">
            <a:extLst xmlns:a="http://schemas.openxmlformats.org/drawingml/2006/main">
              <a:ext uri="{FF2B5EF4-FFF2-40B4-BE49-F238E27FC236}">
                <a16:creationId xmlns:a16="http://schemas.microsoft.com/office/drawing/2014/main" id="{A3858D11-BCBD-4814-A244-2386A0847C7F}"/>
              </a:ext>
            </a:extLst>
          </p:cNvPr>
          <p:cNvSpPr>
            <a:spLocks xmlns:a="http://schemas.openxmlformats.org/drawingml/2006/main" noGrp="1"/>
          </p:cNvSpPr>
          <p:nvPr/>
        </p:nvSpPr>
        <p:spPr>
          <a:xfrm xmlns:a="http://schemas.openxmlformats.org/drawingml/2006/main">
            <a:off x="533400" y="1352550"/>
            <a:ext cx="904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45B"/>
                </a:solidFill>
                <a:latin typeface="Aptos"/>
                <a:ea typeface="Aptos"/>
                <a:cs typeface="Aptos"/>
              </a:defRPr>
            </a:pPr>
            <a:r>
              <a:rPr sz="1725" b="0">
                <a:solidFill>
                  <a:srgbClr val="53645B"/>
                </a:solidFill>
                <a:latin typeface="Aptos"/>
                <a:ea typeface="Aptos"/>
                <a:cs typeface="Aptos"/>
              </a:rPr>
              <a:t>Retrieval warm-up: What do you already know—and what needs checking?</a:t>
            </a:r>
          </a:p>
        </p:txBody>
      </p:sp>
      <p:sp>
        <p:nvSpPr>
          <p:cNvPr id="7" name="arc-connector">
            <a:extLst xmlns:a="http://schemas.openxmlformats.org/drawingml/2006/main">
              <a:ext uri="{FF2B5EF4-FFF2-40B4-BE49-F238E27FC236}">
                <a16:creationId xmlns:a16="http://schemas.microsoft.com/office/drawing/2014/main" id="{D66CC87E-09F9-4573-BD3E-28AA1229FB07}"/>
              </a:ext>
            </a:extLst>
          </p:cNvPr>
          <p:cNvSpPr>
            <a:spLocks xmlns:a="http://schemas.openxmlformats.org/drawingml/2006/main" noGrp="1"/>
          </p:cNvSpPr>
          <p:nvPr/>
        </p:nvSpPr>
        <p:spPr>
          <a:xfrm xmlns:a="http://schemas.openxmlformats.org/drawingml/2006/main">
            <a:off x="1981200" y="2647950"/>
            <a:ext cx="8229600" cy="0"/>
          </a:xfrm>
          <a:prstGeom xmlns:a="http://schemas.openxmlformats.org/drawingml/2006/main" prst="line">
            <a:avLst/>
          </a:prstGeom>
          <a:noFill xmlns:a="http://schemas.openxmlformats.org/drawingml/2006/main"/>
          <a:ln xmlns:a="http://schemas.openxmlformats.org/drawingml/2006/main" w="38100">
            <a:solidFill>
              <a:srgbClr val="93442F"/>
            </a:solidFill>
            <a:prstDash val="solid"/>
          </a:ln>
        </p:spPr>
      </p:sp>
      <p:sp>
        <p:nvSpPr>
          <p:cNvPr id="8" name="arc-node-1">
            <a:extLst xmlns:a="http://schemas.openxmlformats.org/drawingml/2006/main">
              <a:ext uri="{FF2B5EF4-FFF2-40B4-BE49-F238E27FC236}">
                <a16:creationId xmlns:a16="http://schemas.microsoft.com/office/drawing/2014/main" id="{70C82F35-B9AC-4ECB-B962-5A52E5269CFD}"/>
              </a:ext>
            </a:extLst>
          </p:cNvPr>
          <p:cNvSpPr>
            <a:spLocks xmlns:a="http://schemas.openxmlformats.org/drawingml/2006/main" noGrp="1"/>
          </p:cNvSpPr>
          <p:nvPr/>
        </p:nvSpPr>
        <p:spPr>
          <a:xfrm xmlns:a="http://schemas.openxmlformats.org/drawingml/2006/main">
            <a:off x="1752600" y="2419350"/>
            <a:ext cx="457200" cy="457200"/>
          </a:xfrm>
          <a:prstGeom xmlns:a="http://schemas.openxmlformats.org/drawingml/2006/main" prst="roundRect">
            <a:avLst>
              <a:gd name="adj" fmla="val 50000"/>
            </a:avLst>
          </a:prstGeom>
          <a:solidFill xmlns:a="http://schemas.openxmlformats.org/drawingml/2006/main">
            <a:srgbClr val="205D46"/>
          </a:solidFill>
          <a:ln xmlns:a="http://schemas.openxmlformats.org/drawingml/2006/main" w="28575">
            <a:solidFill>
              <a:srgbClr val="FFFFFF"/>
            </a:solidFill>
            <a:prstDash val="solid"/>
          </a:ln>
        </p:spPr>
      </p:sp>
      <p:sp>
        <p:nvSpPr>
          <p:cNvPr id="9" name="arc-number-1">
            <a:extLst xmlns:a="http://schemas.openxmlformats.org/drawingml/2006/main">
              <a:ext uri="{FF2B5EF4-FFF2-40B4-BE49-F238E27FC236}">
                <a16:creationId xmlns:a16="http://schemas.microsoft.com/office/drawing/2014/main" id="{CF50E36C-841C-47CB-9123-4B41F0B6851A}"/>
              </a:ext>
            </a:extLst>
          </p:cNvPr>
          <p:cNvSpPr>
            <a:spLocks xmlns:a="http://schemas.openxmlformats.org/drawingml/2006/main" noGrp="1"/>
          </p:cNvSpPr>
          <p:nvPr/>
        </p:nvSpPr>
        <p:spPr>
          <a:xfrm xmlns:a="http://schemas.openxmlformats.org/drawingml/2006/main">
            <a:off x="1847850" y="2514600"/>
            <a:ext cx="266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FFFFFF"/>
                </a:solidFill>
                <a:latin typeface="Aptos"/>
                <a:ea typeface="Aptos"/>
                <a:cs typeface="Aptos"/>
              </a:defRPr>
            </a:pPr>
            <a:r>
              <a:rPr sz="1500" b="1">
                <a:solidFill>
                  <a:srgbClr val="FFFFFF"/>
                </a:solidFill>
                <a:latin typeface="Aptos"/>
                <a:ea typeface="Aptos"/>
                <a:cs typeface="Aptos"/>
              </a:rPr>
              <a:t>1</a:t>
            </a:r>
          </a:p>
        </p:txBody>
      </p:sp>
      <p:sp>
        <p:nvSpPr>
          <p:cNvPr id="10" name="arc-node-2">
            <a:extLst xmlns:a="http://schemas.openxmlformats.org/drawingml/2006/main">
              <a:ext uri="{FF2B5EF4-FFF2-40B4-BE49-F238E27FC236}">
                <a16:creationId xmlns:a16="http://schemas.microsoft.com/office/drawing/2014/main" id="{9AD27A5F-87FD-45B3-B6B3-D35DD72690F1}"/>
              </a:ext>
            </a:extLst>
          </p:cNvPr>
          <p:cNvSpPr>
            <a:spLocks xmlns:a="http://schemas.openxmlformats.org/drawingml/2006/main" noGrp="1"/>
          </p:cNvSpPr>
          <p:nvPr/>
        </p:nvSpPr>
        <p:spPr>
          <a:xfrm xmlns:a="http://schemas.openxmlformats.org/drawingml/2006/main">
            <a:off x="5867400" y="2419350"/>
            <a:ext cx="457200" cy="457200"/>
          </a:xfrm>
          <a:prstGeom xmlns:a="http://schemas.openxmlformats.org/drawingml/2006/main" prst="roundRect">
            <a:avLst>
              <a:gd name="adj" fmla="val 50000"/>
            </a:avLst>
          </a:prstGeom>
          <a:solidFill xmlns:a="http://schemas.openxmlformats.org/drawingml/2006/main">
            <a:srgbClr val="93442F"/>
          </a:solidFill>
          <a:ln xmlns:a="http://schemas.openxmlformats.org/drawingml/2006/main" w="28575">
            <a:solidFill>
              <a:srgbClr val="FFFFFF"/>
            </a:solidFill>
            <a:prstDash val="solid"/>
          </a:ln>
        </p:spPr>
      </p:sp>
      <p:sp>
        <p:nvSpPr>
          <p:cNvPr id="11" name="arc-number-2">
            <a:extLst xmlns:a="http://schemas.openxmlformats.org/drawingml/2006/main">
              <a:ext uri="{FF2B5EF4-FFF2-40B4-BE49-F238E27FC236}">
                <a16:creationId xmlns:a16="http://schemas.microsoft.com/office/drawing/2014/main" id="{72992C4C-DAD9-4030-B482-59A81306C9D6}"/>
              </a:ext>
            </a:extLst>
          </p:cNvPr>
          <p:cNvSpPr>
            <a:spLocks xmlns:a="http://schemas.openxmlformats.org/drawingml/2006/main" noGrp="1"/>
          </p:cNvSpPr>
          <p:nvPr/>
        </p:nvSpPr>
        <p:spPr>
          <a:xfrm xmlns:a="http://schemas.openxmlformats.org/drawingml/2006/main">
            <a:off x="5962650" y="2514600"/>
            <a:ext cx="266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FFFFFF"/>
                </a:solidFill>
                <a:latin typeface="Aptos"/>
                <a:ea typeface="Aptos"/>
                <a:cs typeface="Aptos"/>
              </a:defRPr>
            </a:pPr>
            <a:r>
              <a:rPr sz="1500" b="1">
                <a:solidFill>
                  <a:srgbClr val="FFFFFF"/>
                </a:solidFill>
                <a:latin typeface="Aptos"/>
                <a:ea typeface="Aptos"/>
                <a:cs typeface="Aptos"/>
              </a:rPr>
              <a:t>2</a:t>
            </a:r>
          </a:p>
        </p:txBody>
      </p:sp>
      <p:sp>
        <p:nvSpPr>
          <p:cNvPr id="12" name="arc-node-3">
            <a:extLst xmlns:a="http://schemas.openxmlformats.org/drawingml/2006/main">
              <a:ext uri="{FF2B5EF4-FFF2-40B4-BE49-F238E27FC236}">
                <a16:creationId xmlns:a16="http://schemas.microsoft.com/office/drawing/2014/main" id="{487489EE-6B9B-4E1C-8D3C-718A0560FFC0}"/>
              </a:ext>
            </a:extLst>
          </p:cNvPr>
          <p:cNvSpPr>
            <a:spLocks xmlns:a="http://schemas.openxmlformats.org/drawingml/2006/main" noGrp="1"/>
          </p:cNvSpPr>
          <p:nvPr/>
        </p:nvSpPr>
        <p:spPr>
          <a:xfrm xmlns:a="http://schemas.openxmlformats.org/drawingml/2006/main">
            <a:off x="9982200" y="2419350"/>
            <a:ext cx="457200" cy="457200"/>
          </a:xfrm>
          <a:prstGeom xmlns:a="http://schemas.openxmlformats.org/drawingml/2006/main" prst="roundRect">
            <a:avLst>
              <a:gd name="adj" fmla="val 50000"/>
            </a:avLst>
          </a:prstGeom>
          <a:solidFill xmlns:a="http://schemas.openxmlformats.org/drawingml/2006/main">
            <a:srgbClr val="205D46"/>
          </a:solidFill>
          <a:ln xmlns:a="http://schemas.openxmlformats.org/drawingml/2006/main" w="28575">
            <a:solidFill>
              <a:srgbClr val="FFFFFF"/>
            </a:solidFill>
            <a:prstDash val="solid"/>
          </a:ln>
        </p:spPr>
      </p:sp>
      <p:sp>
        <p:nvSpPr>
          <p:cNvPr id="13" name="arc-number-3">
            <a:extLst xmlns:a="http://schemas.openxmlformats.org/drawingml/2006/main">
              <a:ext uri="{FF2B5EF4-FFF2-40B4-BE49-F238E27FC236}">
                <a16:creationId xmlns:a16="http://schemas.microsoft.com/office/drawing/2014/main" id="{0C6B2A3C-0DAE-4814-B685-03F17D5088DF}"/>
              </a:ext>
            </a:extLst>
          </p:cNvPr>
          <p:cNvSpPr>
            <a:spLocks xmlns:a="http://schemas.openxmlformats.org/drawingml/2006/main" noGrp="1"/>
          </p:cNvSpPr>
          <p:nvPr/>
        </p:nvSpPr>
        <p:spPr>
          <a:xfrm xmlns:a="http://schemas.openxmlformats.org/drawingml/2006/main">
            <a:off x="10077450" y="2514600"/>
            <a:ext cx="266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FFFFFF"/>
                </a:solidFill>
                <a:latin typeface="Aptos"/>
                <a:ea typeface="Aptos"/>
                <a:cs typeface="Aptos"/>
              </a:defRPr>
            </a:pPr>
            <a:r>
              <a:rPr sz="1500" b="1">
                <a:solidFill>
                  <a:srgbClr val="FFFFFF"/>
                </a:solidFill>
                <a:latin typeface="Aptos"/>
                <a:ea typeface="Aptos"/>
                <a:cs typeface="Aptos"/>
              </a:rPr>
              <a:t>3</a:t>
            </a:r>
          </a:p>
        </p:txBody>
      </p:sp>
      <p:sp>
        <p:nvSpPr>
          <p:cNvPr id="14" name="arc-section-title-1">
            <a:extLst xmlns:a="http://schemas.openxmlformats.org/drawingml/2006/main">
              <a:ext uri="{FF2B5EF4-FFF2-40B4-BE49-F238E27FC236}">
                <a16:creationId xmlns:a16="http://schemas.microsoft.com/office/drawing/2014/main" id="{7F078F04-979B-4C13-A063-0399C0B0E733}"/>
              </a:ext>
            </a:extLst>
          </p:cNvPr>
          <p:cNvSpPr>
            <a:spLocks xmlns:a="http://schemas.openxmlformats.org/drawingml/2006/main" noGrp="1"/>
          </p:cNvSpPr>
          <p:nvPr/>
        </p:nvSpPr>
        <p:spPr>
          <a:xfrm xmlns:a="http://schemas.openxmlformats.org/drawingml/2006/main">
            <a:off x="533400" y="31432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17231E"/>
                </a:solidFill>
                <a:latin typeface="Aptos Display"/>
                <a:ea typeface="Aptos Display"/>
                <a:cs typeface="Aptos Display"/>
              </a:defRPr>
            </a:pPr>
            <a:r>
              <a:rPr sz="2250" b="1">
                <a:solidFill>
                  <a:srgbClr val="17231E"/>
                </a:solidFill>
                <a:latin typeface="Aptos Display"/>
                <a:ea typeface="Aptos Display"/>
                <a:cs typeface="Aptos Display"/>
              </a:rPr>
              <a:t>Colonisation changed food access</a:t>
            </a:r>
          </a:p>
        </p:txBody>
      </p:sp>
      <p:sp>
        <p:nvSpPr>
          <p:cNvPr id="15" name="arc-section-purpose-1">
            <a:extLst xmlns:a="http://schemas.openxmlformats.org/drawingml/2006/main">
              <a:ext uri="{FF2B5EF4-FFF2-40B4-BE49-F238E27FC236}">
                <a16:creationId xmlns:a16="http://schemas.microsoft.com/office/drawing/2014/main" id="{285C8536-30D3-4EEA-8A0F-CD5744C6052D}"/>
              </a:ext>
            </a:extLst>
          </p:cNvPr>
          <p:cNvSpPr>
            <a:spLocks xmlns:a="http://schemas.openxmlformats.org/drawingml/2006/main" noGrp="1"/>
          </p:cNvSpPr>
          <p:nvPr/>
        </p:nvSpPr>
        <p:spPr>
          <a:xfrm xmlns:a="http://schemas.openxmlformats.org/drawingml/2006/main">
            <a:off x="533400" y="4029075"/>
            <a:ext cx="333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53645B"/>
                </a:solidFill>
                <a:latin typeface="Aptos"/>
                <a:ea typeface="Aptos"/>
                <a:cs typeface="Aptos"/>
              </a:defRPr>
            </a:pPr>
            <a:r>
              <a:rPr sz="1725" b="0">
                <a:solidFill>
                  <a:srgbClr val="53645B"/>
                </a:solidFill>
                <a:latin typeface="Aptos"/>
                <a:ea typeface="Aptos"/>
                <a:cs typeface="Aptos"/>
              </a:rPr>
              <a:t>Hold disruption beside continuity</a:t>
            </a:r>
          </a:p>
        </p:txBody>
      </p:sp>
      <p:sp>
        <p:nvSpPr>
          <p:cNvPr id="16" name="arc-section-title-2">
            <a:extLst xmlns:a="http://schemas.openxmlformats.org/drawingml/2006/main">
              <a:ext uri="{FF2B5EF4-FFF2-40B4-BE49-F238E27FC236}">
                <a16:creationId xmlns:a16="http://schemas.microsoft.com/office/drawing/2014/main" id="{A8437588-4757-432F-A113-FB25DFF35489}"/>
              </a:ext>
            </a:extLst>
          </p:cNvPr>
          <p:cNvSpPr>
            <a:spLocks xmlns:a="http://schemas.openxmlformats.org/drawingml/2006/main" noGrp="1"/>
          </p:cNvSpPr>
          <p:nvPr/>
        </p:nvSpPr>
        <p:spPr>
          <a:xfrm xmlns:a="http://schemas.openxmlformats.org/drawingml/2006/main">
            <a:off x="4419600" y="31432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17231E"/>
                </a:solidFill>
                <a:latin typeface="Aptos Display"/>
                <a:ea typeface="Aptos Display"/>
                <a:cs typeface="Aptos Display"/>
              </a:defRPr>
            </a:pPr>
            <a:r>
              <a:rPr sz="2250" b="1">
                <a:solidFill>
                  <a:srgbClr val="17231E"/>
                </a:solidFill>
                <a:latin typeface="Aptos Display"/>
                <a:ea typeface="Aptos Display"/>
                <a:cs typeface="Aptos Display"/>
              </a:rPr>
              <a:t>Settler food constraints and technology</a:t>
            </a:r>
          </a:p>
        </p:txBody>
      </p:sp>
      <p:sp>
        <p:nvSpPr>
          <p:cNvPr id="17" name="arc-section-purpose-2">
            <a:extLst xmlns:a="http://schemas.openxmlformats.org/drawingml/2006/main">
              <a:ext uri="{FF2B5EF4-FFF2-40B4-BE49-F238E27FC236}">
                <a16:creationId xmlns:a16="http://schemas.microsoft.com/office/drawing/2014/main" id="{483EC337-A469-4E20-933A-55CCB554E446}"/>
              </a:ext>
            </a:extLst>
          </p:cNvPr>
          <p:cNvSpPr>
            <a:spLocks xmlns:a="http://schemas.openxmlformats.org/drawingml/2006/main" noGrp="1"/>
          </p:cNvSpPr>
          <p:nvPr/>
        </p:nvSpPr>
        <p:spPr>
          <a:xfrm xmlns:a="http://schemas.openxmlformats.org/drawingml/2006/main">
            <a:off x="4419600" y="4029075"/>
            <a:ext cx="333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53645B"/>
                </a:solidFill>
                <a:latin typeface="Aptos"/>
                <a:ea typeface="Aptos"/>
                <a:cs typeface="Aptos"/>
              </a:defRPr>
            </a:pPr>
            <a:r>
              <a:rPr sz="1725" b="0">
                <a:solidFill>
                  <a:srgbClr val="53645B"/>
                </a:solidFill>
                <a:latin typeface="Aptos"/>
                <a:ea typeface="Aptos"/>
                <a:cs typeface="Aptos"/>
              </a:rPr>
              <a:t>Judge technology in its context</a:t>
            </a:r>
          </a:p>
        </p:txBody>
      </p:sp>
      <p:sp>
        <p:nvSpPr>
          <p:cNvPr id="18" name="arc-section-title-3">
            <a:extLst xmlns:a="http://schemas.openxmlformats.org/drawingml/2006/main">
              <a:ext uri="{FF2B5EF4-FFF2-40B4-BE49-F238E27FC236}">
                <a16:creationId xmlns:a16="http://schemas.microsoft.com/office/drawing/2014/main" id="{A18DAD29-8D41-4058-AD8E-203ADF998460}"/>
              </a:ext>
            </a:extLst>
          </p:cNvPr>
          <p:cNvSpPr>
            <a:spLocks xmlns:a="http://schemas.openxmlformats.org/drawingml/2006/main" noGrp="1"/>
          </p:cNvSpPr>
          <p:nvPr/>
        </p:nvSpPr>
        <p:spPr>
          <a:xfrm xmlns:a="http://schemas.openxmlformats.org/drawingml/2006/main">
            <a:off x="8305800" y="31432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17231E"/>
                </a:solidFill>
                <a:latin typeface="Aptos Display"/>
                <a:ea typeface="Aptos Display"/>
                <a:cs typeface="Aptos Display"/>
              </a:defRPr>
            </a:pPr>
            <a:r>
              <a:rPr sz="2250" b="1">
                <a:solidFill>
                  <a:srgbClr val="17231E"/>
                </a:solidFill>
                <a:latin typeface="Aptos Display"/>
                <a:ea typeface="Aptos Display"/>
                <a:cs typeface="Aptos Display"/>
              </a:rPr>
              <a:t>Migration changed Australian food habits</a:t>
            </a:r>
          </a:p>
        </p:txBody>
      </p:sp>
      <p:sp>
        <p:nvSpPr>
          <p:cNvPr id="19" name="arc-section-purpose-3">
            <a:extLst xmlns:a="http://schemas.openxmlformats.org/drawingml/2006/main">
              <a:ext uri="{FF2B5EF4-FFF2-40B4-BE49-F238E27FC236}">
                <a16:creationId xmlns:a16="http://schemas.microsoft.com/office/drawing/2014/main" id="{918616AC-EC16-40DC-B93C-FBAAD20F4437}"/>
              </a:ext>
            </a:extLst>
          </p:cNvPr>
          <p:cNvSpPr>
            <a:spLocks xmlns:a="http://schemas.openxmlformats.org/drawingml/2006/main" noGrp="1"/>
          </p:cNvSpPr>
          <p:nvPr/>
        </p:nvSpPr>
        <p:spPr>
          <a:xfrm xmlns:a="http://schemas.openxmlformats.org/drawingml/2006/main">
            <a:off x="8305800" y="4029075"/>
            <a:ext cx="333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53645B"/>
                </a:solidFill>
                <a:latin typeface="Aptos"/>
                <a:ea typeface="Aptos"/>
                <a:cs typeface="Aptos"/>
              </a:defRPr>
            </a:pPr>
            <a:r>
              <a:rPr sz="1725" b="0">
                <a:solidFill>
                  <a:srgbClr val="53645B"/>
                </a:solidFill>
                <a:latin typeface="Aptos"/>
                <a:ea typeface="Aptos"/>
                <a:cs typeface="Aptos"/>
              </a:rPr>
              <a:t>Explain migration through mechanisms</a:t>
            </a:r>
          </a:p>
        </p:txBody>
      </p:sp>
      <p:sp>
        <p:nvSpPr>
          <p:cNvPr id="20" name="arc-takeaway-band">
            <a:extLst xmlns:a="http://schemas.openxmlformats.org/drawingml/2006/main">
              <a:ext uri="{FF2B5EF4-FFF2-40B4-BE49-F238E27FC236}">
                <a16:creationId xmlns:a16="http://schemas.microsoft.com/office/drawing/2014/main" id="{E122D7C1-60B7-4632-99B0-5D2FE0A3CF47}"/>
              </a:ext>
            </a:extLst>
          </p:cNvPr>
          <p:cNvSpPr>
            <a:spLocks xmlns:a="http://schemas.openxmlformats.org/drawingml/2006/main" noGrp="1"/>
          </p:cNvSpPr>
          <p:nvPr/>
        </p:nvSpPr>
        <p:spPr>
          <a:xfrm xmlns:a="http://schemas.openxmlformats.org/drawingml/2006/main">
            <a:off x="533400" y="5286375"/>
            <a:ext cx="11087100" cy="790575"/>
          </a:xfrm>
          <a:prstGeom xmlns:a="http://schemas.openxmlformats.org/drawingml/2006/main" prst="roundRect">
            <a:avLst>
              <a:gd name="adj" fmla="val 16867"/>
            </a:avLst>
          </a:prstGeom>
          <a:solidFill xmlns:a="http://schemas.openxmlformats.org/drawingml/2006/main">
            <a:srgbClr val="EEF3EF"/>
          </a:solidFill>
          <a:ln xmlns:a="http://schemas.openxmlformats.org/drawingml/2006/main" w="9525">
            <a:solidFill>
              <a:srgbClr val="CDD5CF"/>
            </a:solidFill>
            <a:prstDash val="solid"/>
          </a:ln>
        </p:spPr>
      </p:sp>
      <p:sp>
        <p:nvSpPr>
          <p:cNvPr id="21" name="arc-takeaway">
            <a:extLst xmlns:a="http://schemas.openxmlformats.org/drawingml/2006/main">
              <a:ext uri="{FF2B5EF4-FFF2-40B4-BE49-F238E27FC236}">
                <a16:creationId xmlns:a16="http://schemas.microsoft.com/office/drawing/2014/main" id="{7C65826F-B151-4270-87EA-FE429810FD6C}"/>
              </a:ext>
            </a:extLst>
          </p:cNvPr>
          <p:cNvSpPr>
            <a:spLocks xmlns:a="http://schemas.openxmlformats.org/drawingml/2006/main" noGrp="1"/>
          </p:cNvSpPr>
          <p:nvPr/>
        </p:nvSpPr>
        <p:spPr>
          <a:xfrm xmlns:a="http://schemas.openxmlformats.org/drawingml/2006/main">
            <a:off x="781050" y="5467350"/>
            <a:ext cx="1057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333"/>
          </a:bodyPr>
          <a:lstStyle xmlns:a="http://schemas.openxmlformats.org/drawingml/2006/main"/>
          <a:p xmlns:a="http://schemas.openxmlformats.org/drawingml/2006/main">
            <a:pPr algn="ctr">
              <a:defRPr sz="1800" b="1">
                <a:solidFill>
                  <a:srgbClr val="154332"/>
                </a:solidFill>
                <a:latin typeface="Aptos"/>
                <a:ea typeface="Aptos"/>
                <a:cs typeface="Aptos"/>
              </a:defRPr>
            </a:pPr>
            <a:r>
              <a:rPr sz="1800" b="1">
                <a:solidFill>
                  <a:srgbClr val="154332"/>
                </a:solidFill>
                <a:latin typeface="Aptos"/>
                <a:ea typeface="Aptos"/>
                <a:cs typeface="Aptos"/>
              </a:rPr>
              <a:t>Connect all three: Food systems changed through disruption, technology, migration and adaptation—not through one simple pathway.</a:t>
            </a:r>
          </a:p>
        </p:txBody>
      </p:sp>
    </p:spTree>
    <p:extLst>
      <p:ext uri="{BB962C8B-B14F-4D97-AF65-F5344CB8AC3E}">
        <p14:creationId xmlns:p14="http://schemas.microsoft.com/office/powerpoint/2010/main" val="346561855"/>
      </p:ext>
    </p:extLst>
  </p:cSld>
</p:sld>
</file>

<file path=ppt/slides/slide3.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2" name="top-accent-3">
            <a:extLst xmlns:a="http://schemas.openxmlformats.org/drawingml/2006/main">
              <a:ext uri="{FF2B5EF4-FFF2-40B4-BE49-F238E27FC236}">
                <a16:creationId xmlns:a16="http://schemas.microsoft.com/office/drawing/2014/main" id="{5DEDDF2A-0AC9-43B7-BD21-632F09ADA7D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93442F"/>
          </a:solidFill>
          <a:ln xmlns:a="http://schemas.openxmlformats.org/drawingml/2006/main" w="0">
            <a:noFill/>
            <a:prstDash val="solid"/>
          </a:ln>
        </p:spPr>
      </p:sp>
      <p:sp>
        <p:nvSpPr>
          <p:cNvPr id="2" name="footer-module-3">
            <a:extLst xmlns:a="http://schemas.openxmlformats.org/drawingml/2006/main">
              <a:ext uri="{FF2B5EF4-FFF2-40B4-BE49-F238E27FC236}">
                <a16:creationId xmlns:a16="http://schemas.microsoft.com/office/drawing/2014/main" id="{8186C72C-06F0-44B7-9B56-A80A70D469BF}"/>
              </a:ext>
            </a:extLst>
          </p:cNvPr>
          <p:cNvSpPr>
            <a:spLocks xmlns:a="http://schemas.openxmlformats.org/drawingml/2006/main" noGrp="1"/>
          </p:cNvSpPr>
          <p:nvPr/>
        </p:nvSpPr>
        <p:spPr>
          <a:xfrm xmlns:a="http://schemas.openxmlformats.org/drawingml/2006/main">
            <a:off x="533400" y="6505575"/>
            <a:ext cx="63817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3645B"/>
                </a:solidFill>
                <a:latin typeface="Aptos"/>
                <a:ea typeface="Aptos"/>
                <a:cs typeface="Aptos"/>
              </a:defRPr>
            </a:pPr>
            <a:r>
              <a:rPr sz="1050" b="1">
                <a:solidFill>
                  <a:srgbClr val="53645B"/>
                </a:solidFill>
                <a:latin typeface="Aptos"/>
                <a:ea typeface="Aptos"/>
                <a:cs typeface="Aptos"/>
              </a:rPr>
              <a:t>YEAR 9 FOOD IN AUSTRALIA  •  MODULE 05</a:t>
            </a:r>
          </a:p>
        </p:txBody>
      </p:sp>
      <p:sp>
        <p:nvSpPr>
          <p:cNvPr id="3" name="footer-page-3">
            <a:extLst xmlns:a="http://schemas.openxmlformats.org/drawingml/2006/main">
              <a:ext uri="{FF2B5EF4-FFF2-40B4-BE49-F238E27FC236}">
                <a16:creationId xmlns:a16="http://schemas.microsoft.com/office/drawing/2014/main" id="{165227CD-3735-4F55-B72E-6A48A9326E45}"/>
              </a:ext>
            </a:extLst>
          </p:cNvPr>
          <p:cNvSpPr>
            <a:spLocks xmlns:a="http://schemas.openxmlformats.org/drawingml/2006/main" noGrp="1"/>
          </p:cNvSpPr>
          <p:nvPr/>
        </p:nvSpPr>
        <p:spPr>
          <a:xfrm xmlns:a="http://schemas.openxmlformats.org/drawingml/2006/main">
            <a:off x="11144250" y="648652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1">
                <a:solidFill>
                  <a:srgbClr val="53645B"/>
                </a:solidFill>
                <a:latin typeface="Aptos"/>
                <a:ea typeface="Aptos"/>
                <a:cs typeface="Aptos"/>
              </a:defRPr>
            </a:pPr>
            <a:r>
              <a:rPr sz="1050" b="1">
                <a:solidFill>
                  <a:srgbClr val="53645B"/>
                </a:solidFill>
                <a:latin typeface="Aptos"/>
                <a:ea typeface="Aptos"/>
                <a:cs typeface="Aptos"/>
              </a:rPr>
              <a:t>03</a:t>
            </a:r>
          </a:p>
        </p:txBody>
      </p:sp>
      <p:sp>
        <p:nvSpPr>
          <p:cNvPr id="4" name="section-label-3">
            <a:extLst xmlns:a="http://schemas.openxmlformats.org/drawingml/2006/main">
              <a:ext uri="{FF2B5EF4-FFF2-40B4-BE49-F238E27FC236}">
                <a16:creationId xmlns:a16="http://schemas.microsoft.com/office/drawing/2014/main" id="{1C0283B7-E628-41FB-8B53-F2A3D4DD42AF}"/>
              </a:ext>
            </a:extLst>
          </p:cNvPr>
          <p:cNvSpPr>
            <a:spLocks xmlns:a="http://schemas.openxmlformats.org/drawingml/2006/main" noGrp="1"/>
          </p:cNvSpPr>
          <p:nvPr/>
        </p:nvSpPr>
        <p:spPr>
          <a:xfrm xmlns:a="http://schemas.openxmlformats.org/drawingml/2006/main">
            <a:off x="533400" y="304800"/>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93442F"/>
                </a:solidFill>
                <a:latin typeface="Aptos"/>
                <a:ea typeface="Aptos"/>
                <a:cs typeface="Aptos"/>
              </a:defRPr>
            </a:pPr>
            <a:r>
              <a:rPr sz="1275" b="1">
                <a:solidFill>
                  <a:srgbClr val="93442F"/>
                </a:solidFill>
                <a:latin typeface="Aptos"/>
                <a:ea typeface="Aptos"/>
                <a:cs typeface="Aptos"/>
              </a:rPr>
              <a:t>IDEA 1 · M05-S01</a:t>
            </a:r>
          </a:p>
        </p:txBody>
      </p:sp>
      <p:sp>
        <p:nvSpPr>
          <p:cNvPr id="5" name="slide-title-3">
            <a:extLst xmlns:a="http://schemas.openxmlformats.org/drawingml/2006/main">
              <a:ext uri="{FF2B5EF4-FFF2-40B4-BE49-F238E27FC236}">
                <a16:creationId xmlns:a16="http://schemas.microsoft.com/office/drawing/2014/main" id="{E987823B-6A25-4FF3-AB6F-10488B5CC1E9}"/>
              </a:ext>
            </a:extLst>
          </p:cNvPr>
          <p:cNvSpPr>
            <a:spLocks xmlns:a="http://schemas.openxmlformats.org/drawingml/2006/main" noGrp="1"/>
          </p:cNvSpPr>
          <p:nvPr/>
        </p:nvSpPr>
        <p:spPr>
          <a:xfrm xmlns:a="http://schemas.openxmlformats.org/drawingml/2006/main">
            <a:off x="533400" y="638175"/>
            <a:ext cx="11087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231E"/>
                </a:solidFill>
                <a:latin typeface="Aptos Display"/>
                <a:ea typeface="Aptos Display"/>
                <a:cs typeface="Aptos Display"/>
              </a:defRPr>
            </a:pPr>
            <a:r>
              <a:rPr sz="3600" b="1">
                <a:solidFill>
                  <a:srgbClr val="17231E"/>
                </a:solidFill>
                <a:latin typeface="Aptos Display"/>
                <a:ea typeface="Aptos Display"/>
                <a:cs typeface="Aptos Display"/>
              </a:rPr>
              <a:t>Colonisation changed food access</a:t>
            </a:r>
          </a:p>
        </p:txBody>
      </p:sp>
      <p:sp>
        <p:nvSpPr>
          <p:cNvPr id="6" name="idea-1-visual-frame">
            <a:extLst xmlns:a="http://schemas.openxmlformats.org/drawingml/2006/main">
              <a:ext uri="{FF2B5EF4-FFF2-40B4-BE49-F238E27FC236}">
                <a16:creationId xmlns:a16="http://schemas.microsoft.com/office/drawing/2014/main" id="{B15C62C7-4327-4847-8B62-93DDBA0C74C4}"/>
              </a:ext>
            </a:extLst>
          </p:cNvPr>
          <p:cNvSpPr>
            <a:spLocks xmlns:a="http://schemas.openxmlformats.org/drawingml/2006/main" noGrp="1"/>
          </p:cNvSpPr>
          <p:nvPr/>
        </p:nvSpPr>
        <p:spPr>
          <a:xfrm xmlns:a="http://schemas.openxmlformats.org/drawingml/2006/main">
            <a:off x="495300" y="1524000"/>
            <a:ext cx="5981700" cy="4076700"/>
          </a:xfrm>
          <a:prstGeom xmlns:a="http://schemas.openxmlformats.org/drawingml/2006/main" prst="roundRect">
            <a:avLst>
              <a:gd name="adj" fmla="val 3738"/>
            </a:avLst>
          </a:prstGeom>
          <a:solidFill xmlns:a="http://schemas.openxmlformats.org/drawingml/2006/main">
            <a:srgbClr val="FFFFFF"/>
          </a:solidFill>
          <a:ln xmlns:a="http://schemas.openxmlformats.org/drawingml/2006/main" w="9525">
            <a:solidFill>
              <a:srgbClr val="CDD5CF"/>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d2dfee8f9bfe4e89"/>
          <a:stretch xmlns:a="http://schemas.openxmlformats.org/drawingml/2006/main"/>
        </p:blipFill>
        <p:spPr>
          <a:xfrm xmlns:a="http://schemas.openxmlformats.org/drawingml/2006/main">
            <a:off x="533400" y="1901428"/>
            <a:ext cx="5905500" cy="3321844"/>
          </a:xfrm>
          <a:prstGeom xmlns:a="http://schemas.openxmlformats.org/drawingml/2006/main" prst="roundRect">
            <a:avLst>
              <a:gd name="adj" fmla="val 2857"/>
            </a:avLst>
          </a:prstGeom>
        </p:spPr>
      </p:pic>
      <p:sp>
        <p:nvSpPr>
          <p:cNvPr id="8" name="idea-1-visual-caption">
            <a:extLst xmlns:a="http://schemas.openxmlformats.org/drawingml/2006/main">
              <a:ext uri="{FF2B5EF4-FFF2-40B4-BE49-F238E27FC236}">
                <a16:creationId xmlns:a16="http://schemas.microsoft.com/office/drawing/2014/main" id="{6EF0D316-22BA-442D-A356-F06BBA3E8D69}"/>
              </a:ext>
            </a:extLst>
          </p:cNvPr>
          <p:cNvSpPr>
            <a:spLocks xmlns:a="http://schemas.openxmlformats.org/drawingml/2006/main" noGrp="1"/>
          </p:cNvSpPr>
          <p:nvPr/>
        </p:nvSpPr>
        <p:spPr>
          <a:xfrm xmlns:a="http://schemas.openxmlformats.org/drawingml/2006/main">
            <a:off x="533400" y="5657850"/>
            <a:ext cx="590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3645B"/>
                </a:solidFill>
                <a:latin typeface="Aptos"/>
                <a:ea typeface="Aptos"/>
                <a:cs typeface="Aptos"/>
              </a:defRPr>
            </a:pPr>
            <a:r>
              <a:rPr sz="1125" b="0">
                <a:solidFill>
                  <a:srgbClr val="53645B"/>
                </a:solidFill>
                <a:latin typeface="Aptos"/>
                <a:ea typeface="Aptos"/>
                <a:cs typeface="Aptos"/>
              </a:rPr>
              <a:t>Disruption, continuity and adaptation can occur together; place-specific evidence shows how the pathways differ.</a:t>
            </a:r>
          </a:p>
        </p:txBody>
      </p:sp>
      <p:sp>
        <p:nvSpPr>
          <p:cNvPr id="9" name="idea-1-body">
            <a:extLst xmlns:a="http://schemas.openxmlformats.org/drawingml/2006/main">
              <a:ext uri="{FF2B5EF4-FFF2-40B4-BE49-F238E27FC236}">
                <a16:creationId xmlns:a16="http://schemas.microsoft.com/office/drawing/2014/main" id="{57FDCC3D-AF73-49F4-808E-2A1F547A1DBB}"/>
              </a:ext>
            </a:extLst>
          </p:cNvPr>
          <p:cNvSpPr>
            <a:spLocks xmlns:a="http://schemas.openxmlformats.org/drawingml/2006/main" noGrp="1"/>
          </p:cNvSpPr>
          <p:nvPr/>
        </p:nvSpPr>
        <p:spPr>
          <a:xfrm xmlns:a="http://schemas.openxmlformats.org/drawingml/2006/main">
            <a:off x="6934200" y="1695450"/>
            <a:ext cx="459105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a:solidFill>
                  <a:srgbClr val="17231E"/>
                </a:solidFill>
                <a:latin typeface="Aptos"/>
                <a:ea typeface="Aptos"/>
                <a:cs typeface="Aptos"/>
              </a:defRPr>
            </a:pPr>
            <a:r>
              <a:rPr sz="1875" b="0">
                <a:solidFill>
                  <a:srgbClr val="17231E"/>
                </a:solidFill>
                <a:latin typeface="Aptos"/>
                <a:ea typeface="Aptos"/>
                <a:cs typeface="Aptos"/>
              </a:rPr>
              <a:t>Colonisation disrupted access to Country and food systems, but it did not erase Cultural Knowledge. Strong explanations hold disruption beside continuity, adaptation, Community agency and revitalisation—and limit claims to the sourced context.</a:t>
            </a:r>
          </a:p>
        </p:txBody>
      </p:sp>
      <p:sp>
        <p:nvSpPr>
          <p:cNvPr id="10" name="idea-1-notice-band">
            <a:extLst xmlns:a="http://schemas.openxmlformats.org/drawingml/2006/main">
              <a:ext uri="{FF2B5EF4-FFF2-40B4-BE49-F238E27FC236}">
                <a16:creationId xmlns:a16="http://schemas.microsoft.com/office/drawing/2014/main" id="{3ED6939A-19A5-4041-AF3B-B9A726929A50}"/>
              </a:ext>
            </a:extLst>
          </p:cNvPr>
          <p:cNvSpPr>
            <a:spLocks xmlns:a="http://schemas.openxmlformats.org/drawingml/2006/main" noGrp="1"/>
          </p:cNvSpPr>
          <p:nvPr/>
        </p:nvSpPr>
        <p:spPr>
          <a:xfrm xmlns:a="http://schemas.openxmlformats.org/drawingml/2006/main">
            <a:off x="6934200" y="4352925"/>
            <a:ext cx="4591050" cy="1200150"/>
          </a:xfrm>
          <a:prstGeom xmlns:a="http://schemas.openxmlformats.org/drawingml/2006/main" prst="roundRect">
            <a:avLst>
              <a:gd name="adj" fmla="val 9524"/>
            </a:avLst>
          </a:prstGeom>
          <a:solidFill xmlns:a="http://schemas.openxmlformats.org/drawingml/2006/main">
            <a:srgbClr val="F1E5CE"/>
          </a:solidFill>
          <a:ln xmlns:a="http://schemas.openxmlformats.org/drawingml/2006/main" w="9525">
            <a:solidFill>
              <a:srgbClr val="CDD5CF"/>
            </a:solidFill>
            <a:prstDash val="solid"/>
          </a:ln>
        </p:spPr>
      </p:sp>
      <p:sp>
        <p:nvSpPr>
          <p:cNvPr id="11" name="idea-1-notice">
            <a:extLst xmlns:a="http://schemas.openxmlformats.org/drawingml/2006/main">
              <a:ext uri="{FF2B5EF4-FFF2-40B4-BE49-F238E27FC236}">
                <a16:creationId xmlns:a16="http://schemas.microsoft.com/office/drawing/2014/main" id="{48AE3643-D3D6-4176-92AC-4B1F24E97F4D}"/>
              </a:ext>
            </a:extLst>
          </p:cNvPr>
          <p:cNvSpPr>
            <a:spLocks xmlns:a="http://schemas.openxmlformats.org/drawingml/2006/main" noGrp="1"/>
          </p:cNvSpPr>
          <p:nvPr/>
        </p:nvSpPr>
        <p:spPr>
          <a:xfrm xmlns:a="http://schemas.openxmlformats.org/drawingml/2006/main">
            <a:off x="7162800" y="4552950"/>
            <a:ext cx="41338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498"/>
          </a:bodyPr>
          <a:lstStyle xmlns:a="http://schemas.openxmlformats.org/drawingml/2006/main"/>
          <a:p xmlns:a="http://schemas.openxmlformats.org/drawingml/2006/main">
            <a:pPr algn="l">
              <a:defRPr sz="1650" b="1">
                <a:solidFill>
                  <a:srgbClr val="154332"/>
                </a:solidFill>
                <a:latin typeface="Aptos"/>
                <a:ea typeface="Aptos"/>
                <a:cs typeface="Aptos"/>
              </a:defRPr>
            </a:pPr>
            <a:r>
              <a:rPr sz="1650" b="1">
                <a:solidFill>
                  <a:srgbClr val="154332"/>
                </a:solidFill>
                <a:latin typeface="Aptos"/>
                <a:ea typeface="Aptos"/>
                <a:cs typeface="Aptos"/>
              </a:rPr>
              <a:t>Notice: Which pathway shows disruption, and which features show that knowledge and caring practices can continue, adapt or be revitalised?</a:t>
            </a:r>
          </a:p>
        </p:txBody>
      </p:sp>
    </p:spTree>
    <p:extLst>
      <p:ext uri="{BB962C8B-B14F-4D97-AF65-F5344CB8AC3E}">
        <p14:creationId xmlns:p14="http://schemas.microsoft.com/office/powerpoint/2010/main" val="1622539583"/>
      </p:ext>
    </p:extLst>
  </p:cSld>
</p:sld>
</file>

<file path=ppt/slides/slide4.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2" name="top-accent-4">
            <a:extLst xmlns:a="http://schemas.openxmlformats.org/drawingml/2006/main">
              <a:ext uri="{FF2B5EF4-FFF2-40B4-BE49-F238E27FC236}">
                <a16:creationId xmlns:a16="http://schemas.microsoft.com/office/drawing/2014/main" id="{3EAD1E96-0B55-4CAA-8D29-18ABD09CCCB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93442F"/>
          </a:solidFill>
          <a:ln xmlns:a="http://schemas.openxmlformats.org/drawingml/2006/main" w="0">
            <a:noFill/>
            <a:prstDash val="solid"/>
          </a:ln>
        </p:spPr>
      </p:sp>
      <p:sp>
        <p:nvSpPr>
          <p:cNvPr id="2" name="footer-module-4">
            <a:extLst xmlns:a="http://schemas.openxmlformats.org/drawingml/2006/main">
              <a:ext uri="{FF2B5EF4-FFF2-40B4-BE49-F238E27FC236}">
                <a16:creationId xmlns:a16="http://schemas.microsoft.com/office/drawing/2014/main" id="{37E0BABD-1F1D-48FF-8064-A205E55DD529}"/>
              </a:ext>
            </a:extLst>
          </p:cNvPr>
          <p:cNvSpPr>
            <a:spLocks xmlns:a="http://schemas.openxmlformats.org/drawingml/2006/main" noGrp="1"/>
          </p:cNvSpPr>
          <p:nvPr/>
        </p:nvSpPr>
        <p:spPr>
          <a:xfrm xmlns:a="http://schemas.openxmlformats.org/drawingml/2006/main">
            <a:off x="533400" y="6505575"/>
            <a:ext cx="63817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3645B"/>
                </a:solidFill>
                <a:latin typeface="Aptos"/>
                <a:ea typeface="Aptos"/>
                <a:cs typeface="Aptos"/>
              </a:defRPr>
            </a:pPr>
            <a:r>
              <a:rPr sz="1050" b="1">
                <a:solidFill>
                  <a:srgbClr val="53645B"/>
                </a:solidFill>
                <a:latin typeface="Aptos"/>
                <a:ea typeface="Aptos"/>
                <a:cs typeface="Aptos"/>
              </a:rPr>
              <a:t>YEAR 9 FOOD IN AUSTRALIA  •  MODULE 05</a:t>
            </a:r>
          </a:p>
        </p:txBody>
      </p:sp>
      <p:sp>
        <p:nvSpPr>
          <p:cNvPr id="3" name="footer-page-4">
            <a:extLst xmlns:a="http://schemas.openxmlformats.org/drawingml/2006/main">
              <a:ext uri="{FF2B5EF4-FFF2-40B4-BE49-F238E27FC236}">
                <a16:creationId xmlns:a16="http://schemas.microsoft.com/office/drawing/2014/main" id="{2EA6BB3C-634B-4733-A0B3-F08F2EE05819}"/>
              </a:ext>
            </a:extLst>
          </p:cNvPr>
          <p:cNvSpPr>
            <a:spLocks xmlns:a="http://schemas.openxmlformats.org/drawingml/2006/main" noGrp="1"/>
          </p:cNvSpPr>
          <p:nvPr/>
        </p:nvSpPr>
        <p:spPr>
          <a:xfrm xmlns:a="http://schemas.openxmlformats.org/drawingml/2006/main">
            <a:off x="11144250" y="648652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1">
                <a:solidFill>
                  <a:srgbClr val="53645B"/>
                </a:solidFill>
                <a:latin typeface="Aptos"/>
                <a:ea typeface="Aptos"/>
                <a:cs typeface="Aptos"/>
              </a:defRPr>
            </a:pPr>
            <a:r>
              <a:rPr sz="1050" b="1">
                <a:solidFill>
                  <a:srgbClr val="53645B"/>
                </a:solidFill>
                <a:latin typeface="Aptos"/>
                <a:ea typeface="Aptos"/>
                <a:cs typeface="Aptos"/>
              </a:rPr>
              <a:t>04</a:t>
            </a:r>
          </a:p>
        </p:txBody>
      </p:sp>
      <p:sp>
        <p:nvSpPr>
          <p:cNvPr id="4" name="section-label-4">
            <a:extLst xmlns:a="http://schemas.openxmlformats.org/drawingml/2006/main">
              <a:ext uri="{FF2B5EF4-FFF2-40B4-BE49-F238E27FC236}">
                <a16:creationId xmlns:a16="http://schemas.microsoft.com/office/drawing/2014/main" id="{B2718E74-00CA-42EA-B15C-D574A1A34C56}"/>
              </a:ext>
            </a:extLst>
          </p:cNvPr>
          <p:cNvSpPr>
            <a:spLocks xmlns:a="http://schemas.openxmlformats.org/drawingml/2006/main" noGrp="1"/>
          </p:cNvSpPr>
          <p:nvPr/>
        </p:nvSpPr>
        <p:spPr>
          <a:xfrm xmlns:a="http://schemas.openxmlformats.org/drawingml/2006/main">
            <a:off x="533400" y="304800"/>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93442F"/>
                </a:solidFill>
                <a:latin typeface="Aptos"/>
                <a:ea typeface="Aptos"/>
                <a:cs typeface="Aptos"/>
              </a:defRPr>
            </a:pPr>
            <a:r>
              <a:rPr sz="1275" b="1">
                <a:solidFill>
                  <a:srgbClr val="93442F"/>
                </a:solidFill>
                <a:latin typeface="Aptos"/>
                <a:ea typeface="Aptos"/>
                <a:cs typeface="Aptos"/>
              </a:rPr>
              <a:t>IDEA 2 · M05-S02</a:t>
            </a:r>
          </a:p>
        </p:txBody>
      </p:sp>
      <p:sp>
        <p:nvSpPr>
          <p:cNvPr id="5" name="slide-title-4">
            <a:extLst xmlns:a="http://schemas.openxmlformats.org/drawingml/2006/main">
              <a:ext uri="{FF2B5EF4-FFF2-40B4-BE49-F238E27FC236}">
                <a16:creationId xmlns:a16="http://schemas.microsoft.com/office/drawing/2014/main" id="{397D1CB2-BC66-426F-B726-E496D494A6A6}"/>
              </a:ext>
            </a:extLst>
          </p:cNvPr>
          <p:cNvSpPr>
            <a:spLocks xmlns:a="http://schemas.openxmlformats.org/drawingml/2006/main" noGrp="1"/>
          </p:cNvSpPr>
          <p:nvPr/>
        </p:nvSpPr>
        <p:spPr>
          <a:xfrm xmlns:a="http://schemas.openxmlformats.org/drawingml/2006/main">
            <a:off x="533400" y="638175"/>
            <a:ext cx="11087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231E"/>
                </a:solidFill>
                <a:latin typeface="Aptos Display"/>
                <a:ea typeface="Aptos Display"/>
                <a:cs typeface="Aptos Display"/>
              </a:defRPr>
            </a:pPr>
            <a:r>
              <a:rPr sz="3600" b="1">
                <a:solidFill>
                  <a:srgbClr val="17231E"/>
                </a:solidFill>
                <a:latin typeface="Aptos Display"/>
                <a:ea typeface="Aptos Display"/>
                <a:cs typeface="Aptos Display"/>
              </a:rPr>
              <a:t>Settler food constraints and technology</a:t>
            </a:r>
          </a:p>
        </p:txBody>
      </p:sp>
      <p:sp>
        <p:nvSpPr>
          <p:cNvPr id="6" name="idea-2-body">
            <a:extLst xmlns:a="http://schemas.openxmlformats.org/drawingml/2006/main">
              <a:ext uri="{FF2B5EF4-FFF2-40B4-BE49-F238E27FC236}">
                <a16:creationId xmlns:a16="http://schemas.microsoft.com/office/drawing/2014/main" id="{BA21AD60-5FA1-4ADF-93F9-BF578B28A8AE}"/>
              </a:ext>
            </a:extLst>
          </p:cNvPr>
          <p:cNvSpPr>
            <a:spLocks xmlns:a="http://schemas.openxmlformats.org/drawingml/2006/main" noGrp="1"/>
          </p:cNvSpPr>
          <p:nvPr/>
        </p:nvSpPr>
        <p:spPr>
          <a:xfrm xmlns:a="http://schemas.openxmlformats.org/drawingml/2006/main">
            <a:off x="533400" y="1685925"/>
            <a:ext cx="4686300" cy="2324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a:solidFill>
                  <a:srgbClr val="17231E"/>
                </a:solidFill>
                <a:latin typeface="Aptos"/>
                <a:ea typeface="Aptos"/>
                <a:cs typeface="Aptos"/>
              </a:defRPr>
            </a:pPr>
            <a:r>
              <a:rPr sz="1875" b="0">
                <a:solidFill>
                  <a:srgbClr val="17231E"/>
                </a:solidFill>
                <a:latin typeface="Aptos"/>
                <a:ea typeface="Aptos"/>
                <a:cs typeface="Aptos"/>
              </a:rPr>
              <a:t>Settler food patterns depended on access, preservation, transport, storage, cost and technology. Judge a technology by the constraint it addressed, its system effect, who benefited and the trade-offs—not by novelty alone.</a:t>
            </a:r>
          </a:p>
        </p:txBody>
      </p:sp>
      <p:sp>
        <p:nvSpPr>
          <p:cNvPr id="7" name="idea-2-notice-band">
            <a:extLst xmlns:a="http://schemas.openxmlformats.org/drawingml/2006/main">
              <a:ext uri="{FF2B5EF4-FFF2-40B4-BE49-F238E27FC236}">
                <a16:creationId xmlns:a16="http://schemas.microsoft.com/office/drawing/2014/main" id="{3F7A2E8C-8C80-4FDA-A443-2075AE72ADCF}"/>
              </a:ext>
            </a:extLst>
          </p:cNvPr>
          <p:cNvSpPr>
            <a:spLocks xmlns:a="http://schemas.openxmlformats.org/drawingml/2006/main" noGrp="1"/>
          </p:cNvSpPr>
          <p:nvPr/>
        </p:nvSpPr>
        <p:spPr>
          <a:xfrm xmlns:a="http://schemas.openxmlformats.org/drawingml/2006/main">
            <a:off x="533400" y="4391025"/>
            <a:ext cx="4686300" cy="1162050"/>
          </a:xfrm>
          <a:prstGeom xmlns:a="http://schemas.openxmlformats.org/drawingml/2006/main" prst="roundRect">
            <a:avLst>
              <a:gd name="adj" fmla="val 9836"/>
            </a:avLst>
          </a:prstGeom>
          <a:solidFill xmlns:a="http://schemas.openxmlformats.org/drawingml/2006/main">
            <a:srgbClr val="EEF3EF"/>
          </a:solidFill>
          <a:ln xmlns:a="http://schemas.openxmlformats.org/drawingml/2006/main" w="9525">
            <a:solidFill>
              <a:srgbClr val="CDD5CF"/>
            </a:solidFill>
            <a:prstDash val="solid"/>
          </a:ln>
        </p:spPr>
      </p:sp>
      <p:sp>
        <p:nvSpPr>
          <p:cNvPr id="8" name="idea-2-notice">
            <a:extLst xmlns:a="http://schemas.openxmlformats.org/drawingml/2006/main">
              <a:ext uri="{FF2B5EF4-FFF2-40B4-BE49-F238E27FC236}">
                <a16:creationId xmlns:a16="http://schemas.microsoft.com/office/drawing/2014/main" id="{041767AA-5A86-4A56-B11B-86B5B65FA51C}"/>
              </a:ext>
            </a:extLst>
          </p:cNvPr>
          <p:cNvSpPr>
            <a:spLocks xmlns:a="http://schemas.openxmlformats.org/drawingml/2006/main" noGrp="1"/>
          </p:cNvSpPr>
          <p:nvPr/>
        </p:nvSpPr>
        <p:spPr>
          <a:xfrm xmlns:a="http://schemas.openxmlformats.org/drawingml/2006/main">
            <a:off x="762000" y="4591050"/>
            <a:ext cx="4229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075"/>
          </a:bodyPr>
          <a:lstStyle xmlns:a="http://schemas.openxmlformats.org/drawingml/2006/main"/>
          <a:p xmlns:a="http://schemas.openxmlformats.org/drawingml/2006/main">
            <a:pPr algn="l">
              <a:defRPr sz="1650" b="1">
                <a:solidFill>
                  <a:srgbClr val="154332"/>
                </a:solidFill>
                <a:latin typeface="Aptos"/>
                <a:ea typeface="Aptos"/>
                <a:cs typeface="Aptos"/>
              </a:defRPr>
            </a:pPr>
            <a:r>
              <a:rPr sz="1650" b="1">
                <a:solidFill>
                  <a:srgbClr val="154332"/>
                </a:solidFill>
                <a:latin typeface="Aptos"/>
                <a:ea typeface="Aptos"/>
                <a:cs typeface="Aptos"/>
              </a:rPr>
              <a:t>Notice: Choose one food and trace how processing, preservation, transport or storage could change access. What trade-off would need evidence?</a:t>
            </a:r>
          </a:p>
        </p:txBody>
      </p:sp>
      <p:sp>
        <p:nvSpPr>
          <p:cNvPr id="9" name="idea-2-visual-frame">
            <a:extLst xmlns:a="http://schemas.openxmlformats.org/drawingml/2006/main">
              <a:ext uri="{FF2B5EF4-FFF2-40B4-BE49-F238E27FC236}">
                <a16:creationId xmlns:a16="http://schemas.microsoft.com/office/drawing/2014/main" id="{452A78B2-5E42-4873-95B7-19CBA7E35D33}"/>
              </a:ext>
            </a:extLst>
          </p:cNvPr>
          <p:cNvSpPr>
            <a:spLocks xmlns:a="http://schemas.openxmlformats.org/drawingml/2006/main" noGrp="1"/>
          </p:cNvSpPr>
          <p:nvPr/>
        </p:nvSpPr>
        <p:spPr>
          <a:xfrm xmlns:a="http://schemas.openxmlformats.org/drawingml/2006/main">
            <a:off x="5715000" y="1524000"/>
            <a:ext cx="5848350" cy="4076700"/>
          </a:xfrm>
          <a:prstGeom xmlns:a="http://schemas.openxmlformats.org/drawingml/2006/main" prst="roundRect">
            <a:avLst>
              <a:gd name="adj" fmla="val 3738"/>
            </a:avLst>
          </a:prstGeom>
          <a:solidFill xmlns:a="http://schemas.openxmlformats.org/drawingml/2006/main">
            <a:srgbClr val="FFFFFF"/>
          </a:solidFill>
          <a:ln xmlns:a="http://schemas.openxmlformats.org/drawingml/2006/main" w="9525">
            <a:solidFill>
              <a:srgbClr val="CDD5CF"/>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f76dcdfe5b0f4fdb"/>
          <a:srcRect xmlns:a="http://schemas.openxmlformats.org/drawingml/2006/main" l="1905" t="0" r="1905" b="0"/>
          <a:stretch xmlns:a="http://schemas.openxmlformats.org/drawingml/2006/main">
            <a:fillRect l="0" t="0" r="0" b="0"/>
          </a:stretch>
        </p:blipFill>
        <p:spPr>
          <a:xfrm xmlns:a="http://schemas.openxmlformats.org/drawingml/2006/main">
            <a:off x="5753100" y="1562100"/>
            <a:ext cx="5772150" cy="4000500"/>
          </a:xfrm>
          <a:prstGeom xmlns:a="http://schemas.openxmlformats.org/drawingml/2006/main" prst="roundRect">
            <a:avLst>
              <a:gd name="adj" fmla="val 2857"/>
            </a:avLst>
          </a:prstGeom>
        </p:spPr>
      </p:pic>
      <p:sp>
        <p:nvSpPr>
          <p:cNvPr id="11" name="idea-2-visual-caption">
            <a:extLst xmlns:a="http://schemas.openxmlformats.org/drawingml/2006/main">
              <a:ext uri="{FF2B5EF4-FFF2-40B4-BE49-F238E27FC236}">
                <a16:creationId xmlns:a16="http://schemas.microsoft.com/office/drawing/2014/main" id="{8F1B6111-1861-4FFB-BC36-4B69A09A1A97}"/>
              </a:ext>
            </a:extLst>
          </p:cNvPr>
          <p:cNvSpPr>
            <a:spLocks xmlns:a="http://schemas.openxmlformats.org/drawingml/2006/main" noGrp="1"/>
          </p:cNvSpPr>
          <p:nvPr/>
        </p:nvSpPr>
        <p:spPr>
          <a:xfrm xmlns:a="http://schemas.openxmlformats.org/drawingml/2006/main">
            <a:off x="5753100" y="5657850"/>
            <a:ext cx="5772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3645B"/>
                </a:solidFill>
                <a:latin typeface="Aptos"/>
                <a:ea typeface="Aptos"/>
                <a:cs typeface="Aptos"/>
              </a:defRPr>
            </a:pPr>
            <a:r>
              <a:rPr sz="1125" b="0">
                <a:solidFill>
                  <a:srgbClr val="53645B"/>
                </a:solidFill>
                <a:latin typeface="Aptos"/>
                <a:ea typeface="Aptos"/>
                <a:cs typeface="Aptos"/>
              </a:rPr>
              <a:t>Food access is shaped by a connected system; technology can change more than one point and can introduce trade-offs.</a:t>
            </a:r>
          </a:p>
        </p:txBody>
      </p:sp>
    </p:spTree>
    <p:extLst>
      <p:ext uri="{BB962C8B-B14F-4D97-AF65-F5344CB8AC3E}">
        <p14:creationId xmlns:p14="http://schemas.microsoft.com/office/powerpoint/2010/main" val="2110285074"/>
      </p:ext>
    </p:extLst>
  </p:cSld>
</p:sld>
</file>

<file path=ppt/slides/slide5.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2" name="top-accent-5">
            <a:extLst xmlns:a="http://schemas.openxmlformats.org/drawingml/2006/main">
              <a:ext uri="{FF2B5EF4-FFF2-40B4-BE49-F238E27FC236}">
                <a16:creationId xmlns:a16="http://schemas.microsoft.com/office/drawing/2014/main" id="{44B24F99-F3C5-43CD-87FB-C230E31332F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93442F"/>
          </a:solidFill>
          <a:ln xmlns:a="http://schemas.openxmlformats.org/drawingml/2006/main" w="0">
            <a:noFill/>
            <a:prstDash val="solid"/>
          </a:ln>
        </p:spPr>
      </p:sp>
      <p:sp>
        <p:nvSpPr>
          <p:cNvPr id="2" name="footer-module-5">
            <a:extLst xmlns:a="http://schemas.openxmlformats.org/drawingml/2006/main">
              <a:ext uri="{FF2B5EF4-FFF2-40B4-BE49-F238E27FC236}">
                <a16:creationId xmlns:a16="http://schemas.microsoft.com/office/drawing/2014/main" id="{06AE5EC7-5210-4812-9DAB-340BEB8D9872}"/>
              </a:ext>
            </a:extLst>
          </p:cNvPr>
          <p:cNvSpPr>
            <a:spLocks xmlns:a="http://schemas.openxmlformats.org/drawingml/2006/main" noGrp="1"/>
          </p:cNvSpPr>
          <p:nvPr/>
        </p:nvSpPr>
        <p:spPr>
          <a:xfrm xmlns:a="http://schemas.openxmlformats.org/drawingml/2006/main">
            <a:off x="533400" y="6505575"/>
            <a:ext cx="63817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3645B"/>
                </a:solidFill>
                <a:latin typeface="Aptos"/>
                <a:ea typeface="Aptos"/>
                <a:cs typeface="Aptos"/>
              </a:defRPr>
            </a:pPr>
            <a:r>
              <a:rPr sz="1050" b="1">
                <a:solidFill>
                  <a:srgbClr val="53645B"/>
                </a:solidFill>
                <a:latin typeface="Aptos"/>
                <a:ea typeface="Aptos"/>
                <a:cs typeface="Aptos"/>
              </a:rPr>
              <a:t>YEAR 9 FOOD IN AUSTRALIA  •  MODULE 05</a:t>
            </a:r>
          </a:p>
        </p:txBody>
      </p:sp>
      <p:sp>
        <p:nvSpPr>
          <p:cNvPr id="3" name="footer-page-5">
            <a:extLst xmlns:a="http://schemas.openxmlformats.org/drawingml/2006/main">
              <a:ext uri="{FF2B5EF4-FFF2-40B4-BE49-F238E27FC236}">
                <a16:creationId xmlns:a16="http://schemas.microsoft.com/office/drawing/2014/main" id="{E653FA73-D8D9-4BAB-98D6-C3BB9A27A1D8}"/>
              </a:ext>
            </a:extLst>
          </p:cNvPr>
          <p:cNvSpPr>
            <a:spLocks xmlns:a="http://schemas.openxmlformats.org/drawingml/2006/main" noGrp="1"/>
          </p:cNvSpPr>
          <p:nvPr/>
        </p:nvSpPr>
        <p:spPr>
          <a:xfrm xmlns:a="http://schemas.openxmlformats.org/drawingml/2006/main">
            <a:off x="11144250" y="648652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1">
                <a:solidFill>
                  <a:srgbClr val="53645B"/>
                </a:solidFill>
                <a:latin typeface="Aptos"/>
                <a:ea typeface="Aptos"/>
                <a:cs typeface="Aptos"/>
              </a:defRPr>
            </a:pPr>
            <a:r>
              <a:rPr sz="1050" b="1">
                <a:solidFill>
                  <a:srgbClr val="53645B"/>
                </a:solidFill>
                <a:latin typeface="Aptos"/>
                <a:ea typeface="Aptos"/>
                <a:cs typeface="Aptos"/>
              </a:rPr>
              <a:t>05</a:t>
            </a:r>
          </a:p>
        </p:txBody>
      </p:sp>
      <p:sp>
        <p:nvSpPr>
          <p:cNvPr id="4" name="section-label-5">
            <a:extLst xmlns:a="http://schemas.openxmlformats.org/drawingml/2006/main">
              <a:ext uri="{FF2B5EF4-FFF2-40B4-BE49-F238E27FC236}">
                <a16:creationId xmlns:a16="http://schemas.microsoft.com/office/drawing/2014/main" id="{C642D222-322E-4F7E-8D37-29D9E978A257}"/>
              </a:ext>
            </a:extLst>
          </p:cNvPr>
          <p:cNvSpPr>
            <a:spLocks xmlns:a="http://schemas.openxmlformats.org/drawingml/2006/main" noGrp="1"/>
          </p:cNvSpPr>
          <p:nvPr/>
        </p:nvSpPr>
        <p:spPr>
          <a:xfrm xmlns:a="http://schemas.openxmlformats.org/drawingml/2006/main">
            <a:off x="533400" y="304800"/>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93442F"/>
                </a:solidFill>
                <a:latin typeface="Aptos"/>
                <a:ea typeface="Aptos"/>
                <a:cs typeface="Aptos"/>
              </a:defRPr>
            </a:pPr>
            <a:r>
              <a:rPr sz="1275" b="1">
                <a:solidFill>
                  <a:srgbClr val="93442F"/>
                </a:solidFill>
                <a:latin typeface="Aptos"/>
                <a:ea typeface="Aptos"/>
                <a:cs typeface="Aptos"/>
              </a:rPr>
              <a:t>IDEA 3 · M05-S03</a:t>
            </a:r>
          </a:p>
        </p:txBody>
      </p:sp>
      <p:sp>
        <p:nvSpPr>
          <p:cNvPr id="5" name="slide-title-5">
            <a:extLst xmlns:a="http://schemas.openxmlformats.org/drawingml/2006/main">
              <a:ext uri="{FF2B5EF4-FFF2-40B4-BE49-F238E27FC236}">
                <a16:creationId xmlns:a16="http://schemas.microsoft.com/office/drawing/2014/main" id="{81C19D85-C852-4726-B715-B1C76F678705}"/>
              </a:ext>
            </a:extLst>
          </p:cNvPr>
          <p:cNvSpPr>
            <a:spLocks xmlns:a="http://schemas.openxmlformats.org/drawingml/2006/main" noGrp="1"/>
          </p:cNvSpPr>
          <p:nvPr/>
        </p:nvSpPr>
        <p:spPr>
          <a:xfrm xmlns:a="http://schemas.openxmlformats.org/drawingml/2006/main">
            <a:off x="533400" y="638175"/>
            <a:ext cx="11087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231E"/>
                </a:solidFill>
                <a:latin typeface="Aptos Display"/>
                <a:ea typeface="Aptos Display"/>
                <a:cs typeface="Aptos Display"/>
              </a:defRPr>
            </a:pPr>
            <a:r>
              <a:rPr sz="3600" b="1">
                <a:solidFill>
                  <a:srgbClr val="17231E"/>
                </a:solidFill>
                <a:latin typeface="Aptos Display"/>
                <a:ea typeface="Aptos Display"/>
                <a:cs typeface="Aptos Display"/>
              </a:rPr>
              <a:t>Migration changed Australian food habits</a:t>
            </a:r>
          </a:p>
        </p:txBody>
      </p:sp>
      <p:sp>
        <p:nvSpPr>
          <p:cNvPr id="6" name="idea-3-body">
            <a:extLst xmlns:a="http://schemas.openxmlformats.org/drawingml/2006/main">
              <a:ext uri="{FF2B5EF4-FFF2-40B4-BE49-F238E27FC236}">
                <a16:creationId xmlns:a16="http://schemas.microsoft.com/office/drawing/2014/main" id="{78BB8AAD-E35A-472B-9A28-80EDCD088BE1}"/>
              </a:ext>
            </a:extLst>
          </p:cNvPr>
          <p:cNvSpPr>
            <a:spLocks xmlns:a="http://schemas.openxmlformats.org/drawingml/2006/main" noGrp="1"/>
          </p:cNvSpPr>
          <p:nvPr/>
        </p:nvSpPr>
        <p:spPr>
          <a:xfrm xmlns:a="http://schemas.openxmlformats.org/drawingml/2006/main">
            <a:off x="533400" y="1571625"/>
            <a:ext cx="4476750" cy="2428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a:solidFill>
                  <a:srgbClr val="17231E"/>
                </a:solidFill>
                <a:latin typeface="Aptos"/>
                <a:ea typeface="Aptos"/>
                <a:cs typeface="Aptos"/>
              </a:defRPr>
            </a:pPr>
            <a:r>
              <a:rPr sz="1875" b="0">
                <a:solidFill>
                  <a:srgbClr val="17231E"/>
                </a:solidFill>
                <a:latin typeface="Aptos"/>
                <a:ea typeface="Aptos"/>
                <a:cs typeface="Aptos"/>
              </a:rPr>
              <a:t>Migration changes food habits through people, knowledge, ingredients, businesses and adaptation. Explain the pathway, acknowledge origins and variation, and avoid reducing a culture to a famous dish.</a:t>
            </a:r>
          </a:p>
        </p:txBody>
      </p:sp>
      <p:sp>
        <p:nvSpPr>
          <p:cNvPr id="7" name="idea-3-decision-band">
            <a:extLst xmlns:a="http://schemas.openxmlformats.org/drawingml/2006/main">
              <a:ext uri="{FF2B5EF4-FFF2-40B4-BE49-F238E27FC236}">
                <a16:creationId xmlns:a16="http://schemas.microsoft.com/office/drawing/2014/main" id="{F43D5BDF-2FDB-436E-8FF9-FDC2A5544517}"/>
              </a:ext>
            </a:extLst>
          </p:cNvPr>
          <p:cNvSpPr>
            <a:spLocks xmlns:a="http://schemas.openxmlformats.org/drawingml/2006/main" noGrp="1"/>
          </p:cNvSpPr>
          <p:nvPr/>
        </p:nvSpPr>
        <p:spPr>
          <a:xfrm xmlns:a="http://schemas.openxmlformats.org/drawingml/2006/main">
            <a:off x="533400" y="4324350"/>
            <a:ext cx="4476750" cy="1200150"/>
          </a:xfrm>
          <a:prstGeom xmlns:a="http://schemas.openxmlformats.org/drawingml/2006/main" prst="roundRect">
            <a:avLst>
              <a:gd name="adj" fmla="val 9524"/>
            </a:avLst>
          </a:prstGeom>
          <a:solidFill xmlns:a="http://schemas.openxmlformats.org/drawingml/2006/main">
            <a:srgbClr val="154332"/>
          </a:solidFill>
          <a:ln xmlns:a="http://schemas.openxmlformats.org/drawingml/2006/main" w="0">
            <a:noFill/>
            <a:prstDash val="solid"/>
          </a:ln>
        </p:spPr>
      </p:sp>
      <p:sp>
        <p:nvSpPr>
          <p:cNvPr id="8" name="idea-3-decision">
            <a:extLst xmlns:a="http://schemas.openxmlformats.org/drawingml/2006/main">
              <a:ext uri="{FF2B5EF4-FFF2-40B4-BE49-F238E27FC236}">
                <a16:creationId xmlns:a16="http://schemas.microsoft.com/office/drawing/2014/main" id="{B5855E24-2612-4C8D-8FE0-AEFD59F81888}"/>
              </a:ext>
            </a:extLst>
          </p:cNvPr>
          <p:cNvSpPr>
            <a:spLocks xmlns:a="http://schemas.openxmlformats.org/drawingml/2006/main" noGrp="1"/>
          </p:cNvSpPr>
          <p:nvPr/>
        </p:nvSpPr>
        <p:spPr>
          <a:xfrm xmlns:a="http://schemas.openxmlformats.org/drawingml/2006/main">
            <a:off x="762000" y="4514850"/>
            <a:ext cx="40195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333"/>
          </a:bodyPr>
          <a:lstStyle xmlns:a="http://schemas.openxmlformats.org/drawingml/2006/main"/>
          <a:p xmlns:a="http://schemas.openxmlformats.org/drawingml/2006/main">
            <a:pPr algn="l">
              <a:defRPr sz="1650" b="1">
                <a:solidFill>
                  <a:srgbClr val="FFFFFF"/>
                </a:solidFill>
                <a:latin typeface="Aptos"/>
                <a:ea typeface="Aptos"/>
                <a:cs typeface="Aptos"/>
              </a:defRPr>
            </a:pPr>
            <a:r>
              <a:rPr sz="1650" b="1">
                <a:solidFill>
                  <a:srgbClr val="FFFFFF"/>
                </a:solidFill>
                <a:latin typeface="Aptos"/>
                <a:ea typeface="Aptos"/>
                <a:cs typeface="Aptos"/>
              </a:rPr>
              <a:t>Notice: Which ingredients could move through many home, Community and business settings? Why can ingredients alone not represent a culture or migration story?</a:t>
            </a:r>
          </a:p>
        </p:txBody>
      </p:sp>
      <p:sp>
        <p:nvSpPr>
          <p:cNvPr id="9" name="idea-3-visual-frame">
            <a:extLst xmlns:a="http://schemas.openxmlformats.org/drawingml/2006/main">
              <a:ext uri="{FF2B5EF4-FFF2-40B4-BE49-F238E27FC236}">
                <a16:creationId xmlns:a16="http://schemas.microsoft.com/office/drawing/2014/main" id="{4FC70578-CD1D-4774-8048-D8FC24078F38}"/>
              </a:ext>
            </a:extLst>
          </p:cNvPr>
          <p:cNvSpPr>
            <a:spLocks xmlns:a="http://schemas.openxmlformats.org/drawingml/2006/main" noGrp="1"/>
          </p:cNvSpPr>
          <p:nvPr/>
        </p:nvSpPr>
        <p:spPr>
          <a:xfrm xmlns:a="http://schemas.openxmlformats.org/drawingml/2006/main">
            <a:off x="5505450" y="1524000"/>
            <a:ext cx="6057900" cy="4038600"/>
          </a:xfrm>
          <a:prstGeom xmlns:a="http://schemas.openxmlformats.org/drawingml/2006/main" prst="roundRect">
            <a:avLst>
              <a:gd name="adj" fmla="val 3774"/>
            </a:avLst>
          </a:prstGeom>
          <a:solidFill xmlns:a="http://schemas.openxmlformats.org/drawingml/2006/main">
            <a:srgbClr val="FFFFFF"/>
          </a:solidFill>
          <a:ln xmlns:a="http://schemas.openxmlformats.org/drawingml/2006/main" w="9525">
            <a:solidFill>
              <a:srgbClr val="CDD5CF"/>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9b6efe8520ec4599"/>
          <a:srcRect xmlns:a="http://schemas.openxmlformats.org/drawingml/2006/main" l="0" t="318" r="0" b="318"/>
          <a:stretch xmlns:a="http://schemas.openxmlformats.org/drawingml/2006/main">
            <a:fillRect l="0" t="0" r="0" b="0"/>
          </a:stretch>
        </p:blipFill>
        <p:spPr>
          <a:xfrm xmlns:a="http://schemas.openxmlformats.org/drawingml/2006/main">
            <a:off x="5543550" y="1562100"/>
            <a:ext cx="5981700" cy="3962400"/>
          </a:xfrm>
          <a:prstGeom xmlns:a="http://schemas.openxmlformats.org/drawingml/2006/main" prst="roundRect">
            <a:avLst>
              <a:gd name="adj" fmla="val 2885"/>
            </a:avLst>
          </a:prstGeom>
        </p:spPr>
      </p:pic>
      <p:sp>
        <p:nvSpPr>
          <p:cNvPr id="11" name="idea-3-visual-caption">
            <a:extLst xmlns:a="http://schemas.openxmlformats.org/drawingml/2006/main">
              <a:ext uri="{FF2B5EF4-FFF2-40B4-BE49-F238E27FC236}">
                <a16:creationId xmlns:a16="http://schemas.microsoft.com/office/drawing/2014/main" id="{7256519C-4915-4A94-A3AE-FF5454D86208}"/>
              </a:ext>
            </a:extLst>
          </p:cNvPr>
          <p:cNvSpPr>
            <a:spLocks xmlns:a="http://schemas.openxmlformats.org/drawingml/2006/main" noGrp="1"/>
          </p:cNvSpPr>
          <p:nvPr/>
        </p:nvSpPr>
        <p:spPr>
          <a:xfrm xmlns:a="http://schemas.openxmlformats.org/drawingml/2006/main">
            <a:off x="5543550" y="5619750"/>
            <a:ext cx="5981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3645B"/>
                </a:solidFill>
                <a:latin typeface="Aptos"/>
                <a:ea typeface="Aptos"/>
                <a:cs typeface="Aptos"/>
              </a:defRPr>
            </a:pPr>
            <a:r>
              <a:rPr sz="1125" b="0">
                <a:solidFill>
                  <a:srgbClr val="53645B"/>
                </a:solidFill>
                <a:latin typeface="Aptos"/>
                <a:ea typeface="Aptos"/>
                <a:cs typeface="Aptos"/>
              </a:rPr>
              <a:t>Contemporary food habits overlap and adapt; an ingredient table can show variety, but it cannot represent a culture by itself.</a:t>
            </a:r>
          </a:p>
        </p:txBody>
      </p:sp>
    </p:spTree>
    <p:extLst>
      <p:ext uri="{BB962C8B-B14F-4D97-AF65-F5344CB8AC3E}">
        <p14:creationId xmlns:p14="http://schemas.microsoft.com/office/powerpoint/2010/main" val="1270800812"/>
      </p:ext>
    </p:extLst>
  </p:cSld>
</p:sld>
</file>

<file path=ppt/slides/slide6.xml><?xml version="1.0" encoding="utf-8"?>
<p:sld xmlns:p="http://schemas.openxmlformats.org/presentationml/2006/main">
  <p:cSld>
    <p:bg>
      <p:bgPr>
        <a:solidFill xmlns:a="http://schemas.openxmlformats.org/drawingml/2006/main">
          <a:srgbClr val="154332"/>
        </a:solidFill>
      </p:bgPr>
    </p:bg>
    <p:spTree>
      <p:nvGrpSpPr>
        <p:cNvPr id="1" name=""/>
        <p:cNvGrpSpPr/>
        <p:nvPr/>
      </p:nvGrpSpPr>
      <p:grpSpPr>
        <a:xfrm xmlns:a="http://schemas.openxmlformats.org/drawingml/2006/main"/>
      </p:grpSpPr>
      <p:sp>
        <p:nvSpPr>
          <p:cNvPr id="21" name="top-accent-6">
            <a:extLst xmlns:a="http://schemas.openxmlformats.org/drawingml/2006/main">
              <a:ext uri="{FF2B5EF4-FFF2-40B4-BE49-F238E27FC236}">
                <a16:creationId xmlns:a16="http://schemas.microsoft.com/office/drawing/2014/main" id="{6BC6952C-BFEB-4062-AB30-F24BFE10F4B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93442F"/>
          </a:solidFill>
          <a:ln xmlns:a="http://schemas.openxmlformats.org/drawingml/2006/main" w="0">
            <a:noFill/>
            <a:prstDash val="solid"/>
          </a:ln>
        </p:spPr>
      </p:sp>
      <p:sp>
        <p:nvSpPr>
          <p:cNvPr id="2" name="footer-module-6">
            <a:extLst xmlns:a="http://schemas.openxmlformats.org/drawingml/2006/main">
              <a:ext uri="{FF2B5EF4-FFF2-40B4-BE49-F238E27FC236}">
                <a16:creationId xmlns:a16="http://schemas.microsoft.com/office/drawing/2014/main" id="{2F772776-0E7F-40CE-8CDE-B7B005E5233D}"/>
              </a:ext>
            </a:extLst>
          </p:cNvPr>
          <p:cNvSpPr>
            <a:spLocks xmlns:a="http://schemas.openxmlformats.org/drawingml/2006/main" noGrp="1"/>
          </p:cNvSpPr>
          <p:nvPr/>
        </p:nvSpPr>
        <p:spPr>
          <a:xfrm xmlns:a="http://schemas.openxmlformats.org/drawingml/2006/main">
            <a:off x="533400" y="6505575"/>
            <a:ext cx="63817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DDE9E2"/>
                </a:solidFill>
                <a:latin typeface="Aptos"/>
                <a:ea typeface="Aptos"/>
                <a:cs typeface="Aptos"/>
              </a:defRPr>
            </a:pPr>
            <a:r>
              <a:rPr sz="1050" b="1">
                <a:solidFill>
                  <a:srgbClr val="DDE9E2"/>
                </a:solidFill>
                <a:latin typeface="Aptos"/>
                <a:ea typeface="Aptos"/>
                <a:cs typeface="Aptos"/>
              </a:rPr>
              <a:t>YEAR 9 FOOD IN AUSTRALIA  •  MODULE 05</a:t>
            </a:r>
          </a:p>
        </p:txBody>
      </p:sp>
      <p:sp>
        <p:nvSpPr>
          <p:cNvPr id="3" name="footer-page-6">
            <a:extLst xmlns:a="http://schemas.openxmlformats.org/drawingml/2006/main">
              <a:ext uri="{FF2B5EF4-FFF2-40B4-BE49-F238E27FC236}">
                <a16:creationId xmlns:a16="http://schemas.microsoft.com/office/drawing/2014/main" id="{CA41C826-F6A0-4DAC-8AA0-10B1C62BBBD1}"/>
              </a:ext>
            </a:extLst>
          </p:cNvPr>
          <p:cNvSpPr>
            <a:spLocks xmlns:a="http://schemas.openxmlformats.org/drawingml/2006/main" noGrp="1"/>
          </p:cNvSpPr>
          <p:nvPr/>
        </p:nvSpPr>
        <p:spPr>
          <a:xfrm xmlns:a="http://schemas.openxmlformats.org/drawingml/2006/main">
            <a:off x="11144250" y="648652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1">
                <a:solidFill>
                  <a:srgbClr val="DDE9E2"/>
                </a:solidFill>
                <a:latin typeface="Aptos"/>
                <a:ea typeface="Aptos"/>
                <a:cs typeface="Aptos"/>
              </a:defRPr>
            </a:pPr>
            <a:r>
              <a:rPr sz="1050" b="1">
                <a:solidFill>
                  <a:srgbClr val="DDE9E2"/>
                </a:solidFill>
                <a:latin typeface="Aptos"/>
                <a:ea typeface="Aptos"/>
                <a:cs typeface="Aptos"/>
              </a:rPr>
              <a:t>06</a:t>
            </a:r>
          </a:p>
        </p:txBody>
      </p:sp>
      <p:sp>
        <p:nvSpPr>
          <p:cNvPr id="4" name="retrieve-label">
            <a:extLst xmlns:a="http://schemas.openxmlformats.org/drawingml/2006/main">
              <a:ext uri="{FF2B5EF4-FFF2-40B4-BE49-F238E27FC236}">
                <a16:creationId xmlns:a16="http://schemas.microsoft.com/office/drawing/2014/main" id="{931DAEC7-6F48-4C8F-8120-F0D45994DD8F}"/>
              </a:ext>
            </a:extLst>
          </p:cNvPr>
          <p:cNvSpPr>
            <a:spLocks xmlns:a="http://schemas.openxmlformats.org/drawingml/2006/main" noGrp="1"/>
          </p:cNvSpPr>
          <p:nvPr/>
        </p:nvSpPr>
        <p:spPr>
          <a:xfrm xmlns:a="http://schemas.openxmlformats.org/drawingml/2006/main">
            <a:off x="533400" y="352425"/>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1E5CE"/>
                </a:solidFill>
                <a:latin typeface="Aptos"/>
                <a:ea typeface="Aptos"/>
                <a:cs typeface="Aptos"/>
              </a:defRPr>
            </a:pPr>
            <a:r>
              <a:rPr sz="1275" b="1">
                <a:solidFill>
                  <a:srgbClr val="F1E5CE"/>
                </a:solidFill>
                <a:latin typeface="Aptos"/>
                <a:ea typeface="Aptos"/>
                <a:cs typeface="Aptos"/>
              </a:rPr>
              <a:t>COLONISATION, SETTLEMENT AND MIGRATION · REHEARSAL</a:t>
            </a:r>
          </a:p>
        </p:txBody>
      </p:sp>
      <p:sp>
        <p:nvSpPr>
          <p:cNvPr id="5" name="retrieve-title">
            <a:extLst xmlns:a="http://schemas.openxmlformats.org/drawingml/2006/main">
              <a:ext uri="{FF2B5EF4-FFF2-40B4-BE49-F238E27FC236}">
                <a16:creationId xmlns:a16="http://schemas.microsoft.com/office/drawing/2014/main" id="{2B16F715-6868-4AF0-8EC7-E6BB61A5AF03}"/>
              </a:ext>
            </a:extLst>
          </p:cNvPr>
          <p:cNvSpPr>
            <a:spLocks xmlns:a="http://schemas.openxmlformats.org/drawingml/2006/main" noGrp="1"/>
          </p:cNvSpPr>
          <p:nvPr/>
        </p:nvSpPr>
        <p:spPr>
          <a:xfrm xmlns:a="http://schemas.openxmlformats.org/drawingml/2006/main">
            <a:off x="533400" y="704850"/>
            <a:ext cx="685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FFFFFF"/>
                </a:solidFill>
                <a:latin typeface="Aptos Display"/>
                <a:ea typeface="Aptos Display"/>
                <a:cs typeface="Aptos Display"/>
              </a:defRPr>
            </a:pPr>
            <a:r>
              <a:rPr sz="3750" b="1">
                <a:solidFill>
                  <a:srgbClr val="FFFFFF"/>
                </a:solidFill>
                <a:latin typeface="Aptos Display"/>
                <a:ea typeface="Aptos Display"/>
                <a:cs typeface="Aptos Display"/>
              </a:rPr>
              <a:t>Stop. Think. Explain.</a:t>
            </a:r>
          </a:p>
        </p:txBody>
      </p:sp>
      <p:sp>
        <p:nvSpPr>
          <p:cNvPr id="6" name="retrieve-instruction">
            <a:extLst xmlns:a="http://schemas.openxmlformats.org/drawingml/2006/main">
              <a:ext uri="{FF2B5EF4-FFF2-40B4-BE49-F238E27FC236}">
                <a16:creationId xmlns:a16="http://schemas.microsoft.com/office/drawing/2014/main" id="{E747B167-6624-47B5-B45B-36972DC25176}"/>
              </a:ext>
            </a:extLst>
          </p:cNvPr>
          <p:cNvSpPr>
            <a:spLocks xmlns:a="http://schemas.openxmlformats.org/drawingml/2006/main" noGrp="1"/>
          </p:cNvSpPr>
          <p:nvPr/>
        </p:nvSpPr>
        <p:spPr>
          <a:xfrm xmlns:a="http://schemas.openxmlformats.org/drawingml/2006/main">
            <a:off x="533400" y="1400175"/>
            <a:ext cx="704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DDE9E2"/>
                </a:solidFill>
                <a:latin typeface="Aptos"/>
                <a:ea typeface="Aptos"/>
                <a:cs typeface="Aptos"/>
              </a:defRPr>
            </a:pPr>
            <a:r>
              <a:rPr sz="1725" b="0">
                <a:solidFill>
                  <a:srgbClr val="DDE9E2"/>
                </a:solidFill>
                <a:latin typeface="Aptos"/>
                <a:ea typeface="Aptos"/>
                <a:cs typeface="Aptos"/>
              </a:rPr>
              <a:t>Answer silently first. Then justify one response with a partner.</a:t>
            </a:r>
          </a:p>
        </p:txBody>
      </p:sp>
      <p:sp>
        <p:nvSpPr>
          <p:cNvPr id="7" name="retrieve-number-1">
            <a:extLst xmlns:a="http://schemas.openxmlformats.org/drawingml/2006/main">
              <a:ext uri="{FF2B5EF4-FFF2-40B4-BE49-F238E27FC236}">
                <a16:creationId xmlns:a16="http://schemas.microsoft.com/office/drawing/2014/main" id="{9E20EA57-1FE5-44F8-9444-20483D9472FB}"/>
              </a:ext>
            </a:extLst>
          </p:cNvPr>
          <p:cNvSpPr>
            <a:spLocks xmlns:a="http://schemas.openxmlformats.org/drawingml/2006/main" noGrp="1"/>
          </p:cNvSpPr>
          <p:nvPr/>
        </p:nvSpPr>
        <p:spPr>
          <a:xfrm xmlns:a="http://schemas.openxmlformats.org/drawingml/2006/main">
            <a:off x="619125" y="214312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F1E5CE"/>
                </a:solidFill>
                <a:latin typeface="Aptos"/>
                <a:ea typeface="Aptos"/>
                <a:cs typeface="Aptos"/>
              </a:defRPr>
            </a:pPr>
            <a:r>
              <a:rPr sz="1800" b="1">
                <a:solidFill>
                  <a:srgbClr val="F1E5CE"/>
                </a:solidFill>
                <a:latin typeface="Aptos"/>
                <a:ea typeface="Aptos"/>
                <a:cs typeface="Aptos"/>
              </a:rPr>
              <a:t>1</a:t>
            </a:r>
          </a:p>
        </p:txBody>
      </p:sp>
      <p:sp>
        <p:nvSpPr>
          <p:cNvPr id="8" name="retrieve-question-1">
            <a:extLst xmlns:a="http://schemas.openxmlformats.org/drawingml/2006/main">
              <a:ext uri="{FF2B5EF4-FFF2-40B4-BE49-F238E27FC236}">
                <a16:creationId xmlns:a16="http://schemas.microsoft.com/office/drawing/2014/main" id="{E5B83322-2A48-4F03-A944-48E4925C3B94}"/>
              </a:ext>
            </a:extLst>
          </p:cNvPr>
          <p:cNvSpPr>
            <a:spLocks xmlns:a="http://schemas.openxmlformats.org/drawingml/2006/main" noGrp="1"/>
          </p:cNvSpPr>
          <p:nvPr/>
        </p:nvSpPr>
        <p:spPr>
          <a:xfrm xmlns:a="http://schemas.openxmlformats.org/drawingml/2006/main">
            <a:off x="1143000" y="2047875"/>
            <a:ext cx="58578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FFFFFF"/>
                </a:solidFill>
                <a:latin typeface="Aptos"/>
                <a:ea typeface="Aptos"/>
                <a:cs typeface="Aptos"/>
              </a:defRPr>
            </a:pPr>
            <a:r>
              <a:rPr sz="1650" b="0">
                <a:solidFill>
                  <a:srgbClr val="FFFFFF"/>
                </a:solidFill>
                <a:latin typeface="Aptos"/>
                <a:ea typeface="Aptos"/>
                <a:cs typeface="Aptos"/>
              </a:rPr>
              <a:t>Which structure best explains a colonisation-related food-system change?</a:t>
            </a:r>
          </a:p>
        </p:txBody>
      </p:sp>
      <p:sp>
        <p:nvSpPr>
          <p:cNvPr id="9" name="retrieve-divider-1">
            <a:extLst xmlns:a="http://schemas.openxmlformats.org/drawingml/2006/main">
              <a:ext uri="{FF2B5EF4-FFF2-40B4-BE49-F238E27FC236}">
                <a16:creationId xmlns:a16="http://schemas.microsoft.com/office/drawing/2014/main" id="{869EE952-DCB2-4D53-A21A-7E2AC0324478}"/>
              </a:ext>
            </a:extLst>
          </p:cNvPr>
          <p:cNvSpPr>
            <a:spLocks xmlns:a="http://schemas.openxmlformats.org/drawingml/2006/main" noGrp="1"/>
          </p:cNvSpPr>
          <p:nvPr/>
        </p:nvSpPr>
        <p:spPr>
          <a:xfrm xmlns:a="http://schemas.openxmlformats.org/drawingml/2006/main">
            <a:off x="1143000" y="2981325"/>
            <a:ext cx="5857875" cy="0"/>
          </a:xfrm>
          <a:prstGeom xmlns:a="http://schemas.openxmlformats.org/drawingml/2006/main" prst="line">
            <a:avLst/>
          </a:prstGeom>
          <a:noFill xmlns:a="http://schemas.openxmlformats.org/drawingml/2006/main"/>
          <a:ln xmlns:a="http://schemas.openxmlformats.org/drawingml/2006/main" w="9525">
            <a:solidFill>
              <a:srgbClr val="5D7D6D"/>
            </a:solidFill>
            <a:prstDash val="solid"/>
          </a:ln>
        </p:spPr>
      </p:sp>
      <p:sp>
        <p:nvSpPr>
          <p:cNvPr id="10" name="retrieve-number-2">
            <a:extLst xmlns:a="http://schemas.openxmlformats.org/drawingml/2006/main">
              <a:ext uri="{FF2B5EF4-FFF2-40B4-BE49-F238E27FC236}">
                <a16:creationId xmlns:a16="http://schemas.microsoft.com/office/drawing/2014/main" id="{B05220E9-C284-46A0-8DD3-DCEC547E3D70}"/>
              </a:ext>
            </a:extLst>
          </p:cNvPr>
          <p:cNvSpPr>
            <a:spLocks xmlns:a="http://schemas.openxmlformats.org/drawingml/2006/main" noGrp="1"/>
          </p:cNvSpPr>
          <p:nvPr/>
        </p:nvSpPr>
        <p:spPr>
          <a:xfrm xmlns:a="http://schemas.openxmlformats.org/drawingml/2006/main">
            <a:off x="619125" y="324802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F1E5CE"/>
                </a:solidFill>
                <a:latin typeface="Aptos"/>
                <a:ea typeface="Aptos"/>
                <a:cs typeface="Aptos"/>
              </a:defRPr>
            </a:pPr>
            <a:r>
              <a:rPr sz="1800" b="1">
                <a:solidFill>
                  <a:srgbClr val="F1E5CE"/>
                </a:solidFill>
                <a:latin typeface="Aptos"/>
                <a:ea typeface="Aptos"/>
                <a:cs typeface="Aptos"/>
              </a:rPr>
              <a:t>2</a:t>
            </a:r>
          </a:p>
        </p:txBody>
      </p:sp>
      <p:sp>
        <p:nvSpPr>
          <p:cNvPr id="11" name="retrieve-question-2">
            <a:extLst xmlns:a="http://schemas.openxmlformats.org/drawingml/2006/main">
              <a:ext uri="{FF2B5EF4-FFF2-40B4-BE49-F238E27FC236}">
                <a16:creationId xmlns:a16="http://schemas.microsoft.com/office/drawing/2014/main" id="{4256D41B-7304-4FD8-AF37-5FFFB8DE47F8}"/>
              </a:ext>
            </a:extLst>
          </p:cNvPr>
          <p:cNvSpPr>
            <a:spLocks xmlns:a="http://schemas.openxmlformats.org/drawingml/2006/main" noGrp="1"/>
          </p:cNvSpPr>
          <p:nvPr/>
        </p:nvSpPr>
        <p:spPr>
          <a:xfrm xmlns:a="http://schemas.openxmlformats.org/drawingml/2006/main">
            <a:off x="1143000" y="3152775"/>
            <a:ext cx="58578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FFFFFF"/>
                </a:solidFill>
                <a:latin typeface="Aptos"/>
                <a:ea typeface="Aptos"/>
                <a:cs typeface="Aptos"/>
              </a:defRPr>
            </a:pPr>
            <a:r>
              <a:rPr sz="1650" b="0">
                <a:solidFill>
                  <a:srgbClr val="FFFFFF"/>
                </a:solidFill>
                <a:latin typeface="Aptos"/>
                <a:ea typeface="Aptos"/>
                <a:cs typeface="Aptos"/>
              </a:rPr>
              <a:t>Which analysis of a historical food technology is strongest?</a:t>
            </a:r>
          </a:p>
        </p:txBody>
      </p:sp>
      <p:sp>
        <p:nvSpPr>
          <p:cNvPr id="12" name="retrieve-divider-2">
            <a:extLst xmlns:a="http://schemas.openxmlformats.org/drawingml/2006/main">
              <a:ext uri="{FF2B5EF4-FFF2-40B4-BE49-F238E27FC236}">
                <a16:creationId xmlns:a16="http://schemas.microsoft.com/office/drawing/2014/main" id="{D1E74F19-A7F4-45E3-B3CF-300D554ADE25}"/>
              </a:ext>
            </a:extLst>
          </p:cNvPr>
          <p:cNvSpPr>
            <a:spLocks xmlns:a="http://schemas.openxmlformats.org/drawingml/2006/main" noGrp="1"/>
          </p:cNvSpPr>
          <p:nvPr/>
        </p:nvSpPr>
        <p:spPr>
          <a:xfrm xmlns:a="http://schemas.openxmlformats.org/drawingml/2006/main">
            <a:off x="1143000" y="4086225"/>
            <a:ext cx="5857875" cy="0"/>
          </a:xfrm>
          <a:prstGeom xmlns:a="http://schemas.openxmlformats.org/drawingml/2006/main" prst="line">
            <a:avLst/>
          </a:prstGeom>
          <a:noFill xmlns:a="http://schemas.openxmlformats.org/drawingml/2006/main"/>
          <a:ln xmlns:a="http://schemas.openxmlformats.org/drawingml/2006/main" w="9525">
            <a:solidFill>
              <a:srgbClr val="5D7D6D"/>
            </a:solidFill>
            <a:prstDash val="solid"/>
          </a:ln>
        </p:spPr>
      </p:sp>
      <p:sp>
        <p:nvSpPr>
          <p:cNvPr id="13" name="retrieve-number-3">
            <a:extLst xmlns:a="http://schemas.openxmlformats.org/drawingml/2006/main">
              <a:ext uri="{FF2B5EF4-FFF2-40B4-BE49-F238E27FC236}">
                <a16:creationId xmlns:a16="http://schemas.microsoft.com/office/drawing/2014/main" id="{560DF602-47D3-4EB5-A152-A6BFD08F1A72}"/>
              </a:ext>
            </a:extLst>
          </p:cNvPr>
          <p:cNvSpPr>
            <a:spLocks xmlns:a="http://schemas.openxmlformats.org/drawingml/2006/main" noGrp="1"/>
          </p:cNvSpPr>
          <p:nvPr/>
        </p:nvSpPr>
        <p:spPr>
          <a:xfrm xmlns:a="http://schemas.openxmlformats.org/drawingml/2006/main">
            <a:off x="619125" y="435292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F1E5CE"/>
                </a:solidFill>
                <a:latin typeface="Aptos"/>
                <a:ea typeface="Aptos"/>
                <a:cs typeface="Aptos"/>
              </a:defRPr>
            </a:pPr>
            <a:r>
              <a:rPr sz="1800" b="1">
                <a:solidFill>
                  <a:srgbClr val="F1E5CE"/>
                </a:solidFill>
                <a:latin typeface="Aptos"/>
                <a:ea typeface="Aptos"/>
                <a:cs typeface="Aptos"/>
              </a:rPr>
              <a:t>3</a:t>
            </a:r>
          </a:p>
        </p:txBody>
      </p:sp>
      <p:sp>
        <p:nvSpPr>
          <p:cNvPr id="14" name="retrieve-question-3">
            <a:extLst xmlns:a="http://schemas.openxmlformats.org/drawingml/2006/main">
              <a:ext uri="{FF2B5EF4-FFF2-40B4-BE49-F238E27FC236}">
                <a16:creationId xmlns:a16="http://schemas.microsoft.com/office/drawing/2014/main" id="{62527F65-6249-4860-B47C-088F370D0BF4}"/>
              </a:ext>
            </a:extLst>
          </p:cNvPr>
          <p:cNvSpPr>
            <a:spLocks xmlns:a="http://schemas.openxmlformats.org/drawingml/2006/main" noGrp="1"/>
          </p:cNvSpPr>
          <p:nvPr/>
        </p:nvSpPr>
        <p:spPr>
          <a:xfrm xmlns:a="http://schemas.openxmlformats.org/drawingml/2006/main">
            <a:off x="1143000" y="4257675"/>
            <a:ext cx="58578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FFFFFF"/>
                </a:solidFill>
                <a:latin typeface="Aptos"/>
                <a:ea typeface="Aptos"/>
                <a:cs typeface="Aptos"/>
              </a:defRPr>
            </a:pPr>
            <a:r>
              <a:rPr sz="1650" b="0">
                <a:solidFill>
                  <a:srgbClr val="FFFFFF"/>
                </a:solidFill>
                <a:latin typeface="Aptos"/>
                <a:ea typeface="Aptos"/>
                <a:cs typeface="Aptos"/>
              </a:rPr>
              <a:t>Which explanation goes beyond simply naming a migrant-associated dish?</a:t>
            </a:r>
          </a:p>
        </p:txBody>
      </p:sp>
      <p:sp>
        <p:nvSpPr>
          <p:cNvPr id="15" name="activity-panel">
            <a:extLst xmlns:a="http://schemas.openxmlformats.org/drawingml/2006/main">
              <a:ext uri="{FF2B5EF4-FFF2-40B4-BE49-F238E27FC236}">
                <a16:creationId xmlns:a16="http://schemas.microsoft.com/office/drawing/2014/main" id="{860C8018-4A23-471B-8816-5BD938A008ED}"/>
              </a:ext>
            </a:extLst>
          </p:cNvPr>
          <p:cNvSpPr>
            <a:spLocks xmlns:a="http://schemas.openxmlformats.org/drawingml/2006/main" noGrp="1"/>
          </p:cNvSpPr>
          <p:nvPr/>
        </p:nvSpPr>
        <p:spPr>
          <a:xfrm xmlns:a="http://schemas.openxmlformats.org/drawingml/2006/main">
            <a:off x="7524750" y="1866900"/>
            <a:ext cx="4095750" cy="3752850"/>
          </a:xfrm>
          <a:prstGeom xmlns:a="http://schemas.openxmlformats.org/drawingml/2006/main" prst="roundRect">
            <a:avLst>
              <a:gd name="adj" fmla="val 4061"/>
            </a:avLst>
          </a:prstGeom>
          <a:solidFill xmlns:a="http://schemas.openxmlformats.org/drawingml/2006/main">
            <a:srgbClr val="FFFDF8"/>
          </a:solidFill>
          <a:ln xmlns:a="http://schemas.openxmlformats.org/drawingml/2006/main" w="38100">
            <a:solidFill>
              <a:srgbClr val="93442F"/>
            </a:solidFill>
            <a:prstDash val="solid"/>
          </a:ln>
        </p:spPr>
      </p:sp>
      <p:sp>
        <p:nvSpPr>
          <p:cNvPr id="16" name="activity-label">
            <a:extLst xmlns:a="http://schemas.openxmlformats.org/drawingml/2006/main">
              <a:ext uri="{FF2B5EF4-FFF2-40B4-BE49-F238E27FC236}">
                <a16:creationId xmlns:a16="http://schemas.microsoft.com/office/drawing/2014/main" id="{9D4893D5-DDBE-46E2-AD95-C3AEE972F345}"/>
              </a:ext>
            </a:extLst>
          </p:cNvPr>
          <p:cNvSpPr>
            <a:spLocks xmlns:a="http://schemas.openxmlformats.org/drawingml/2006/main" noGrp="1"/>
          </p:cNvSpPr>
          <p:nvPr/>
        </p:nvSpPr>
        <p:spPr>
          <a:xfrm xmlns:a="http://schemas.openxmlformats.org/drawingml/2006/main">
            <a:off x="7810500" y="21526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93442F"/>
                </a:solidFill>
                <a:latin typeface="Aptos"/>
                <a:ea typeface="Aptos"/>
                <a:cs typeface="Aptos"/>
              </a:defRPr>
            </a:pPr>
            <a:r>
              <a:rPr sz="1275" b="1">
                <a:solidFill>
                  <a:srgbClr val="93442F"/>
                </a:solidFill>
                <a:latin typeface="Aptos"/>
                <a:ea typeface="Aptos"/>
                <a:cs typeface="Aptos"/>
              </a:rPr>
              <a:t>APPLIED LEARNING ACTIVITY</a:t>
            </a:r>
          </a:p>
        </p:txBody>
      </p:sp>
      <p:sp>
        <p:nvSpPr>
          <p:cNvPr id="17" name="activity-title">
            <a:extLst xmlns:a="http://schemas.openxmlformats.org/drawingml/2006/main">
              <a:ext uri="{FF2B5EF4-FFF2-40B4-BE49-F238E27FC236}">
                <a16:creationId xmlns:a16="http://schemas.microsoft.com/office/drawing/2014/main" id="{B68C512D-17B0-4282-BDA6-D4906CF173B6}"/>
              </a:ext>
            </a:extLst>
          </p:cNvPr>
          <p:cNvSpPr>
            <a:spLocks xmlns:a="http://schemas.openxmlformats.org/drawingml/2006/main" noGrp="1"/>
          </p:cNvSpPr>
          <p:nvPr/>
        </p:nvSpPr>
        <p:spPr>
          <a:xfrm xmlns:a="http://schemas.openxmlformats.org/drawingml/2006/main">
            <a:off x="7810500" y="2562225"/>
            <a:ext cx="342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7231E"/>
                </a:solidFill>
                <a:latin typeface="Aptos Display"/>
                <a:ea typeface="Aptos Display"/>
                <a:cs typeface="Aptos Display"/>
              </a:defRPr>
            </a:pPr>
            <a:r>
              <a:rPr sz="2325" b="1">
                <a:solidFill>
                  <a:srgbClr val="17231E"/>
                </a:solidFill>
                <a:latin typeface="Aptos Display"/>
                <a:ea typeface="Aptos Display"/>
                <a:cs typeface="Aptos Display"/>
              </a:rPr>
              <a:t>Change-pathway mapper</a:t>
            </a:r>
          </a:p>
        </p:txBody>
      </p:sp>
      <p:sp>
        <p:nvSpPr>
          <p:cNvPr id="18" name="activity-purpose">
            <a:extLst xmlns:a="http://schemas.openxmlformats.org/drawingml/2006/main">
              <a:ext uri="{FF2B5EF4-FFF2-40B4-BE49-F238E27FC236}">
                <a16:creationId xmlns:a16="http://schemas.microsoft.com/office/drawing/2014/main" id="{B3388FFC-BDFC-475C-BB19-8843FD95AD40}"/>
              </a:ext>
            </a:extLst>
          </p:cNvPr>
          <p:cNvSpPr>
            <a:spLocks xmlns:a="http://schemas.openxmlformats.org/drawingml/2006/main" noGrp="1"/>
          </p:cNvSpPr>
          <p:nvPr/>
        </p:nvSpPr>
        <p:spPr>
          <a:xfrm xmlns:a="http://schemas.openxmlformats.org/drawingml/2006/main">
            <a:off x="7810500" y="3438525"/>
            <a:ext cx="34290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53645B"/>
                </a:solidFill>
                <a:latin typeface="Aptos"/>
                <a:ea typeface="Aptos"/>
                <a:cs typeface="Aptos"/>
              </a:defRPr>
            </a:pPr>
            <a:r>
              <a:rPr sz="1650" b="0">
                <a:solidFill>
                  <a:srgbClr val="53645B"/>
                </a:solidFill>
                <a:latin typeface="Aptos"/>
                <a:ea typeface="Aptos"/>
                <a:cs typeface="Aptos"/>
              </a:rPr>
              <a:t>Practise tracing causes and mechanisms while retaining trade-offs, continuity and variation.</a:t>
            </a:r>
          </a:p>
        </p:txBody>
      </p:sp>
      <p:sp>
        <p:nvSpPr>
          <p:cNvPr id="19" name="activity-task">
            <a:extLst xmlns:a="http://schemas.openxmlformats.org/drawingml/2006/main">
              <a:ext uri="{FF2B5EF4-FFF2-40B4-BE49-F238E27FC236}">
                <a16:creationId xmlns:a16="http://schemas.microsoft.com/office/drawing/2014/main" id="{C738FA13-9DB2-4B71-BEE6-5E9252BE18FE}"/>
              </a:ext>
            </a:extLst>
          </p:cNvPr>
          <p:cNvSpPr>
            <a:spLocks xmlns:a="http://schemas.openxmlformats.org/drawingml/2006/main" noGrp="1"/>
          </p:cNvSpPr>
          <p:nvPr/>
        </p:nvSpPr>
        <p:spPr>
          <a:xfrm xmlns:a="http://schemas.openxmlformats.org/drawingml/2006/main">
            <a:off x="7810500" y="4724400"/>
            <a:ext cx="342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54332"/>
                </a:solidFill>
                <a:latin typeface="Aptos"/>
                <a:ea typeface="Aptos"/>
                <a:cs typeface="Aptos"/>
              </a:defRPr>
            </a:pPr>
            <a:r>
              <a:rPr sz="1575" b="1">
                <a:solidFill>
                  <a:srgbClr val="154332"/>
                </a:solidFill>
                <a:latin typeface="Aptos"/>
                <a:ea typeface="Aptos"/>
                <a:cs typeface="Aptos"/>
              </a:rPr>
              <a:t>Try: What job does each statement perform in a technology explanation?</a:t>
            </a:r>
          </a:p>
        </p:txBody>
      </p:sp>
      <p:sp>
        <p:nvSpPr>
          <p:cNvPr id="20" name="retrieve-boundary">
            <a:extLst xmlns:a="http://schemas.openxmlformats.org/drawingml/2006/main">
              <a:ext uri="{FF2B5EF4-FFF2-40B4-BE49-F238E27FC236}">
                <a16:creationId xmlns:a16="http://schemas.microsoft.com/office/drawing/2014/main" id="{35520759-062B-4663-9BD3-A195A88F257E}"/>
              </a:ext>
            </a:extLst>
          </p:cNvPr>
          <p:cNvSpPr>
            <a:spLocks xmlns:a="http://schemas.openxmlformats.org/drawingml/2006/main" noGrp="1"/>
          </p:cNvSpPr>
          <p:nvPr/>
        </p:nvSpPr>
        <p:spPr>
          <a:xfrm xmlns:a="http://schemas.openxmlformats.org/drawingml/2006/main">
            <a:off x="533400" y="5924550"/>
            <a:ext cx="110871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F1E5CE"/>
                </a:solidFill>
                <a:latin typeface="Aptos"/>
                <a:ea typeface="Aptos"/>
                <a:cs typeface="Aptos"/>
              </a:defRPr>
            </a:pPr>
            <a:r>
              <a:rPr sz="1500" b="1">
                <a:solidFill>
                  <a:srgbClr val="F1E5CE"/>
                </a:solidFill>
                <a:latin typeface="Aptos"/>
                <a:ea typeface="Aptos"/>
                <a:cs typeface="Aptos"/>
              </a:rPr>
              <a:t>Rehearsal first. Save evidence only when the teacher directs.</a:t>
            </a:r>
          </a:p>
        </p:txBody>
      </p:sp>
    </p:spTree>
    <p:extLst>
      <p:ext uri="{BB962C8B-B14F-4D97-AF65-F5344CB8AC3E}">
        <p14:creationId xmlns:p14="http://schemas.microsoft.com/office/powerpoint/2010/main" val="67808868"/>
      </p:ext>
    </p:extLst>
  </p:cSld>
</p:sld>
</file>

<file path=ppt/slides/slide7.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5" name="top-accent-7">
            <a:extLst xmlns:a="http://schemas.openxmlformats.org/drawingml/2006/main">
              <a:ext uri="{FF2B5EF4-FFF2-40B4-BE49-F238E27FC236}">
                <a16:creationId xmlns:a16="http://schemas.microsoft.com/office/drawing/2014/main" id="{9DF74931-F84D-49E0-922F-8838BC500C1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93442F"/>
          </a:solidFill>
          <a:ln xmlns:a="http://schemas.openxmlformats.org/drawingml/2006/main" w="0">
            <a:noFill/>
            <a:prstDash val="solid"/>
          </a:ln>
        </p:spPr>
      </p:sp>
      <p:sp>
        <p:nvSpPr>
          <p:cNvPr id="2" name="footer-module-7">
            <a:extLst xmlns:a="http://schemas.openxmlformats.org/drawingml/2006/main">
              <a:ext uri="{FF2B5EF4-FFF2-40B4-BE49-F238E27FC236}">
                <a16:creationId xmlns:a16="http://schemas.microsoft.com/office/drawing/2014/main" id="{FFE65896-3E59-46BB-912F-72D54EC48F26}"/>
              </a:ext>
            </a:extLst>
          </p:cNvPr>
          <p:cNvSpPr>
            <a:spLocks xmlns:a="http://schemas.openxmlformats.org/drawingml/2006/main" noGrp="1"/>
          </p:cNvSpPr>
          <p:nvPr/>
        </p:nvSpPr>
        <p:spPr>
          <a:xfrm xmlns:a="http://schemas.openxmlformats.org/drawingml/2006/main">
            <a:off x="533400" y="6505575"/>
            <a:ext cx="63817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3645B"/>
                </a:solidFill>
                <a:latin typeface="Aptos"/>
                <a:ea typeface="Aptos"/>
                <a:cs typeface="Aptos"/>
              </a:defRPr>
            </a:pPr>
            <a:r>
              <a:rPr sz="1050" b="1">
                <a:solidFill>
                  <a:srgbClr val="53645B"/>
                </a:solidFill>
                <a:latin typeface="Aptos"/>
                <a:ea typeface="Aptos"/>
                <a:cs typeface="Aptos"/>
              </a:rPr>
              <a:t>YEAR 9 FOOD IN AUSTRALIA  •  MODULE 05</a:t>
            </a:r>
          </a:p>
        </p:txBody>
      </p:sp>
      <p:sp>
        <p:nvSpPr>
          <p:cNvPr id="3" name="footer-page-7">
            <a:extLst xmlns:a="http://schemas.openxmlformats.org/drawingml/2006/main">
              <a:ext uri="{FF2B5EF4-FFF2-40B4-BE49-F238E27FC236}">
                <a16:creationId xmlns:a16="http://schemas.microsoft.com/office/drawing/2014/main" id="{E9BC3A9D-73DA-41DE-8BAE-C04D8B4D31C7}"/>
              </a:ext>
            </a:extLst>
          </p:cNvPr>
          <p:cNvSpPr>
            <a:spLocks xmlns:a="http://schemas.openxmlformats.org/drawingml/2006/main" noGrp="1"/>
          </p:cNvSpPr>
          <p:nvPr/>
        </p:nvSpPr>
        <p:spPr>
          <a:xfrm xmlns:a="http://schemas.openxmlformats.org/drawingml/2006/main">
            <a:off x="11144250" y="648652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1">
                <a:solidFill>
                  <a:srgbClr val="53645B"/>
                </a:solidFill>
                <a:latin typeface="Aptos"/>
                <a:ea typeface="Aptos"/>
                <a:cs typeface="Aptos"/>
              </a:defRPr>
            </a:pPr>
            <a:r>
              <a:rPr sz="1050" b="1">
                <a:solidFill>
                  <a:srgbClr val="53645B"/>
                </a:solidFill>
                <a:latin typeface="Aptos"/>
                <a:ea typeface="Aptos"/>
                <a:cs typeface="Aptos"/>
              </a:rPr>
              <a:t>07</a:t>
            </a:r>
          </a:p>
        </p:txBody>
      </p:sp>
      <p:sp>
        <p:nvSpPr>
          <p:cNvPr id="4" name="section-label-7">
            <a:extLst xmlns:a="http://schemas.openxmlformats.org/drawingml/2006/main">
              <a:ext uri="{FF2B5EF4-FFF2-40B4-BE49-F238E27FC236}">
                <a16:creationId xmlns:a16="http://schemas.microsoft.com/office/drawing/2014/main" id="{29868913-0700-4EFB-A067-405A4A9FA8B3}"/>
              </a:ext>
            </a:extLst>
          </p:cNvPr>
          <p:cNvSpPr>
            <a:spLocks xmlns:a="http://schemas.openxmlformats.org/drawingml/2006/main" noGrp="1"/>
          </p:cNvSpPr>
          <p:nvPr/>
        </p:nvSpPr>
        <p:spPr>
          <a:xfrm xmlns:a="http://schemas.openxmlformats.org/drawingml/2006/main">
            <a:off x="533400" y="304800"/>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93442F"/>
                </a:solidFill>
                <a:latin typeface="Aptos"/>
                <a:ea typeface="Aptos"/>
                <a:cs typeface="Aptos"/>
              </a:defRPr>
            </a:pPr>
            <a:r>
              <a:rPr sz="1275" b="1">
                <a:solidFill>
                  <a:srgbClr val="93442F"/>
                </a:solidFill>
                <a:latin typeface="Aptos"/>
                <a:ea typeface="Aptos"/>
                <a:cs typeface="Aptos"/>
              </a:rPr>
              <a:t>COLONISATION, SETTLEMENT AND MIGRATION · GUIDED RESPONSE</a:t>
            </a:r>
          </a:p>
        </p:txBody>
      </p:sp>
      <p:sp>
        <p:nvSpPr>
          <p:cNvPr id="5" name="slide-title-7">
            <a:extLst xmlns:a="http://schemas.openxmlformats.org/drawingml/2006/main">
              <a:ext uri="{FF2B5EF4-FFF2-40B4-BE49-F238E27FC236}">
                <a16:creationId xmlns:a16="http://schemas.microsoft.com/office/drawing/2014/main" id="{2A6016C6-95E5-4CC2-97B6-C6EF7E7C0189}"/>
              </a:ext>
            </a:extLst>
          </p:cNvPr>
          <p:cNvSpPr>
            <a:spLocks xmlns:a="http://schemas.openxmlformats.org/drawingml/2006/main" noGrp="1"/>
          </p:cNvSpPr>
          <p:nvPr/>
        </p:nvSpPr>
        <p:spPr>
          <a:xfrm xmlns:a="http://schemas.openxmlformats.org/drawingml/2006/main">
            <a:off x="533400" y="638175"/>
            <a:ext cx="11087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231E"/>
                </a:solidFill>
                <a:latin typeface="Aptos Display"/>
                <a:ea typeface="Aptos Display"/>
                <a:cs typeface="Aptos Display"/>
              </a:defRPr>
            </a:pPr>
            <a:r>
              <a:rPr sz="3600" b="1">
                <a:solidFill>
                  <a:srgbClr val="17231E"/>
                </a:solidFill>
                <a:latin typeface="Aptos Display"/>
                <a:ea typeface="Aptos Display"/>
                <a:cs typeface="Aptos Display"/>
              </a:rPr>
              <a:t>Build evidence someone else can follow</a:t>
            </a:r>
          </a:p>
        </p:txBody>
      </p:sp>
      <p:sp>
        <p:nvSpPr>
          <p:cNvPr id="6" name="evidence-question-panel">
            <a:extLst xmlns:a="http://schemas.openxmlformats.org/drawingml/2006/main">
              <a:ext uri="{FF2B5EF4-FFF2-40B4-BE49-F238E27FC236}">
                <a16:creationId xmlns:a16="http://schemas.microsoft.com/office/drawing/2014/main" id="{53AA5004-EA46-4810-A62E-9C64331209FB}"/>
              </a:ext>
            </a:extLst>
          </p:cNvPr>
          <p:cNvSpPr>
            <a:spLocks xmlns:a="http://schemas.openxmlformats.org/drawingml/2006/main" noGrp="1"/>
          </p:cNvSpPr>
          <p:nvPr/>
        </p:nvSpPr>
        <p:spPr>
          <a:xfrm xmlns:a="http://schemas.openxmlformats.org/drawingml/2006/main">
            <a:off x="533400" y="1466850"/>
            <a:ext cx="11087100" cy="1295400"/>
          </a:xfrm>
          <a:prstGeom xmlns:a="http://schemas.openxmlformats.org/drawingml/2006/main" prst="roundRect">
            <a:avLst>
              <a:gd name="adj" fmla="val 10294"/>
            </a:avLst>
          </a:prstGeom>
          <a:solidFill xmlns:a="http://schemas.openxmlformats.org/drawingml/2006/main">
            <a:srgbClr val="F1E5CE"/>
          </a:solidFill>
          <a:ln xmlns:a="http://schemas.openxmlformats.org/drawingml/2006/main" w="9525">
            <a:solidFill>
              <a:srgbClr val="CDD5CF"/>
            </a:solidFill>
            <a:prstDash val="solid"/>
          </a:ln>
        </p:spPr>
      </p:sp>
      <p:sp>
        <p:nvSpPr>
          <p:cNvPr id="7" name="evidence-question-label">
            <a:extLst xmlns:a="http://schemas.openxmlformats.org/drawingml/2006/main">
              <a:ext uri="{FF2B5EF4-FFF2-40B4-BE49-F238E27FC236}">
                <a16:creationId xmlns:a16="http://schemas.microsoft.com/office/drawing/2014/main" id="{1EA07202-F924-475C-9C56-AAD421F7C5B2}"/>
              </a:ext>
            </a:extLst>
          </p:cNvPr>
          <p:cNvSpPr>
            <a:spLocks xmlns:a="http://schemas.openxmlformats.org/drawingml/2006/main" noGrp="1"/>
          </p:cNvSpPr>
          <p:nvPr/>
        </p:nvSpPr>
        <p:spPr>
          <a:xfrm xmlns:a="http://schemas.openxmlformats.org/drawingml/2006/main">
            <a:off x="781050" y="1685925"/>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93442F"/>
                </a:solidFill>
                <a:latin typeface="Aptos"/>
                <a:ea typeface="Aptos"/>
                <a:cs typeface="Aptos"/>
              </a:defRPr>
            </a:pPr>
            <a:r>
              <a:rPr sz="1275" b="1">
                <a:solidFill>
                  <a:srgbClr val="93442F"/>
                </a:solidFill>
                <a:latin typeface="Aptos"/>
                <a:ea typeface="Aptos"/>
                <a:cs typeface="Aptos"/>
              </a:rPr>
              <a:t>THE QUESTION</a:t>
            </a:r>
          </a:p>
        </p:txBody>
      </p:sp>
      <p:sp>
        <p:nvSpPr>
          <p:cNvPr id="8" name="evidence-question">
            <a:extLst xmlns:a="http://schemas.openxmlformats.org/drawingml/2006/main">
              <a:ext uri="{FF2B5EF4-FFF2-40B4-BE49-F238E27FC236}">
                <a16:creationId xmlns:a16="http://schemas.microsoft.com/office/drawing/2014/main" id="{54C31361-AC13-48A1-AE82-D971E224B254}"/>
              </a:ext>
            </a:extLst>
          </p:cNvPr>
          <p:cNvSpPr>
            <a:spLocks xmlns:a="http://schemas.openxmlformats.org/drawingml/2006/main" noGrp="1"/>
          </p:cNvSpPr>
          <p:nvPr/>
        </p:nvSpPr>
        <p:spPr>
          <a:xfrm xmlns:a="http://schemas.openxmlformats.org/drawingml/2006/main">
            <a:off x="781050" y="1952625"/>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7231E"/>
                </a:solidFill>
                <a:latin typeface="Aptos"/>
                <a:ea typeface="Aptos"/>
                <a:cs typeface="Aptos"/>
              </a:defRPr>
            </a:pPr>
            <a:r>
              <a:rPr sz="1575" b="1">
                <a:solidFill>
                  <a:srgbClr val="17231E"/>
                </a:solidFill>
                <a:latin typeface="Aptos"/>
                <a:ea typeface="Aptos"/>
                <a:cs typeface="Aptos"/>
              </a:rPr>
              <a:t>Use one sourced migration example to explain three mechanisms through which people and knowledge influenced Australian food habits. Show adaptation without assuming every group followed the same pathway.</a:t>
            </a:r>
          </a:p>
        </p:txBody>
      </p:sp>
      <p:sp>
        <p:nvSpPr>
          <p:cNvPr id="9" name="evidence-connector-1">
            <a:extLst xmlns:a="http://schemas.openxmlformats.org/drawingml/2006/main">
              <a:ext uri="{FF2B5EF4-FFF2-40B4-BE49-F238E27FC236}">
                <a16:creationId xmlns:a16="http://schemas.microsoft.com/office/drawing/2014/main" id="{1231AABA-5B63-4AE9-B891-2A476383B6FD}"/>
              </a:ext>
            </a:extLst>
          </p:cNvPr>
          <p:cNvSpPr>
            <a:spLocks xmlns:a="http://schemas.openxmlformats.org/drawingml/2006/main" noGrp="1"/>
          </p:cNvSpPr>
          <p:nvPr/>
        </p:nvSpPr>
        <p:spPr>
          <a:xfrm xmlns:a="http://schemas.openxmlformats.org/drawingml/2006/main">
            <a:off x="3009900" y="3714750"/>
            <a:ext cx="323850" cy="0"/>
          </a:xfrm>
          <a:prstGeom xmlns:a="http://schemas.openxmlformats.org/drawingml/2006/main" prst="line">
            <a:avLst/>
          </a:prstGeom>
          <a:noFill xmlns:a="http://schemas.openxmlformats.org/drawingml/2006/main"/>
          <a:ln xmlns:a="http://schemas.openxmlformats.org/drawingml/2006/main" w="38100">
            <a:solidFill>
              <a:srgbClr val="93442F"/>
            </a:solidFill>
            <a:prstDash val="solid"/>
          </a:ln>
        </p:spPr>
      </p:sp>
      <p:sp>
        <p:nvSpPr>
          <p:cNvPr id="10" name="evidence-connector-2">
            <a:extLst xmlns:a="http://schemas.openxmlformats.org/drawingml/2006/main">
              <a:ext uri="{FF2B5EF4-FFF2-40B4-BE49-F238E27FC236}">
                <a16:creationId xmlns:a16="http://schemas.microsoft.com/office/drawing/2014/main" id="{852EDA26-9951-4554-B5DF-4D721F02ED45}"/>
              </a:ext>
            </a:extLst>
          </p:cNvPr>
          <p:cNvSpPr>
            <a:spLocks xmlns:a="http://schemas.openxmlformats.org/drawingml/2006/main" noGrp="1"/>
          </p:cNvSpPr>
          <p:nvPr/>
        </p:nvSpPr>
        <p:spPr>
          <a:xfrm xmlns:a="http://schemas.openxmlformats.org/drawingml/2006/main">
            <a:off x="5810250" y="3714750"/>
            <a:ext cx="323850" cy="0"/>
          </a:xfrm>
          <a:prstGeom xmlns:a="http://schemas.openxmlformats.org/drawingml/2006/main" prst="line">
            <a:avLst/>
          </a:prstGeom>
          <a:noFill xmlns:a="http://schemas.openxmlformats.org/drawingml/2006/main"/>
          <a:ln xmlns:a="http://schemas.openxmlformats.org/drawingml/2006/main" w="38100">
            <a:solidFill>
              <a:srgbClr val="93442F"/>
            </a:solidFill>
            <a:prstDash val="solid"/>
          </a:ln>
        </p:spPr>
      </p:sp>
      <p:sp>
        <p:nvSpPr>
          <p:cNvPr id="11" name="evidence-connector-3">
            <a:extLst xmlns:a="http://schemas.openxmlformats.org/drawingml/2006/main">
              <a:ext uri="{FF2B5EF4-FFF2-40B4-BE49-F238E27FC236}">
                <a16:creationId xmlns:a16="http://schemas.microsoft.com/office/drawing/2014/main" id="{77584D6B-2997-4620-B9D1-53BCDEBA6ED9}"/>
              </a:ext>
            </a:extLst>
          </p:cNvPr>
          <p:cNvSpPr>
            <a:spLocks xmlns:a="http://schemas.openxmlformats.org/drawingml/2006/main" noGrp="1"/>
          </p:cNvSpPr>
          <p:nvPr/>
        </p:nvSpPr>
        <p:spPr>
          <a:xfrm xmlns:a="http://schemas.openxmlformats.org/drawingml/2006/main">
            <a:off x="8610600" y="3714750"/>
            <a:ext cx="323850" cy="0"/>
          </a:xfrm>
          <a:prstGeom xmlns:a="http://schemas.openxmlformats.org/drawingml/2006/main" prst="line">
            <a:avLst/>
          </a:prstGeom>
          <a:noFill xmlns:a="http://schemas.openxmlformats.org/drawingml/2006/main"/>
          <a:ln xmlns:a="http://schemas.openxmlformats.org/drawingml/2006/main" w="38100">
            <a:solidFill>
              <a:srgbClr val="93442F"/>
            </a:solidFill>
            <a:prstDash val="solid"/>
          </a:ln>
        </p:spPr>
      </p:sp>
      <p:sp>
        <p:nvSpPr>
          <p:cNvPr id="12" name="evidence-step-label-1">
            <a:extLst xmlns:a="http://schemas.openxmlformats.org/drawingml/2006/main">
              <a:ext uri="{FF2B5EF4-FFF2-40B4-BE49-F238E27FC236}">
                <a16:creationId xmlns:a16="http://schemas.microsoft.com/office/drawing/2014/main" id="{95C608A9-A84B-4F3E-9D81-68C14199458F}"/>
              </a:ext>
            </a:extLst>
          </p:cNvPr>
          <p:cNvSpPr>
            <a:spLocks xmlns:a="http://schemas.openxmlformats.org/drawingml/2006/main" noGrp="1"/>
          </p:cNvSpPr>
          <p:nvPr/>
        </p:nvSpPr>
        <p:spPr>
          <a:xfrm xmlns:a="http://schemas.openxmlformats.org/drawingml/2006/main">
            <a:off x="533400" y="3143250"/>
            <a:ext cx="2476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05D46"/>
                </a:solidFill>
                <a:latin typeface="Aptos"/>
                <a:ea typeface="Aptos"/>
                <a:cs typeface="Aptos"/>
              </a:defRPr>
            </a:pPr>
            <a:r>
              <a:rPr sz="1650" b="1">
                <a:solidFill>
                  <a:srgbClr val="205D46"/>
                </a:solidFill>
                <a:latin typeface="Aptos"/>
                <a:ea typeface="Aptos"/>
                <a:cs typeface="Aptos"/>
              </a:rPr>
              <a:t>1  READ</a:t>
            </a:r>
          </a:p>
        </p:txBody>
      </p:sp>
      <p:sp>
        <p:nvSpPr>
          <p:cNvPr id="13" name="evidence-step-panel-1">
            <a:extLst xmlns:a="http://schemas.openxmlformats.org/drawingml/2006/main">
              <a:ext uri="{FF2B5EF4-FFF2-40B4-BE49-F238E27FC236}">
                <a16:creationId xmlns:a16="http://schemas.microsoft.com/office/drawing/2014/main" id="{935F74BE-45F6-415C-83A0-74C46A3C112A}"/>
              </a:ext>
            </a:extLst>
          </p:cNvPr>
          <p:cNvSpPr>
            <a:spLocks xmlns:a="http://schemas.openxmlformats.org/drawingml/2006/main" noGrp="1"/>
          </p:cNvSpPr>
          <p:nvPr/>
        </p:nvSpPr>
        <p:spPr>
          <a:xfrm xmlns:a="http://schemas.openxmlformats.org/drawingml/2006/main">
            <a:off x="533400" y="3619500"/>
            <a:ext cx="2476500" cy="1600200"/>
          </a:xfrm>
          <a:prstGeom xmlns:a="http://schemas.openxmlformats.org/drawingml/2006/main" prst="roundRect">
            <a:avLst>
              <a:gd name="adj" fmla="val 7143"/>
            </a:avLst>
          </a:prstGeom>
          <a:solidFill xmlns:a="http://schemas.openxmlformats.org/drawingml/2006/main">
            <a:srgbClr val="EEF3EF"/>
          </a:solidFill>
          <a:ln xmlns:a="http://schemas.openxmlformats.org/drawingml/2006/main" w="9525">
            <a:solidFill>
              <a:srgbClr val="CDD5CF"/>
            </a:solidFill>
            <a:prstDash val="solid"/>
          </a:ln>
        </p:spPr>
      </p:sp>
      <p:sp>
        <p:nvSpPr>
          <p:cNvPr id="14" name="evidence-step-text-1">
            <a:extLst xmlns:a="http://schemas.openxmlformats.org/drawingml/2006/main">
              <a:ext uri="{FF2B5EF4-FFF2-40B4-BE49-F238E27FC236}">
                <a16:creationId xmlns:a16="http://schemas.microsoft.com/office/drawing/2014/main" id="{FA7F5A13-45DA-4CFF-9A40-7ED3574BC5BF}"/>
              </a:ext>
            </a:extLst>
          </p:cNvPr>
          <p:cNvSpPr>
            <a:spLocks xmlns:a="http://schemas.openxmlformats.org/drawingml/2006/main" noGrp="1"/>
          </p:cNvSpPr>
          <p:nvPr/>
        </p:nvSpPr>
        <p:spPr>
          <a:xfrm xmlns:a="http://schemas.openxmlformats.org/drawingml/2006/main">
            <a:off x="723900" y="3857625"/>
            <a:ext cx="2095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17231E"/>
                </a:solidFill>
                <a:latin typeface="Aptos"/>
                <a:ea typeface="Aptos"/>
                <a:cs typeface="Aptos"/>
              </a:defRPr>
            </a:pPr>
            <a:r>
              <a:rPr sz="1575" b="0">
                <a:solidFill>
                  <a:srgbClr val="17231E"/>
                </a:solidFill>
                <a:latin typeface="Aptos"/>
                <a:ea typeface="Aptos"/>
                <a:cs typeface="Aptos"/>
              </a:rPr>
              <a:t>Underline the exact decision or explanation the prompt requires.</a:t>
            </a:r>
          </a:p>
        </p:txBody>
      </p:sp>
      <p:sp>
        <p:nvSpPr>
          <p:cNvPr id="15" name="evidence-step-label-2">
            <a:extLst xmlns:a="http://schemas.openxmlformats.org/drawingml/2006/main">
              <a:ext uri="{FF2B5EF4-FFF2-40B4-BE49-F238E27FC236}">
                <a16:creationId xmlns:a16="http://schemas.microsoft.com/office/drawing/2014/main" id="{2BC45FC4-8EDB-441D-9D79-93DB798CBFA6}"/>
              </a:ext>
            </a:extLst>
          </p:cNvPr>
          <p:cNvSpPr>
            <a:spLocks xmlns:a="http://schemas.openxmlformats.org/drawingml/2006/main" noGrp="1"/>
          </p:cNvSpPr>
          <p:nvPr/>
        </p:nvSpPr>
        <p:spPr>
          <a:xfrm xmlns:a="http://schemas.openxmlformats.org/drawingml/2006/main">
            <a:off x="3333750" y="3143250"/>
            <a:ext cx="2476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05D46"/>
                </a:solidFill>
                <a:latin typeface="Aptos"/>
                <a:ea typeface="Aptos"/>
                <a:cs typeface="Aptos"/>
              </a:defRPr>
            </a:pPr>
            <a:r>
              <a:rPr sz="1650" b="1">
                <a:solidFill>
                  <a:srgbClr val="205D46"/>
                </a:solidFill>
                <a:latin typeface="Aptos"/>
                <a:ea typeface="Aptos"/>
                <a:cs typeface="Aptos"/>
              </a:rPr>
              <a:t>2  SELECT</a:t>
            </a:r>
          </a:p>
        </p:txBody>
      </p:sp>
      <p:sp>
        <p:nvSpPr>
          <p:cNvPr id="16" name="evidence-step-panel-2">
            <a:extLst xmlns:a="http://schemas.openxmlformats.org/drawingml/2006/main">
              <a:ext uri="{FF2B5EF4-FFF2-40B4-BE49-F238E27FC236}">
                <a16:creationId xmlns:a16="http://schemas.microsoft.com/office/drawing/2014/main" id="{5D328F1B-8289-46D0-9B99-63A0000483ED}"/>
              </a:ext>
            </a:extLst>
          </p:cNvPr>
          <p:cNvSpPr>
            <a:spLocks xmlns:a="http://schemas.openxmlformats.org/drawingml/2006/main" noGrp="1"/>
          </p:cNvSpPr>
          <p:nvPr/>
        </p:nvSpPr>
        <p:spPr>
          <a:xfrm xmlns:a="http://schemas.openxmlformats.org/drawingml/2006/main">
            <a:off x="3333750" y="3619500"/>
            <a:ext cx="2476500" cy="1600200"/>
          </a:xfrm>
          <a:prstGeom xmlns:a="http://schemas.openxmlformats.org/drawingml/2006/main" prst="roundRect">
            <a:avLst>
              <a:gd name="adj" fmla="val 7143"/>
            </a:avLst>
          </a:prstGeom>
          <a:solidFill xmlns:a="http://schemas.openxmlformats.org/drawingml/2006/main">
            <a:srgbClr val="EEF3EF"/>
          </a:solidFill>
          <a:ln xmlns:a="http://schemas.openxmlformats.org/drawingml/2006/main" w="9525">
            <a:solidFill>
              <a:srgbClr val="CDD5CF"/>
            </a:solidFill>
            <a:prstDash val="solid"/>
          </a:ln>
        </p:spPr>
      </p:sp>
      <p:sp>
        <p:nvSpPr>
          <p:cNvPr id="17" name="evidence-step-text-2">
            <a:extLst xmlns:a="http://schemas.openxmlformats.org/drawingml/2006/main">
              <a:ext uri="{FF2B5EF4-FFF2-40B4-BE49-F238E27FC236}">
                <a16:creationId xmlns:a16="http://schemas.microsoft.com/office/drawing/2014/main" id="{CB000C18-166C-40BF-9FF9-A12408A8F6B1}"/>
              </a:ext>
            </a:extLst>
          </p:cNvPr>
          <p:cNvSpPr>
            <a:spLocks xmlns:a="http://schemas.openxmlformats.org/drawingml/2006/main" noGrp="1"/>
          </p:cNvSpPr>
          <p:nvPr/>
        </p:nvSpPr>
        <p:spPr>
          <a:xfrm xmlns:a="http://schemas.openxmlformats.org/drawingml/2006/main">
            <a:off x="3524250" y="3857625"/>
            <a:ext cx="2095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17231E"/>
                </a:solidFill>
                <a:latin typeface="Aptos"/>
                <a:ea typeface="Aptos"/>
                <a:cs typeface="Aptos"/>
              </a:defRPr>
            </a:pPr>
            <a:r>
              <a:rPr sz="1575" b="0">
                <a:solidFill>
                  <a:srgbClr val="17231E"/>
                </a:solidFill>
                <a:latin typeface="Aptos"/>
                <a:ea typeface="Aptos"/>
                <a:cs typeface="Aptos"/>
              </a:rPr>
              <a:t>Choose evidence that moves beyond naming dishes.</a:t>
            </a:r>
          </a:p>
        </p:txBody>
      </p:sp>
      <p:sp>
        <p:nvSpPr>
          <p:cNvPr id="18" name="evidence-step-label-3">
            <a:extLst xmlns:a="http://schemas.openxmlformats.org/drawingml/2006/main">
              <a:ext uri="{FF2B5EF4-FFF2-40B4-BE49-F238E27FC236}">
                <a16:creationId xmlns:a16="http://schemas.microsoft.com/office/drawing/2014/main" id="{F352844F-39EC-40BA-9FD2-88229709A326}"/>
              </a:ext>
            </a:extLst>
          </p:cNvPr>
          <p:cNvSpPr>
            <a:spLocks xmlns:a="http://schemas.openxmlformats.org/drawingml/2006/main" noGrp="1"/>
          </p:cNvSpPr>
          <p:nvPr/>
        </p:nvSpPr>
        <p:spPr>
          <a:xfrm xmlns:a="http://schemas.openxmlformats.org/drawingml/2006/main">
            <a:off x="6134100" y="3143250"/>
            <a:ext cx="2476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93442F"/>
                </a:solidFill>
                <a:latin typeface="Aptos"/>
                <a:ea typeface="Aptos"/>
                <a:cs typeface="Aptos"/>
              </a:defRPr>
            </a:pPr>
            <a:r>
              <a:rPr sz="1650" b="1">
                <a:solidFill>
                  <a:srgbClr val="93442F"/>
                </a:solidFill>
                <a:latin typeface="Aptos"/>
                <a:ea typeface="Aptos"/>
                <a:cs typeface="Aptos"/>
              </a:rPr>
              <a:t>3  EXPLAIN</a:t>
            </a:r>
          </a:p>
        </p:txBody>
      </p:sp>
      <p:sp>
        <p:nvSpPr>
          <p:cNvPr id="19" name="evidence-step-panel-3">
            <a:extLst xmlns:a="http://schemas.openxmlformats.org/drawingml/2006/main">
              <a:ext uri="{FF2B5EF4-FFF2-40B4-BE49-F238E27FC236}">
                <a16:creationId xmlns:a16="http://schemas.microsoft.com/office/drawing/2014/main" id="{626C7489-5817-4C5A-9FF8-19A28FA03EE9}"/>
              </a:ext>
            </a:extLst>
          </p:cNvPr>
          <p:cNvSpPr>
            <a:spLocks xmlns:a="http://schemas.openxmlformats.org/drawingml/2006/main" noGrp="1"/>
          </p:cNvSpPr>
          <p:nvPr/>
        </p:nvSpPr>
        <p:spPr>
          <a:xfrm xmlns:a="http://schemas.openxmlformats.org/drawingml/2006/main">
            <a:off x="6134100" y="3619500"/>
            <a:ext cx="2476500" cy="1600200"/>
          </a:xfrm>
          <a:prstGeom xmlns:a="http://schemas.openxmlformats.org/drawingml/2006/main" prst="roundRect">
            <a:avLst>
              <a:gd name="adj" fmla="val 7143"/>
            </a:avLst>
          </a:prstGeom>
          <a:solidFill xmlns:a="http://schemas.openxmlformats.org/drawingml/2006/main">
            <a:srgbClr val="F8EEE3"/>
          </a:solidFill>
          <a:ln xmlns:a="http://schemas.openxmlformats.org/drawingml/2006/main" w="9525">
            <a:solidFill>
              <a:srgbClr val="CDD5CF"/>
            </a:solidFill>
            <a:prstDash val="solid"/>
          </a:ln>
        </p:spPr>
      </p:sp>
      <p:sp>
        <p:nvSpPr>
          <p:cNvPr id="20" name="evidence-step-text-3">
            <a:extLst xmlns:a="http://schemas.openxmlformats.org/drawingml/2006/main">
              <a:ext uri="{FF2B5EF4-FFF2-40B4-BE49-F238E27FC236}">
                <a16:creationId xmlns:a16="http://schemas.microsoft.com/office/drawing/2014/main" id="{0253141A-AC59-4888-8DFF-30039096711E}"/>
              </a:ext>
            </a:extLst>
          </p:cNvPr>
          <p:cNvSpPr>
            <a:spLocks xmlns:a="http://schemas.openxmlformats.org/drawingml/2006/main" noGrp="1"/>
          </p:cNvSpPr>
          <p:nvPr/>
        </p:nvSpPr>
        <p:spPr>
          <a:xfrm xmlns:a="http://schemas.openxmlformats.org/drawingml/2006/main">
            <a:off x="6324600" y="3857625"/>
            <a:ext cx="2095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17231E"/>
                </a:solidFill>
                <a:latin typeface="Aptos"/>
                <a:ea typeface="Aptos"/>
                <a:cs typeface="Aptos"/>
              </a:defRPr>
            </a:pPr>
            <a:r>
              <a:rPr sz="1575" b="0">
                <a:solidFill>
                  <a:srgbClr val="17231E"/>
                </a:solidFill>
                <a:latin typeface="Aptos"/>
                <a:ea typeface="Aptos"/>
                <a:cs typeface="Aptos"/>
              </a:rPr>
              <a:t>The sourced example identifies …</a:t>
            </a:r>
          </a:p>
        </p:txBody>
      </p:sp>
      <p:sp>
        <p:nvSpPr>
          <p:cNvPr id="21" name="evidence-step-label-4">
            <a:extLst xmlns:a="http://schemas.openxmlformats.org/drawingml/2006/main">
              <a:ext uri="{FF2B5EF4-FFF2-40B4-BE49-F238E27FC236}">
                <a16:creationId xmlns:a16="http://schemas.microsoft.com/office/drawing/2014/main" id="{8E958289-A771-4B30-8776-17758FF1C27F}"/>
              </a:ext>
            </a:extLst>
          </p:cNvPr>
          <p:cNvSpPr>
            <a:spLocks xmlns:a="http://schemas.openxmlformats.org/drawingml/2006/main" noGrp="1"/>
          </p:cNvSpPr>
          <p:nvPr/>
        </p:nvSpPr>
        <p:spPr>
          <a:xfrm xmlns:a="http://schemas.openxmlformats.org/drawingml/2006/main">
            <a:off x="8934450" y="3143250"/>
            <a:ext cx="2476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05D46"/>
                </a:solidFill>
                <a:latin typeface="Aptos"/>
                <a:ea typeface="Aptos"/>
                <a:cs typeface="Aptos"/>
              </a:defRPr>
            </a:pPr>
            <a:r>
              <a:rPr sz="1650" b="1">
                <a:solidFill>
                  <a:srgbClr val="205D46"/>
                </a:solidFill>
                <a:latin typeface="Aptos"/>
                <a:ea typeface="Aptos"/>
                <a:cs typeface="Aptos"/>
              </a:rPr>
              <a:t>4  CHECK</a:t>
            </a:r>
          </a:p>
        </p:txBody>
      </p:sp>
      <p:sp>
        <p:nvSpPr>
          <p:cNvPr id="22" name="evidence-step-panel-4">
            <a:extLst xmlns:a="http://schemas.openxmlformats.org/drawingml/2006/main">
              <a:ext uri="{FF2B5EF4-FFF2-40B4-BE49-F238E27FC236}">
                <a16:creationId xmlns:a16="http://schemas.microsoft.com/office/drawing/2014/main" id="{C96ABFFF-9AE3-4606-974D-2C87A877F18E}"/>
              </a:ext>
            </a:extLst>
          </p:cNvPr>
          <p:cNvSpPr>
            <a:spLocks xmlns:a="http://schemas.openxmlformats.org/drawingml/2006/main" noGrp="1"/>
          </p:cNvSpPr>
          <p:nvPr/>
        </p:nvSpPr>
        <p:spPr>
          <a:xfrm xmlns:a="http://schemas.openxmlformats.org/drawingml/2006/main">
            <a:off x="8934450" y="3619500"/>
            <a:ext cx="2476500" cy="1600200"/>
          </a:xfrm>
          <a:prstGeom xmlns:a="http://schemas.openxmlformats.org/drawingml/2006/main" prst="roundRect">
            <a:avLst>
              <a:gd name="adj" fmla="val 7143"/>
            </a:avLst>
          </a:prstGeom>
          <a:solidFill xmlns:a="http://schemas.openxmlformats.org/drawingml/2006/main">
            <a:srgbClr val="EEF3EF"/>
          </a:solidFill>
          <a:ln xmlns:a="http://schemas.openxmlformats.org/drawingml/2006/main" w="9525">
            <a:solidFill>
              <a:srgbClr val="CDD5CF"/>
            </a:solidFill>
            <a:prstDash val="solid"/>
          </a:ln>
        </p:spPr>
      </p:sp>
      <p:sp>
        <p:nvSpPr>
          <p:cNvPr id="23" name="evidence-step-text-4">
            <a:extLst xmlns:a="http://schemas.openxmlformats.org/drawingml/2006/main">
              <a:ext uri="{FF2B5EF4-FFF2-40B4-BE49-F238E27FC236}">
                <a16:creationId xmlns:a16="http://schemas.microsoft.com/office/drawing/2014/main" id="{B58E4CCA-8DCA-4463-A874-BADBDD821F6D}"/>
              </a:ext>
            </a:extLst>
          </p:cNvPr>
          <p:cNvSpPr>
            <a:spLocks xmlns:a="http://schemas.openxmlformats.org/drawingml/2006/main" noGrp="1"/>
          </p:cNvSpPr>
          <p:nvPr/>
        </p:nvSpPr>
        <p:spPr>
          <a:xfrm xmlns:a="http://schemas.openxmlformats.org/drawingml/2006/main">
            <a:off x="9124950" y="3857625"/>
            <a:ext cx="2095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17231E"/>
                </a:solidFill>
                <a:latin typeface="Aptos"/>
                <a:ea typeface="Aptos"/>
                <a:cs typeface="Aptos"/>
              </a:defRPr>
            </a:pPr>
            <a:r>
              <a:rPr sz="1575" b="0">
                <a:solidFill>
                  <a:srgbClr val="17231E"/>
                </a:solidFill>
                <a:latin typeface="Aptos"/>
                <a:ea typeface="Aptos"/>
                <a:cs typeface="Aptos"/>
              </a:rPr>
              <a:t>Links mechanisms to evidence; acknowledges origins and variation.</a:t>
            </a:r>
          </a:p>
        </p:txBody>
      </p:sp>
      <p:sp>
        <p:nvSpPr>
          <p:cNvPr id="24" name="evidence-destination">
            <a:extLst xmlns:a="http://schemas.openxmlformats.org/drawingml/2006/main">
              <a:ext uri="{FF2B5EF4-FFF2-40B4-BE49-F238E27FC236}">
                <a16:creationId xmlns:a16="http://schemas.microsoft.com/office/drawing/2014/main" id="{CCC02920-A058-45D8-A3D3-7C56E82FF088}"/>
              </a:ext>
            </a:extLst>
          </p:cNvPr>
          <p:cNvSpPr>
            <a:spLocks xmlns:a="http://schemas.openxmlformats.org/drawingml/2006/main" noGrp="1"/>
          </p:cNvSpPr>
          <p:nvPr/>
        </p:nvSpPr>
        <p:spPr>
          <a:xfrm xmlns:a="http://schemas.openxmlformats.org/drawingml/2006/main">
            <a:off x="533400" y="5657850"/>
            <a:ext cx="110871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1">
                <a:solidFill>
                  <a:srgbClr val="8B2430"/>
                </a:solidFill>
                <a:latin typeface="Aptos"/>
                <a:ea typeface="Aptos"/>
                <a:cs typeface="Aptos"/>
              </a:defRPr>
            </a:pPr>
            <a:r>
              <a:rPr sz="1650" b="1">
                <a:solidFill>
                  <a:srgbClr val="8B2430"/>
                </a:solidFill>
                <a:latin typeface="Aptos"/>
                <a:ea typeface="Aptos"/>
                <a:cs typeface="Aptos"/>
              </a:rPr>
              <a:t>Save in My Folio only when your teacher asks. Saving is not submission.</a:t>
            </a:r>
          </a:p>
        </p:txBody>
      </p:sp>
    </p:spTree>
    <p:extLst>
      <p:ext uri="{BB962C8B-B14F-4D97-AF65-F5344CB8AC3E}">
        <p14:creationId xmlns:p14="http://schemas.microsoft.com/office/powerpoint/2010/main" val="4300703"/>
      </p:ext>
    </p:extLst>
  </p:cSld>
</p:sld>
</file>

<file path=ppt/slides/slide8.xml><?xml version="1.0" encoding="utf-8"?>
<p:sld xmlns:p="http://schemas.openxmlformats.org/presentationml/2006/main">
  <p:cSld>
    <p:bg>
      <p:bgPr>
        <a:solidFill xmlns:a="http://schemas.openxmlformats.org/drawingml/2006/main">
          <a:srgbClr val="93442F"/>
        </a:solidFill>
      </p:bgPr>
    </p:bg>
    <p:spTree>
      <p:nvGrpSpPr>
        <p:cNvPr id="1" name=""/>
        <p:cNvGrpSpPr/>
        <p:nvPr/>
      </p:nvGrpSpPr>
      <p:grpSpPr>
        <a:xfrm xmlns:a="http://schemas.openxmlformats.org/drawingml/2006/main"/>
      </p:grpSpPr>
      <p:sp>
        <p:nvSpPr>
          <p:cNvPr id="15" name="close-side-field">
            <a:extLst xmlns:a="http://schemas.openxmlformats.org/drawingml/2006/main">
              <a:ext uri="{FF2B5EF4-FFF2-40B4-BE49-F238E27FC236}">
                <a16:creationId xmlns:a16="http://schemas.microsoft.com/office/drawing/2014/main" id="{A1305A96-AFDC-42A7-9E69-829AF5E278E3}"/>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154332"/>
          </a:solidFill>
          <a:ln xmlns:a="http://schemas.openxmlformats.org/drawingml/2006/main" w="0">
            <a:noFill/>
            <a:prstDash val="solid"/>
          </a:ln>
        </p:spPr>
      </p:sp>
      <p:sp>
        <p:nvSpPr>
          <p:cNvPr id="2" name="close-label">
            <a:extLst xmlns:a="http://schemas.openxmlformats.org/drawingml/2006/main">
              <a:ext uri="{FF2B5EF4-FFF2-40B4-BE49-F238E27FC236}">
                <a16:creationId xmlns:a16="http://schemas.microsoft.com/office/drawing/2014/main" id="{4EDEE5A5-52E7-432D-AF8D-FE8C0DACC899}"/>
              </a:ext>
            </a:extLst>
          </p:cNvPr>
          <p:cNvSpPr>
            <a:spLocks xmlns:a="http://schemas.openxmlformats.org/drawingml/2006/main" noGrp="1"/>
          </p:cNvSpPr>
          <p:nvPr/>
        </p:nvSpPr>
        <p:spPr>
          <a:xfrm xmlns:a="http://schemas.openxmlformats.org/drawingml/2006/main">
            <a:off x="552450" y="466725"/>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8EDE7"/>
                </a:solidFill>
                <a:latin typeface="Aptos"/>
                <a:ea typeface="Aptos"/>
                <a:cs typeface="Aptos"/>
              </a:defRPr>
            </a:pPr>
            <a:r>
              <a:rPr sz="1350" b="1">
                <a:solidFill>
                  <a:srgbClr val="F8EDE7"/>
                </a:solidFill>
                <a:latin typeface="Aptos"/>
                <a:ea typeface="Aptos"/>
                <a:cs typeface="Aptos"/>
              </a:rPr>
              <a:t>MODULE 05 · EXIT EVIDENCE</a:t>
            </a:r>
          </a:p>
        </p:txBody>
      </p:sp>
      <p:sp>
        <p:nvSpPr>
          <p:cNvPr id="3" name="close-title">
            <a:extLst xmlns:a="http://schemas.openxmlformats.org/drawingml/2006/main">
              <a:ext uri="{FF2B5EF4-FFF2-40B4-BE49-F238E27FC236}">
                <a16:creationId xmlns:a16="http://schemas.microsoft.com/office/drawing/2014/main" id="{5DF30B84-44DF-49D5-965E-58AB7A442D43}"/>
              </a:ext>
            </a:extLst>
          </p:cNvPr>
          <p:cNvSpPr>
            <a:spLocks xmlns:a="http://schemas.openxmlformats.org/drawingml/2006/main" noGrp="1"/>
          </p:cNvSpPr>
          <p:nvPr/>
        </p:nvSpPr>
        <p:spPr>
          <a:xfrm xmlns:a="http://schemas.openxmlformats.org/drawingml/2006/main">
            <a:off x="552450" y="1104900"/>
            <a:ext cx="72390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FFFFFF"/>
                </a:solidFill>
                <a:latin typeface="Aptos Display"/>
                <a:ea typeface="Aptos Display"/>
                <a:cs typeface="Aptos Display"/>
              </a:defRPr>
            </a:pPr>
            <a:r>
              <a:rPr sz="4950" b="1">
                <a:solidFill>
                  <a:srgbClr val="FFFFFF"/>
                </a:solidFill>
                <a:latin typeface="Aptos Display"/>
                <a:ea typeface="Aptos Display"/>
                <a:cs typeface="Aptos Display"/>
              </a:rPr>
              <a:t>Leave with evidence, not a guess.</a:t>
            </a:r>
          </a:p>
        </p:txBody>
      </p:sp>
      <p:sp>
        <p:nvSpPr>
          <p:cNvPr id="4" name="close-prompt-1">
            <a:extLst xmlns:a="http://schemas.openxmlformats.org/drawingml/2006/main">
              <a:ext uri="{FF2B5EF4-FFF2-40B4-BE49-F238E27FC236}">
                <a16:creationId xmlns:a16="http://schemas.microsoft.com/office/drawing/2014/main" id="{F6EB9514-B561-44A1-AE62-1E33B1E1500B}"/>
              </a:ext>
            </a:extLst>
          </p:cNvPr>
          <p:cNvSpPr>
            <a:spLocks xmlns:a="http://schemas.openxmlformats.org/drawingml/2006/main" noGrp="1"/>
          </p:cNvSpPr>
          <p:nvPr/>
        </p:nvSpPr>
        <p:spPr>
          <a:xfrm xmlns:a="http://schemas.openxmlformats.org/drawingml/2006/main">
            <a:off x="628650" y="2924175"/>
            <a:ext cx="6934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FFFFFF"/>
                </a:solidFill>
                <a:latin typeface="Aptos"/>
                <a:ea typeface="Aptos"/>
                <a:cs typeface="Aptos"/>
              </a:defRPr>
            </a:pPr>
            <a:r>
              <a:rPr sz="1800" b="0">
                <a:solidFill>
                  <a:srgbClr val="FFFFFF"/>
                </a:solidFill>
                <a:latin typeface="Aptos"/>
                <a:ea typeface="Aptos"/>
                <a:cs typeface="Aptos"/>
              </a:rPr>
              <a:t>1.  One idea I can explain is colonisation changed food access because …</a:t>
            </a:r>
          </a:p>
        </p:txBody>
      </p:sp>
      <p:sp>
        <p:nvSpPr>
          <p:cNvPr id="5" name="close-divider-1">
            <a:extLst xmlns:a="http://schemas.openxmlformats.org/drawingml/2006/main">
              <a:ext uri="{FF2B5EF4-FFF2-40B4-BE49-F238E27FC236}">
                <a16:creationId xmlns:a16="http://schemas.microsoft.com/office/drawing/2014/main" id="{075959BC-4E7C-4F69-A083-56B614E80402}"/>
              </a:ext>
            </a:extLst>
          </p:cNvPr>
          <p:cNvSpPr>
            <a:spLocks xmlns:a="http://schemas.openxmlformats.org/drawingml/2006/main" noGrp="1"/>
          </p:cNvSpPr>
          <p:nvPr/>
        </p:nvSpPr>
        <p:spPr>
          <a:xfrm xmlns:a="http://schemas.openxmlformats.org/drawingml/2006/main">
            <a:off x="628650" y="3590925"/>
            <a:ext cx="6858000" cy="0"/>
          </a:xfrm>
          <a:prstGeom xmlns:a="http://schemas.openxmlformats.org/drawingml/2006/main" prst="line">
            <a:avLst/>
          </a:prstGeom>
          <a:noFill xmlns:a="http://schemas.openxmlformats.org/drawingml/2006/main"/>
          <a:ln xmlns:a="http://schemas.openxmlformats.org/drawingml/2006/main" w="9525">
            <a:solidFill>
              <a:srgbClr val="CF8875"/>
            </a:solidFill>
            <a:prstDash val="solid"/>
          </a:ln>
        </p:spPr>
      </p:sp>
      <p:sp>
        <p:nvSpPr>
          <p:cNvPr id="6" name="close-prompt-2">
            <a:extLst xmlns:a="http://schemas.openxmlformats.org/drawingml/2006/main">
              <a:ext uri="{FF2B5EF4-FFF2-40B4-BE49-F238E27FC236}">
                <a16:creationId xmlns:a16="http://schemas.microsoft.com/office/drawing/2014/main" id="{939D1F5C-422E-4375-9967-7F016B666A73}"/>
              </a:ext>
            </a:extLst>
          </p:cNvPr>
          <p:cNvSpPr>
            <a:spLocks xmlns:a="http://schemas.openxmlformats.org/drawingml/2006/main" noGrp="1"/>
          </p:cNvSpPr>
          <p:nvPr/>
        </p:nvSpPr>
        <p:spPr>
          <a:xfrm xmlns:a="http://schemas.openxmlformats.org/drawingml/2006/main">
            <a:off x="628650" y="3762375"/>
            <a:ext cx="6934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FFFFFF"/>
                </a:solidFill>
                <a:latin typeface="Aptos"/>
                <a:ea typeface="Aptos"/>
                <a:cs typeface="Aptos"/>
              </a:defRPr>
            </a:pPr>
            <a:r>
              <a:rPr sz="1800" b="1">
                <a:solidFill>
                  <a:srgbClr val="FFFFFF"/>
                </a:solidFill>
                <a:latin typeface="Aptos"/>
                <a:ea typeface="Aptos"/>
                <a:cs typeface="Aptos"/>
              </a:rPr>
              <a:t>2.  One connection across the three ideas is …</a:t>
            </a:r>
          </a:p>
        </p:txBody>
      </p:sp>
      <p:sp>
        <p:nvSpPr>
          <p:cNvPr id="7" name="close-divider-2">
            <a:extLst xmlns:a="http://schemas.openxmlformats.org/drawingml/2006/main">
              <a:ext uri="{FF2B5EF4-FFF2-40B4-BE49-F238E27FC236}">
                <a16:creationId xmlns:a16="http://schemas.microsoft.com/office/drawing/2014/main" id="{6D35446B-D966-49C5-9D53-1270B6A3AB5E}"/>
              </a:ext>
            </a:extLst>
          </p:cNvPr>
          <p:cNvSpPr>
            <a:spLocks xmlns:a="http://schemas.openxmlformats.org/drawingml/2006/main" noGrp="1"/>
          </p:cNvSpPr>
          <p:nvPr/>
        </p:nvSpPr>
        <p:spPr>
          <a:xfrm xmlns:a="http://schemas.openxmlformats.org/drawingml/2006/main">
            <a:off x="628650" y="4429125"/>
            <a:ext cx="6858000" cy="0"/>
          </a:xfrm>
          <a:prstGeom xmlns:a="http://schemas.openxmlformats.org/drawingml/2006/main" prst="line">
            <a:avLst/>
          </a:prstGeom>
          <a:noFill xmlns:a="http://schemas.openxmlformats.org/drawingml/2006/main"/>
          <a:ln xmlns:a="http://schemas.openxmlformats.org/drawingml/2006/main" w="9525">
            <a:solidFill>
              <a:srgbClr val="CF8875"/>
            </a:solidFill>
            <a:prstDash val="solid"/>
          </a:ln>
        </p:spPr>
      </p:sp>
      <p:sp>
        <p:nvSpPr>
          <p:cNvPr id="8" name="close-prompt-3">
            <a:extLst xmlns:a="http://schemas.openxmlformats.org/drawingml/2006/main">
              <a:ext uri="{FF2B5EF4-FFF2-40B4-BE49-F238E27FC236}">
                <a16:creationId xmlns:a16="http://schemas.microsoft.com/office/drawing/2014/main" id="{8AD932F3-D197-4F43-A009-146E6D52AEEA}"/>
              </a:ext>
            </a:extLst>
          </p:cNvPr>
          <p:cNvSpPr>
            <a:spLocks xmlns:a="http://schemas.openxmlformats.org/drawingml/2006/main" noGrp="1"/>
          </p:cNvSpPr>
          <p:nvPr/>
        </p:nvSpPr>
        <p:spPr>
          <a:xfrm xmlns:a="http://schemas.openxmlformats.org/drawingml/2006/main">
            <a:off x="628650" y="4600575"/>
            <a:ext cx="6934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FFFFFF"/>
                </a:solidFill>
                <a:latin typeface="Aptos"/>
                <a:ea typeface="Aptos"/>
                <a:cs typeface="Aptos"/>
              </a:defRPr>
            </a:pPr>
            <a:r>
              <a:rPr sz="1800" b="0">
                <a:solidFill>
                  <a:srgbClr val="FFFFFF"/>
                </a:solidFill>
                <a:latin typeface="Aptos"/>
                <a:ea typeface="Aptos"/>
                <a:cs typeface="Aptos"/>
              </a:rPr>
              <a:t>3.  One question or check I still need is …</a:t>
            </a:r>
          </a:p>
        </p:txBody>
      </p:sp>
      <p:sp>
        <p:nvSpPr>
          <p:cNvPr id="9" name="close-evidence-destination">
            <a:extLst xmlns:a="http://schemas.openxmlformats.org/drawingml/2006/main">
              <a:ext uri="{FF2B5EF4-FFF2-40B4-BE49-F238E27FC236}">
                <a16:creationId xmlns:a16="http://schemas.microsoft.com/office/drawing/2014/main" id="{0A64EE69-C606-491C-BDE9-3E48C6AEFDB3}"/>
              </a:ext>
            </a:extLst>
          </p:cNvPr>
          <p:cNvSpPr>
            <a:spLocks xmlns:a="http://schemas.openxmlformats.org/drawingml/2006/main" noGrp="1"/>
          </p:cNvSpPr>
          <p:nvPr/>
        </p:nvSpPr>
        <p:spPr>
          <a:xfrm xmlns:a="http://schemas.openxmlformats.org/drawingml/2006/main">
            <a:off x="628650" y="5753100"/>
            <a:ext cx="6953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F8EDE7"/>
                </a:solidFill>
                <a:latin typeface="Aptos"/>
                <a:ea typeface="Aptos"/>
                <a:cs typeface="Aptos"/>
              </a:defRPr>
            </a:pPr>
            <a:r>
              <a:rPr sz="1500" b="1">
                <a:solidFill>
                  <a:srgbClr val="F8EDE7"/>
                </a:solidFill>
                <a:latin typeface="Aptos"/>
                <a:ea typeface="Aptos"/>
                <a:cs typeface="Aptos"/>
              </a:rPr>
              <a:t>Evidence destination: My Folio when directed. Exporting or saving is not submission.</a:t>
            </a:r>
          </a:p>
        </p:txBody>
      </p:sp>
      <p:sp>
        <p:nvSpPr>
          <p:cNvPr id="10" name="teacher-confirm-label">
            <a:extLst xmlns:a="http://schemas.openxmlformats.org/drawingml/2006/main">
              <a:ext uri="{FF2B5EF4-FFF2-40B4-BE49-F238E27FC236}">
                <a16:creationId xmlns:a16="http://schemas.microsoft.com/office/drawing/2014/main" id="{525FE934-5CC9-454B-A860-51866DF62C2F}"/>
              </a:ext>
            </a:extLst>
          </p:cNvPr>
          <p:cNvSpPr>
            <a:spLocks xmlns:a="http://schemas.openxmlformats.org/drawingml/2006/main" noGrp="1"/>
          </p:cNvSpPr>
          <p:nvPr/>
        </p:nvSpPr>
        <p:spPr>
          <a:xfrm xmlns:a="http://schemas.openxmlformats.org/drawingml/2006/main">
            <a:off x="8648700" y="8763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1">
                <a:solidFill>
                  <a:srgbClr val="F1E5CE"/>
                </a:solidFill>
                <a:latin typeface="Aptos"/>
                <a:ea typeface="Aptos"/>
                <a:cs typeface="Aptos"/>
              </a:defRPr>
            </a:pPr>
            <a:r>
              <a:rPr sz="1650" b="1">
                <a:solidFill>
                  <a:srgbClr val="F1E5CE"/>
                </a:solidFill>
                <a:latin typeface="Aptos"/>
                <a:ea typeface="Aptos"/>
                <a:cs typeface="Aptos"/>
              </a:rPr>
              <a:t>TEACHER TO CONFIRM</a:t>
            </a:r>
          </a:p>
        </p:txBody>
      </p:sp>
      <p:sp>
        <p:nvSpPr>
          <p:cNvPr id="11" name="teacher-confirm-panel">
            <a:extLst xmlns:a="http://schemas.openxmlformats.org/drawingml/2006/main">
              <a:ext uri="{FF2B5EF4-FFF2-40B4-BE49-F238E27FC236}">
                <a16:creationId xmlns:a16="http://schemas.microsoft.com/office/drawing/2014/main" id="{F0F582C3-E1A8-455D-B13E-456EC3B0192E}"/>
              </a:ext>
            </a:extLst>
          </p:cNvPr>
          <p:cNvSpPr>
            <a:spLocks xmlns:a="http://schemas.openxmlformats.org/drawingml/2006/main" noGrp="1"/>
          </p:cNvSpPr>
          <p:nvPr/>
        </p:nvSpPr>
        <p:spPr>
          <a:xfrm xmlns:a="http://schemas.openxmlformats.org/drawingml/2006/main">
            <a:off x="8648700" y="1457325"/>
            <a:ext cx="3143250" cy="2514600"/>
          </a:xfrm>
          <a:prstGeom xmlns:a="http://schemas.openxmlformats.org/drawingml/2006/main" prst="roundRect">
            <a:avLst>
              <a:gd name="adj" fmla="val 6061"/>
            </a:avLst>
          </a:prstGeom>
          <a:solidFill xmlns:a="http://schemas.openxmlformats.org/drawingml/2006/main">
            <a:srgbClr val="F8E5E2"/>
          </a:solidFill>
          <a:ln xmlns:a="http://schemas.openxmlformats.org/drawingml/2006/main" w="28575">
            <a:solidFill>
              <a:srgbClr val="93442F"/>
            </a:solidFill>
            <a:prstDash val="solid"/>
          </a:ln>
        </p:spPr>
      </p:sp>
      <p:sp>
        <p:nvSpPr>
          <p:cNvPr id="12" name="teacher-confirm-text">
            <a:extLst xmlns:a="http://schemas.openxmlformats.org/drawingml/2006/main">
              <a:ext uri="{FF2B5EF4-FFF2-40B4-BE49-F238E27FC236}">
                <a16:creationId xmlns:a16="http://schemas.microsoft.com/office/drawing/2014/main" id="{F631BC56-B503-4C9A-A7A3-2BE136DFDB44}"/>
              </a:ext>
            </a:extLst>
          </p:cNvPr>
          <p:cNvSpPr>
            <a:spLocks xmlns:a="http://schemas.openxmlformats.org/drawingml/2006/main" noGrp="1"/>
          </p:cNvSpPr>
          <p:nvPr/>
        </p:nvSpPr>
        <p:spPr>
          <a:xfrm xmlns:a="http://schemas.openxmlformats.org/drawingml/2006/main">
            <a:off x="8896350" y="1838325"/>
            <a:ext cx="2647950" cy="1790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75" b="1">
                <a:solidFill>
                  <a:srgbClr val="8B2430"/>
                </a:solidFill>
                <a:latin typeface="Aptos"/>
                <a:ea typeface="Aptos"/>
                <a:cs typeface="Aptos"/>
              </a:defRPr>
            </a:pPr>
            <a:r>
              <a:rPr sz="1875" b="1">
                <a:solidFill>
                  <a:srgbClr val="8B2430"/>
                </a:solidFill>
                <a:latin typeface="Aptos"/>
                <a:ea typeface="Aptos"/>
                <a:cs typeface="Aptos"/>
              </a:rPr>
              <a:t>The place, period and source set students should use for historical claims.</a:t>
            </a:r>
          </a:p>
        </p:txBody>
      </p:sp>
      <p:sp>
        <p:nvSpPr>
          <p:cNvPr id="13" name="close-next-step-label">
            <a:extLst xmlns:a="http://schemas.openxmlformats.org/drawingml/2006/main">
              <a:ext uri="{FF2B5EF4-FFF2-40B4-BE49-F238E27FC236}">
                <a16:creationId xmlns:a16="http://schemas.microsoft.com/office/drawing/2014/main" id="{ED65001A-B971-4F18-93CD-5B5276CB10F5}"/>
              </a:ext>
            </a:extLst>
          </p:cNvPr>
          <p:cNvSpPr>
            <a:spLocks xmlns:a="http://schemas.openxmlformats.org/drawingml/2006/main" noGrp="1"/>
          </p:cNvSpPr>
          <p:nvPr/>
        </p:nvSpPr>
        <p:spPr>
          <a:xfrm xmlns:a="http://schemas.openxmlformats.org/drawingml/2006/main">
            <a:off x="8648700" y="46577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1">
                <a:solidFill>
                  <a:srgbClr val="F1E5CE"/>
                </a:solidFill>
                <a:latin typeface="Aptos"/>
                <a:ea typeface="Aptos"/>
                <a:cs typeface="Aptos"/>
              </a:defRPr>
            </a:pPr>
            <a:r>
              <a:rPr sz="1350" b="1">
                <a:solidFill>
                  <a:srgbClr val="F1E5CE"/>
                </a:solidFill>
                <a:latin typeface="Aptos"/>
                <a:ea typeface="Aptos"/>
                <a:cs typeface="Aptos"/>
              </a:rPr>
              <a:t>NEXT STEP</a:t>
            </a:r>
          </a:p>
        </p:txBody>
      </p:sp>
      <p:sp>
        <p:nvSpPr>
          <p:cNvPr id="14" name="close-next-step">
            <a:extLst xmlns:a="http://schemas.openxmlformats.org/drawingml/2006/main">
              <a:ext uri="{FF2B5EF4-FFF2-40B4-BE49-F238E27FC236}">
                <a16:creationId xmlns:a16="http://schemas.microsoft.com/office/drawing/2014/main" id="{1D27CB78-2643-4931-A94F-4C861056F96C}"/>
              </a:ext>
            </a:extLst>
          </p:cNvPr>
          <p:cNvSpPr>
            <a:spLocks xmlns:a="http://schemas.openxmlformats.org/drawingml/2006/main" noGrp="1"/>
          </p:cNvSpPr>
          <p:nvPr/>
        </p:nvSpPr>
        <p:spPr>
          <a:xfrm xmlns:a="http://schemas.openxmlformats.org/drawingml/2006/main">
            <a:off x="8763000" y="5124450"/>
            <a:ext cx="29146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0">
                <a:solidFill>
                  <a:srgbClr val="FFFFFF"/>
                </a:solidFill>
                <a:latin typeface="Aptos"/>
                <a:ea typeface="Aptos"/>
                <a:cs typeface="Aptos"/>
              </a:defRPr>
            </a:pPr>
            <a:r>
              <a:rPr sz="1725" b="0">
                <a:solidFill>
                  <a:srgbClr val="FFFFFF"/>
                </a:solidFill>
                <a:latin typeface="Aptos"/>
                <a:ea typeface="Aptos"/>
                <a:cs typeface="Aptos"/>
              </a:rPr>
              <a:t>Use the module page to refine one response, then follow your teacher’s directions.</a:t>
            </a:r>
          </a:p>
        </p:txBody>
      </p:sp>
    </p:spTree>
    <p:extLst>
      <p:ext uri="{BB962C8B-B14F-4D97-AF65-F5344CB8AC3E}">
        <p14:creationId xmlns:p14="http://schemas.microsoft.com/office/powerpoint/2010/main" val="21277701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2026-08-26T13:29:19.8650000Z</dcterms:created>
  <dcterms:modified xsi:type="dcterms:W3CDTF">2026-08-26T13:29:19.8650000Z</dcterms:modified>
</coreProperties>
</file>