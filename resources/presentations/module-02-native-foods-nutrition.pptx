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efced59a194b0f" /><Relationship Type="http://schemas.openxmlformats.org/officeDocument/2006/relationships/extended-properties" Target="/docProps/app.xml" Id="R3a10aa2485fe4dbe" /><Relationship Type="http://schemas.openxmlformats.org/officeDocument/2006/relationships/officeDocument" Target="/ppt/presentation.xml" Id="Re5402684976e4a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fc04aa0ff84598"/>
  </p:sldMasterIdLst>
  <p:notesMasterIdLst>
    <p:notesMasterId xmlns:r="http://schemas.openxmlformats.org/officeDocument/2006/relationships" r:id="R38df46b41a2949ae"/>
  </p:notesMasterIdLst>
  <p:sldIdLst>
    <p:sldId xmlns:r="http://schemas.openxmlformats.org/officeDocument/2006/relationships" id="256" r:id="Rbe06fee14207489c"/>
    <p:sldId xmlns:r="http://schemas.openxmlformats.org/officeDocument/2006/relationships" id="257" r:id="Rcb14cd6512444968"/>
    <p:sldId xmlns:r="http://schemas.openxmlformats.org/officeDocument/2006/relationships" id="258" r:id="Rf40d956c721a4182"/>
    <p:sldId xmlns:r="http://schemas.openxmlformats.org/officeDocument/2006/relationships" id="259" r:id="R2cd02f7e876d4a1d"/>
    <p:sldId xmlns:r="http://schemas.openxmlformats.org/officeDocument/2006/relationships" id="260" r:id="R19b39b13f7c44f83"/>
    <p:sldId xmlns:r="http://schemas.openxmlformats.org/officeDocument/2006/relationships" id="261" r:id="R4806b0c564864bcd"/>
    <p:sldId xmlns:r="http://schemas.openxmlformats.org/officeDocument/2006/relationships" id="262" r:id="R1b8a3491f0b5489b"/>
    <p:sldId xmlns:r="http://schemas.openxmlformats.org/officeDocument/2006/relationships" id="263" r:id="R37bfa9d088e548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9039c3820c4f3a" /><Relationship Type="http://schemas.openxmlformats.org/officeDocument/2006/relationships/slideMaster" Target="/ppt/slideMasters/slideMaster1.xml" Id="R7dfc04aa0ff84598" /><Relationship Type="http://schemas.openxmlformats.org/officeDocument/2006/relationships/notesMaster" Target="/ppt/notesMasters/notesMaster1.xml" Id="R38df46b41a2949ae" /><Relationship Type="http://schemas.openxmlformats.org/officeDocument/2006/relationships/presProps" Target="/ppt/presProps.xml" Id="R99536d09d9d8434d" /><Relationship Type="http://schemas.openxmlformats.org/officeDocument/2006/relationships/tableStyles" Target="/ppt/tableStyles.xml" Id="R2e3d13b5f4bb4392" /><Relationship Type="http://schemas.openxmlformats.org/officeDocument/2006/relationships/slide" Target="/ppt/slides/slide1.xml" Id="Rbe06fee14207489c" /><Relationship Type="http://schemas.openxmlformats.org/officeDocument/2006/relationships/slide" Target="/ppt/slides/slide2.xml" Id="Rcb14cd6512444968" /><Relationship Type="http://schemas.openxmlformats.org/officeDocument/2006/relationships/slide" Target="/ppt/slides/slide3.xml" Id="Rf40d956c721a4182" /><Relationship Type="http://schemas.openxmlformats.org/officeDocument/2006/relationships/slide" Target="/ppt/slides/slide4.xml" Id="R2cd02f7e876d4a1d" /><Relationship Type="http://schemas.openxmlformats.org/officeDocument/2006/relationships/slide" Target="/ppt/slides/slide5.xml" Id="R19b39b13f7c44f83" /><Relationship Type="http://schemas.openxmlformats.org/officeDocument/2006/relationships/slide" Target="/ppt/slides/slide6.xml" Id="R4806b0c564864bcd" /><Relationship Type="http://schemas.openxmlformats.org/officeDocument/2006/relationships/slide" Target="/ppt/slides/slide7.xml" Id="R1b8a3491f0b5489b" /><Relationship Type="http://schemas.openxmlformats.org/officeDocument/2006/relationships/slide" Target="/ppt/slides/slide8.xml" Id="R37bfa9d088e548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8282956f0248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67bf90765442d1" /><Relationship Type="http://schemas.openxmlformats.org/officeDocument/2006/relationships/notesMaster" Target="/ppt/notesMasters/notesMaster1.xml" Id="R6e695a6a1365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415de9a10c4746" /><Relationship Type="http://schemas.openxmlformats.org/officeDocument/2006/relationships/notesMaster" Target="/ppt/notesMasters/notesMaster1.xml" Id="Rfb735cdb17a74d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6e5338cb6e4847" /><Relationship Type="http://schemas.openxmlformats.org/officeDocument/2006/relationships/notesMaster" Target="/ppt/notesMasters/notesMaster1.xml" Id="R8b9cce13e3294f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7a4b11175547a0" /><Relationship Type="http://schemas.openxmlformats.org/officeDocument/2006/relationships/notesMaster" Target="/ppt/notesMasters/notesMaster1.xml" Id="R0aa508bd9cab4d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7d2792dc7a43c8" /><Relationship Type="http://schemas.openxmlformats.org/officeDocument/2006/relationships/notesMaster" Target="/ppt/notesMasters/notesMaster1.xml" Id="R1bf65019020a49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f5758bdce54b7d" /><Relationship Type="http://schemas.openxmlformats.org/officeDocument/2006/relationships/notesMaster" Target="/ppt/notesMasters/notesMaster1.xml" Id="R4df596b59ca94a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51e19a6fc9448b" /><Relationship Type="http://schemas.openxmlformats.org/officeDocument/2006/relationships/notesMaster" Target="/ppt/notesMasters/notesMaster1.xml" Id="R77ccce3c145c48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5ed30d028248d3" /><Relationship Type="http://schemas.openxmlformats.org/officeDocument/2006/relationships/notesMaster" Target="/ppt/notesMasters/notesMaster1.xml" Id="R9ef3fd2bfb184f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question: how does native foods and nutrition change a food decision or explanation?</a:t>
            </a:r>
          </a:p>
          <a:p xmlns:a="http://schemas.openxmlformats.org/drawingml/2006/main">
            <a:r>
              <a:t>State the outcome in plain language: Respectful food study connects Country, source authority, fair evidence and purposeful design.</a:t>
            </a:r>
          </a:p>
          <a:p xmlns:a="http://schemas.openxmlformats.org/drawingml/2006/main">
            <a:r>
              <a:t>Ask students what the visual helps them notice, then make clear that it is a generated learning visual, not documentary evidence or practical permission.</a:t>
            </a:r>
          </a:p>
          <a:p xmlns:a="http://schemas.openxmlformats.org/drawingml/2006/main">
            <a:r>
              <a:t>Transition: the next slide shows the three connected ideas students will use to reach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visual: assets/photos/m02-s03-controlled-trial.png; Course-original generated PNG; no source image or commercial recipe reproduced;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timeline as a learning sequence, not an agenda. Briefly name each idea and show how the third depends on the first two.</a:t>
            </a:r>
          </a:p>
          <a:p xmlns:a="http://schemas.openxmlformats.org/drawingml/2006/main">
            <a:r>
              <a:t>Retrieval prompt: ask students to define or exemplify one term from Country, identity and respectful language, then name one uncertainty to check.</a:t>
            </a:r>
          </a:p>
          <a:p xmlns:a="http://schemas.openxmlformats.org/drawingml/2006/main">
            <a:r>
              <a:t>Listen for unsupported certainty. Model language such as ‘the source supports…’, ‘in this context…’ and ‘Teacher to confirm…’ where relevant.</a:t>
            </a:r>
          </a:p>
          <a:p xmlns:a="http://schemas.openxmlformats.org/drawingml/2006/main">
            <a:r>
              <a:t>Transition: begin with Country, identity and respectful language; students will use it as the first part of the final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m02-s01: Country, identity and respectful language.</a:t>
            </a:r>
          </a:p>
          <a:p xmlns:a="http://schemas.openxmlformats.org/drawingml/2006/main">
            <a:r>
              <a:t>- Course theory section m02-s02: Compare nutrition evidence fairly.</a:t>
            </a:r>
          </a:p>
          <a:p xmlns:a="http://schemas.openxmlformats.org/drawingml/2006/main">
            <a:r>
              <a:t>- Course theory section m02-s03: Modify with a reason.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There is no single Aboriginal or Torres Strait Islander food culture. Food knowledge is place-based, living and connected to authority. Name the source and place, stay within what is publicly shared, and avoid national generalisations.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 national map or generic source makes knowledge universal.</a:t>
            </a:r>
          </a:p>
          <a:p xmlns:a="http://schemas.openxmlformats.org/drawingml/2006/main">
            <a:r>
              <a:t>Transition: connect this idea to native foods and nutrition, then move to "the second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m02-s01: Country, identity and respectful language.</a:t>
            </a:r>
          </a:p>
          <a:p xmlns:a="http://schemas.openxmlformats.org/drawingml/2006/main">
            <a:r>
              <a:t>- Course visual: assets/diagrams/m02-s01-place-specific-knowledge.svg; Course-original schematic SVG; geography is illustrative and contains no Nation boundaries;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A fair nutrition comparison matches the exact food, preparation state, nutrient and comparison basis. One value supports a narrow claim, not a total ranking such as ‘healthiest’ or ‘superfood’.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One nutrient value proves a food is ‘healthiest’.</a:t>
            </a:r>
          </a:p>
          <a:p xmlns:a="http://schemas.openxmlformats.org/drawingml/2006/main">
            <a:r>
              <a:t>Transition: connect this idea to native foods and nutrition, then move to "the final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m02-s02: Compare nutrition evidence fairly.</a:t>
            </a:r>
          </a:p>
          <a:p xmlns:a="http://schemas.openxmlformats.org/drawingml/2006/main">
            <a:r>
              <a:t>- Course visual: assets/photos/m02-s02-fair-comparison.png; Course-original generated PNG; no source image or proprietary worksheet reproduced;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A purposeful modification begins with a user and reason, checks ingredient provenance and cultural context, predicts functional effects, and uses a fair trial. Teacher approval, availability, allergy and safety requirements remain separate.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Adding a native ingredient automatically makes a modification respectful or successful.</a:t>
            </a:r>
          </a:p>
          <a:p xmlns:a="http://schemas.openxmlformats.org/drawingml/2006/main">
            <a:r>
              <a:t>Transition: students now rehearse all three ideas through the module activity and retrieval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theory section m02-s03: Modify with a reason.</a:t>
            </a:r>
          </a:p>
          <a:p xmlns:a="http://schemas.openxmlformats.org/drawingml/2006/main">
            <a:r>
              <a:t>- Course visual: assets/diagrams/m02-s03-modification-design-loop.svg; Course-original SVG; no third-party artwork or recipe;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activity as rehearsal: Sort each claim by evidence quality, then repair the comparison plan.</a:t>
            </a:r>
          </a:p>
          <a:p xmlns:a="http://schemas.openxmlformats.org/drawingml/2006/main">
            <a:r>
              <a:t>Give quiet thinking time before discussion. Ask students to explain why an alternative is weaker, not merely name the correct choice.</a:t>
            </a:r>
          </a:p>
          <a:p xmlns:a="http://schemas.openxmlformats.org/drawingml/2006/main">
            <a:r>
              <a:t>Check 1: This named Aboriginal-authored source explains the food knowledge it is authorised to share in its identified place and context.</a:t>
            </a:r>
          </a:p>
          <a:p xmlns:a="http://schemas.openxmlformats.org/drawingml/2006/main">
            <a:r>
              <a:t>Check 2: Confirm the exact food and preparation state, the same nutrient and a matching basis such as per 100 g.</a:t>
            </a:r>
          </a:p>
          <a:p xmlns:a="http://schemas.openxmlformats.org/drawingml/2006/main">
            <a:r>
              <a:t>Check 3: Change one planned factor, keep important conditions comparable and record effects against the stated purpose.</a:t>
            </a:r>
          </a:p>
          <a:p xmlns:a="http://schemas.openxmlformats.org/drawingml/2006/main">
            <a:r>
              <a:t>Misconception to correct: a correct choice without reasoning is enough evidence. Ask for the link between the claim and the source or scenario.</a:t>
            </a:r>
          </a:p>
          <a:p xmlns:a="http://schemas.openxmlformats.org/drawingml/2006/main">
            <a:r>
              <a:t>Transition: move from short retrieval to one constructed evidence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activity activity-m02: Native-food evidence detective.</a:t>
            </a:r>
          </a:p>
          <a:p xmlns:a="http://schemas.openxmlformats.org/drawingml/2006/main">
            <a:r>
              <a:t>- Course formative check check-m02-s01 for m02-s01.</a:t>
            </a:r>
          </a:p>
          <a:p xmlns:a="http://schemas.openxmlformats.org/drawingml/2006/main">
            <a:r>
              <a:t>- Course formative check check-m02-s02 for m02-s02.</a:t>
            </a:r>
          </a:p>
          <a:p xmlns:a="http://schemas.openxmlformats.org/drawingml/2006/main">
            <a:r>
              <a:t>- Course formative check check-m02-s03 for m02-s03.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prompt aloud once, then ask students to restate its decision or explanation in their own words.</a:t>
            </a:r>
          </a:p>
          <a:p xmlns:a="http://schemas.openxmlformats.org/drawingml/2006/main">
            <a:r>
              <a:t>Model the sequence: Read → Select → Explain → Check. Use the starter "The design purpose is …" only if students need it.</a:t>
            </a:r>
          </a:p>
          <a:p xmlns:a="http://schemas.openxmlformats.org/drawingml/2006/main">
            <a:r>
              <a:t>Look for: connects change to purpose; identifies provenance or cultural-context evidence; predicts more than taste alone.</a:t>
            </a:r>
          </a:p>
          <a:p xmlns:a="http://schemas.openxmlformats.org/drawingml/2006/main">
            <a:r>
              <a:t>Misconception to correct: saving locally means the work has been submitted or formally assessed. It has not.</a:t>
            </a:r>
          </a:p>
          <a:p xmlns:a="http://schemas.openxmlformats.org/drawingml/2006/main">
            <a:r>
              <a:t>Transition: close with a three-part exit ticket and the teacher-controlled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Course evidence record for m02-s03: Purposeful modification justification.</a:t>
            </a:r>
          </a:p>
          <a:p xmlns:a="http://schemas.openxmlformats.org/drawingml/2006/main">
            <a:r>
              <a:t>- Course folio contract: device-local saving is not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one minute to write all three exit lines. Ask for a specific connection, not a generic summary.</a:t>
            </a:r>
          </a:p>
          <a:p xmlns:a="http://schemas.openxmlformats.org/drawingml/2006/main">
            <a:r>
              <a:t>Listen for the module takeaway: Respectful food study connects Country, source authority, fair evidence and purposeful design.</a:t>
            </a:r>
          </a:p>
          <a:p xmlns:a="http://schemas.openxmlformats.org/drawingml/2006/main">
            <a:r>
              <a:t>State the sign-off exactly as shown: Teacher to confirm ingredient access, allergies, cultural context and any practical trial approval.</a:t>
            </a:r>
          </a:p>
          <a:p xmlns:a="http://schemas.openxmlformats.org/drawingml/2006/main">
            <a:r>
              <a:t>Do not announce a practical, due date, weighting, grade or submission route unless it is in the current teacher-issued instruction.</a:t>
            </a:r>
          </a:p>
          <a:p xmlns:a="http://schemas.openxmlformats.org/drawingml/2006/main">
            <a:r>
              <a:t>Close by directing students to the Module 02 page or My Folio only as the teacher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Arts Law Centre of Australia ICIP guidance and authorised public cultural sources recorded in source-map v1.1.</a:t>
            </a:r>
          </a:p>
          <a:p xmlns:a="http://schemas.openxmlformats.org/drawingml/2006/main">
            <a:r>
              <a:t>- Current Year 9 Assessment Booklet 2026: course-level task boundaries only; this deck does not invent unit task details.</a:t>
            </a:r>
          </a:p>
          <a:p xmlns:a="http://schemas.openxmlformats.org/drawingml/2006/main">
            <a:r>
              <a:t>- Course source-map v1.1 and assessment-orientation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8d38a886445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307bf61804953" /><Relationship Type="http://schemas.openxmlformats.org/officeDocument/2006/relationships/slideLayout" Target="/ppt/slideLayouts/slideLayout1.xml" Id="R6b0f9790563b47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0f9790563b47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aaff932f54145" /><Relationship Type="http://schemas.openxmlformats.org/officeDocument/2006/relationships/image" Target="/ppt/media/image.png" Id="R5b87f453039e4ce8" /><Relationship Type="http://schemas.openxmlformats.org/officeDocument/2006/relationships/notesSlide" Target="/ppt/notesSlides/notesSlide1.xml" Id="R431653335424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ba8af691a4250" /><Relationship Type="http://schemas.openxmlformats.org/officeDocument/2006/relationships/notesSlide" Target="/ppt/notesSlides/notesSlide2.xml" Id="Rbcc16807e8894a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ce80d54e84265" /><Relationship Type="http://schemas.openxmlformats.org/officeDocument/2006/relationships/image" Target="/ppt/media/image2.png" Id="Rd844fe50363d4363" /><Relationship Type="http://schemas.openxmlformats.org/officeDocument/2006/relationships/notesSlide" Target="/ppt/notesSlides/notesSlide3.xml" Id="R51672decb6e34f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9cfdd65ea405c" /><Relationship Type="http://schemas.openxmlformats.org/officeDocument/2006/relationships/image" Target="/ppt/media/image3.png" Id="R7e8cb4d96b834d7f" /><Relationship Type="http://schemas.openxmlformats.org/officeDocument/2006/relationships/notesSlide" Target="/ppt/notesSlides/notesSlide4.xml" Id="Reef44755299545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62fc8577f45d6" /><Relationship Type="http://schemas.openxmlformats.org/officeDocument/2006/relationships/image" Target="/ppt/media/image4.png" Id="R67af59be1d05431c" /><Relationship Type="http://schemas.openxmlformats.org/officeDocument/2006/relationships/notesSlide" Target="/ppt/notesSlides/notesSlide5.xml" Id="R198755db59ec40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68d2ac78843c5" /><Relationship Type="http://schemas.openxmlformats.org/officeDocument/2006/relationships/notesSlide" Target="/ppt/notesSlides/notesSlide6.xml" Id="Rd335375b099540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34f9697554853" /><Relationship Type="http://schemas.openxmlformats.org/officeDocument/2006/relationships/notesSlide" Target="/ppt/notesSlides/notesSlide7.xml" Id="Rdc26e13aea6c4b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5162287014853" /><Relationship Type="http://schemas.openxmlformats.org/officeDocument/2006/relationships/notesSlide" Target="/ppt/notesSlides/notesSlide8.xml" Id="R18c477020a9f43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B9798BDB-C7AC-4847-B8BC-02FEECAF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9607B33C-68FA-4328-976D-3C89F808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5181600" cy="6019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7f453039e4ce8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66700"/>
            <a:ext cx="5105400" cy="59436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4" name="cover-notice-panel">
            <a:extLst xmlns:a="http://schemas.openxmlformats.org/drawingml/2006/main">
              <a:ext uri="{FF2B5EF4-FFF2-40B4-BE49-F238E27FC236}">
                <a16:creationId xmlns:a16="http://schemas.microsoft.com/office/drawing/2014/main" id="{57D160B1-7C25-46D6-9179-1D8C31F1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480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cover-notice">
            <a:extLst xmlns:a="http://schemas.openxmlformats.org/drawingml/2006/main">
              <a:ext uri="{FF2B5EF4-FFF2-40B4-BE49-F238E27FC236}">
                <a16:creationId xmlns:a16="http://schemas.microsoft.com/office/drawing/2014/main" id="{3278491D-CCFE-4EB6-851C-31768308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Generated learning visual — not documentary evidence.</a:t>
            </a:r>
          </a:p>
        </p:txBody>
      </p:sp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85F6DF76-4EAD-4F10-9BED-36900264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D1F40366-5196-4DAF-A5B1-2A40ED78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odule-label">
            <a:extLst xmlns:a="http://schemas.openxmlformats.org/drawingml/2006/main">
              <a:ext uri="{FF2B5EF4-FFF2-40B4-BE49-F238E27FC236}">
                <a16:creationId xmlns:a16="http://schemas.microsoft.com/office/drawing/2014/main" id="{26CDB572-3D4D-47D9-97F9-A85118B0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MODULE 02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7A4CFF1-18B9-4E1F-9C42-64391CD6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Native foods and nutrition</a:t>
            </a:r>
          </a:p>
        </p:txBody>
      </p:sp>
      <p:sp>
        <p:nvSpPr>
          <p:cNvPr id="10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A100E56D-2D1E-411A-BD58-F4A09D9A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E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2ED"/>
                </a:solidFill>
                <a:latin typeface="Aptos"/>
                <a:ea typeface="Aptos"/>
                <a:cs typeface="Aptos"/>
              </a:rPr>
              <a:t>Respectful food study connects Country, source authority, fair evidence and purposeful design.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BF66236-BA4D-417B-83B4-E5FBFE54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1C6"/>
                </a:solidFill>
                <a:latin typeface="Aptos"/>
                <a:ea typeface="Aptos"/>
                <a:cs typeface="Aptos"/>
              </a:rPr>
              <a:t>Editable classroom presentation  •  Local review copy</a:t>
            </a:r>
          </a:p>
        </p:txBody>
      </p:sp>
    </p:spTree>
    <p:extLst>
      <p:ext uri="{BB962C8B-B14F-4D97-AF65-F5344CB8AC3E}">
        <p14:creationId xmlns:p14="http://schemas.microsoft.com/office/powerpoint/2010/main" val="333501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EA16C468-8730-4EA3-B27C-A25D13D3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4141E4F9-4900-4B90-9DC9-A4B2A37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02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1F14BFC-0A5F-4035-A3EB-71902423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F76B0D31-68A7-49A3-A6F5-4CEAEEF0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NATIVE FOODS AND NUTRITION · LEARNING PATHWAY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1AA28C68-EC98-4602-8C78-8B4663BA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Three ideas build one explanation</a:t>
            </a:r>
          </a:p>
        </p:txBody>
      </p:sp>
      <p:sp>
        <p:nvSpPr>
          <p:cNvPr id="6" name="arc-retrieval-prompt">
            <a:extLst xmlns:a="http://schemas.openxmlformats.org/drawingml/2006/main">
              <a:ext uri="{FF2B5EF4-FFF2-40B4-BE49-F238E27FC236}">
                <a16:creationId xmlns:a16="http://schemas.microsoft.com/office/drawing/2014/main" id="{DD764F14-0503-47A9-A126-A891C7C0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Retrieval warm-up: What do you already know—and what needs checking?</a:t>
            </a:r>
          </a:p>
        </p:txBody>
      </p:sp>
      <p:sp>
        <p:nvSpPr>
          <p:cNvPr id="7" name="arc-connector">
            <a:extLst xmlns:a="http://schemas.openxmlformats.org/drawingml/2006/main">
              <a:ext uri="{FF2B5EF4-FFF2-40B4-BE49-F238E27FC236}">
                <a16:creationId xmlns:a16="http://schemas.microsoft.com/office/drawing/2014/main" id="{C7C53728-C239-4941-906D-3754B433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arc-node-1">
            <a:extLst xmlns:a="http://schemas.openxmlformats.org/drawingml/2006/main">
              <a:ext uri="{FF2B5EF4-FFF2-40B4-BE49-F238E27FC236}">
                <a16:creationId xmlns:a16="http://schemas.microsoft.com/office/drawing/2014/main" id="{2FA09024-E430-4D2A-BA8C-2AC34A6D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arc-number-1">
            <a:extLst xmlns:a="http://schemas.openxmlformats.org/drawingml/2006/main">
              <a:ext uri="{FF2B5EF4-FFF2-40B4-BE49-F238E27FC236}">
                <a16:creationId xmlns:a16="http://schemas.microsoft.com/office/drawing/2014/main" id="{F4F734CC-1A7C-4776-B49D-0AEC14C5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arc-node-2">
            <a:extLst xmlns:a="http://schemas.openxmlformats.org/drawingml/2006/main">
              <a:ext uri="{FF2B5EF4-FFF2-40B4-BE49-F238E27FC236}">
                <a16:creationId xmlns:a16="http://schemas.microsoft.com/office/drawing/2014/main" id="{46EB68D8-A673-4C2B-9525-2300CB17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442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arc-number-2">
            <a:extLst xmlns:a="http://schemas.openxmlformats.org/drawingml/2006/main">
              <a:ext uri="{FF2B5EF4-FFF2-40B4-BE49-F238E27FC236}">
                <a16:creationId xmlns:a16="http://schemas.microsoft.com/office/drawing/2014/main" id="{1DEE7235-19B2-4BA1-8294-06C57B2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arc-node-3">
            <a:extLst xmlns:a="http://schemas.openxmlformats.org/drawingml/2006/main">
              <a:ext uri="{FF2B5EF4-FFF2-40B4-BE49-F238E27FC236}">
                <a16:creationId xmlns:a16="http://schemas.microsoft.com/office/drawing/2014/main" id="{033B6BAC-7D98-4B08-B69A-F65AD7BE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arc-number-3">
            <a:extLst xmlns:a="http://schemas.openxmlformats.org/drawingml/2006/main">
              <a:ext uri="{FF2B5EF4-FFF2-40B4-BE49-F238E27FC236}">
                <a16:creationId xmlns:a16="http://schemas.microsoft.com/office/drawing/2014/main" id="{5AC3852C-AF52-490F-AC09-B1F260F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arc-section-title-1">
            <a:extLst xmlns:a="http://schemas.openxmlformats.org/drawingml/2006/main">
              <a:ext uri="{FF2B5EF4-FFF2-40B4-BE49-F238E27FC236}">
                <a16:creationId xmlns:a16="http://schemas.microsoft.com/office/drawing/2014/main" id="{C203AFAB-92B3-4C1C-9401-051DA32B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Country, identity and respectful language</a:t>
            </a:r>
          </a:p>
        </p:txBody>
      </p:sp>
      <p:sp>
        <p:nvSpPr>
          <p:cNvPr id="15" name="arc-section-purpose-1">
            <a:extLst xmlns:a="http://schemas.openxmlformats.org/drawingml/2006/main">
              <a:ext uri="{FF2B5EF4-FFF2-40B4-BE49-F238E27FC236}">
                <a16:creationId xmlns:a16="http://schemas.microsoft.com/office/drawing/2014/main" id="{E5D7BA82-24BB-4100-AC19-3DB394F6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Start with Country, source and limits</a:t>
            </a:r>
          </a:p>
        </p:txBody>
      </p:sp>
      <p:sp>
        <p:nvSpPr>
          <p:cNvPr id="16" name="arc-section-title-2">
            <a:extLst xmlns:a="http://schemas.openxmlformats.org/drawingml/2006/main">
              <a:ext uri="{FF2B5EF4-FFF2-40B4-BE49-F238E27FC236}">
                <a16:creationId xmlns:a16="http://schemas.microsoft.com/office/drawing/2014/main" id="{27867622-3CF7-402C-BA25-EC849DA3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Compare nutrition evidence fairly</a:t>
            </a:r>
          </a:p>
        </p:txBody>
      </p:sp>
      <p:sp>
        <p:nvSpPr>
          <p:cNvPr id="17" name="arc-section-purpose-2">
            <a:extLst xmlns:a="http://schemas.openxmlformats.org/drawingml/2006/main">
              <a:ext uri="{FF2B5EF4-FFF2-40B4-BE49-F238E27FC236}">
                <a16:creationId xmlns:a16="http://schemas.microsoft.com/office/drawing/2014/main" id="{D90DA707-7C14-496D-A543-1FD985B6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Compare nutrition on a fair basis</a:t>
            </a:r>
          </a:p>
        </p:txBody>
      </p:sp>
      <p:sp>
        <p:nvSpPr>
          <p:cNvPr id="18" name="arc-section-title-3">
            <a:extLst xmlns:a="http://schemas.openxmlformats.org/drawingml/2006/main">
              <a:ext uri="{FF2B5EF4-FFF2-40B4-BE49-F238E27FC236}">
                <a16:creationId xmlns:a16="http://schemas.microsoft.com/office/drawing/2014/main" id="{75286A3D-388C-4960-BACF-8194A5BA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Modify with a reason</a:t>
            </a:r>
          </a:p>
        </p:txBody>
      </p:sp>
      <p:sp>
        <p:nvSpPr>
          <p:cNvPr id="19" name="arc-section-purpose-3">
            <a:extLst xmlns:a="http://schemas.openxmlformats.org/drawingml/2006/main">
              <a:ext uri="{FF2B5EF4-FFF2-40B4-BE49-F238E27FC236}">
                <a16:creationId xmlns:a16="http://schemas.microsoft.com/office/drawing/2014/main" id="{D174E2E4-6736-4664-B90A-A129070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Modify for a reason and test fairly</a:t>
            </a:r>
          </a:p>
        </p:txBody>
      </p:sp>
      <p:sp>
        <p:nvSpPr>
          <p:cNvPr id="20" name="arc-takeaway-band">
            <a:extLst xmlns:a="http://schemas.openxmlformats.org/drawingml/2006/main">
              <a:ext uri="{FF2B5EF4-FFF2-40B4-BE49-F238E27FC236}">
                <a16:creationId xmlns:a16="http://schemas.microsoft.com/office/drawing/2014/main" id="{32FB1306-5E32-424F-B40B-D01C2CFA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1" name="arc-takeaway">
            <a:extLst xmlns:a="http://schemas.openxmlformats.org/drawingml/2006/main">
              <a:ext uri="{FF2B5EF4-FFF2-40B4-BE49-F238E27FC236}">
                <a16:creationId xmlns:a16="http://schemas.microsoft.com/office/drawing/2014/main" id="{9D36C560-6D59-4E62-BC3B-9A9740B4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Connect all three: Respectful food study connects Country, source authority, fair evidence and purposeful design.</a:t>
            </a:r>
          </a:p>
        </p:txBody>
      </p:sp>
    </p:spTree>
    <p:extLst>
      <p:ext uri="{BB962C8B-B14F-4D97-AF65-F5344CB8AC3E}">
        <p14:creationId xmlns:p14="http://schemas.microsoft.com/office/powerpoint/2010/main" val="1477034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D6F53411-4ADE-4C0D-B565-F231239D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DB857BAE-50D3-4178-BCE5-32EE5102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02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97215B7-4DB9-4253-B4C9-3042011D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250E9A29-56D9-42EC-BF63-EB23DEDD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1 · M02-S01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CD03A354-56B5-40BC-AED2-4662940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Country, identity and respectful language</a:t>
            </a:r>
          </a:p>
        </p:txBody>
      </p:sp>
      <p:sp>
        <p:nvSpPr>
          <p:cNvPr id="6" name="idea-1-visual-frame">
            <a:extLst xmlns:a="http://schemas.openxmlformats.org/drawingml/2006/main">
              <a:ext uri="{FF2B5EF4-FFF2-40B4-BE49-F238E27FC236}">
                <a16:creationId xmlns:a16="http://schemas.microsoft.com/office/drawing/2014/main" id="{F5B8E02A-7CC9-423C-A4A5-8BC0CF35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9817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4fe50363d4363"/>
          <a:stretch xmlns:a="http://schemas.openxmlformats.org/drawingml/2006/main"/>
        </p:blipFill>
        <p:spPr>
          <a:xfrm xmlns:a="http://schemas.openxmlformats.org/drawingml/2006/main">
            <a:off x="533400" y="1901428"/>
            <a:ext cx="5905500" cy="3321844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idea-1-visual-caption">
            <a:extLst xmlns:a="http://schemas.openxmlformats.org/drawingml/2006/main">
              <a:ext uri="{FF2B5EF4-FFF2-40B4-BE49-F238E27FC236}">
                <a16:creationId xmlns:a16="http://schemas.microsoft.com/office/drawing/2014/main" id="{9B468D5D-2FFA-4A05-9640-FDB0BCE4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map can show geography; it cannot show every knowledge system or grant permission to use Cultural Knowledge.</a:t>
            </a:r>
          </a:p>
        </p:txBody>
      </p:sp>
      <p:sp>
        <p:nvSpPr>
          <p:cNvPr id="9" name="idea-1-body">
            <a:extLst xmlns:a="http://schemas.openxmlformats.org/drawingml/2006/main">
              <a:ext uri="{FF2B5EF4-FFF2-40B4-BE49-F238E27FC236}">
                <a16:creationId xmlns:a16="http://schemas.microsoft.com/office/drawing/2014/main" id="{CCB4B074-B4A2-4C44-A411-58858C16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91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There is no single Aboriginal or Torres Strait Islander food culture. Food knowledge is place-based, living and connected to authority. Name the source and place, stay within what is publicly shared, and avoid national generalisations.</a:t>
            </a:r>
          </a:p>
        </p:txBody>
      </p:sp>
      <p:sp>
        <p:nvSpPr>
          <p:cNvPr id="10" name="idea-1-notice-band">
            <a:extLst xmlns:a="http://schemas.openxmlformats.org/drawingml/2006/main">
              <a:ext uri="{FF2B5EF4-FFF2-40B4-BE49-F238E27FC236}">
                <a16:creationId xmlns:a16="http://schemas.microsoft.com/office/drawing/2014/main" id="{AD5F7684-A28A-43A8-B151-60C30022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591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idea-1-notice">
            <a:extLst xmlns:a="http://schemas.openxmlformats.org/drawingml/2006/main">
              <a:ext uri="{FF2B5EF4-FFF2-40B4-BE49-F238E27FC236}">
                <a16:creationId xmlns:a16="http://schemas.microsoft.com/office/drawing/2014/main" id="{EE6EC23D-BCCE-4661-AA12-29E8C2C0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133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Notice: Why are there no Nation boundaries or cultural labels on the outline? Which question stops a national generalisation?</a:t>
            </a:r>
          </a:p>
        </p:txBody>
      </p:sp>
    </p:spTree>
    <p:extLst>
      <p:ext uri="{BB962C8B-B14F-4D97-AF65-F5344CB8AC3E}">
        <p14:creationId xmlns:p14="http://schemas.microsoft.com/office/powerpoint/2010/main" val="52335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51EFB377-D2D8-45B7-86B7-C221A84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34F28005-7F5E-49B5-8197-E10061C1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02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B015094-E26A-4511-9009-1E8239E5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AB6883F6-BC55-4439-BCF6-1AB7E6E4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2 · M02-S02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D83953E5-336D-4F02-881D-C6039AC8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Compare nutrition evidence fairly</a:t>
            </a:r>
          </a:p>
        </p:txBody>
      </p:sp>
      <p:sp>
        <p:nvSpPr>
          <p:cNvPr id="6" name="idea-2-body">
            <a:extLst xmlns:a="http://schemas.openxmlformats.org/drawingml/2006/main">
              <a:ext uri="{FF2B5EF4-FFF2-40B4-BE49-F238E27FC236}">
                <a16:creationId xmlns:a16="http://schemas.microsoft.com/office/drawing/2014/main" id="{1EEA913F-8F29-48C3-9388-F218B606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686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 fair nutrition comparison matches the exact food, preparation state, nutrient and comparison basis. One value supports a narrow claim, not a total ranking such as ‘healthiest’ or ‘superfood’.</a:t>
            </a:r>
          </a:p>
        </p:txBody>
      </p:sp>
      <p:sp>
        <p:nvSpPr>
          <p:cNvPr id="7" name="idea-2-notice-band">
            <a:extLst xmlns:a="http://schemas.openxmlformats.org/drawingml/2006/main">
              <a:ext uri="{FF2B5EF4-FFF2-40B4-BE49-F238E27FC236}">
                <a16:creationId xmlns:a16="http://schemas.microsoft.com/office/drawing/2014/main" id="{321DE402-84F4-4BEE-B69C-FA36ABFD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686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8" name="idea-2-notice">
            <a:extLst xmlns:a="http://schemas.openxmlformats.org/drawingml/2006/main">
              <a:ext uri="{FF2B5EF4-FFF2-40B4-BE49-F238E27FC236}">
                <a16:creationId xmlns:a16="http://schemas.microsoft.com/office/drawing/2014/main" id="{59CC05B5-2B3A-43E0-B11B-4D1A3C19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229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Notice: Which samples form fair pairs? What information would you still need before making a nutrition claim?</a:t>
            </a:r>
          </a:p>
        </p:txBody>
      </p:sp>
      <p:sp>
        <p:nvSpPr>
          <p:cNvPr id="9" name="idea-2-visual-frame">
            <a:extLst xmlns:a="http://schemas.openxmlformats.org/drawingml/2006/main">
              <a:ext uri="{FF2B5EF4-FFF2-40B4-BE49-F238E27FC236}">
                <a16:creationId xmlns:a16="http://schemas.microsoft.com/office/drawing/2014/main" id="{9851290A-893E-4C22-801A-EC317990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8483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cb4d96b834d7f"/>
          <a:srcRect xmlns:a="http://schemas.openxmlformats.org/drawingml/2006/main" l="1905" t="0" r="19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562100"/>
            <a:ext cx="57721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idea-2-visual-caption">
            <a:extLst xmlns:a="http://schemas.openxmlformats.org/drawingml/2006/main">
              <a:ext uri="{FF2B5EF4-FFF2-40B4-BE49-F238E27FC236}">
                <a16:creationId xmlns:a16="http://schemas.microsoft.com/office/drawing/2014/main" id="{7C2471F4-EA80-40B7-ACCD-4A0E4552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fair nutrition comparison starts by matching the food, preparation state, nutrient and comparison basis.</a:t>
            </a:r>
          </a:p>
        </p:txBody>
      </p:sp>
    </p:spTree>
    <p:extLst>
      <p:ext uri="{BB962C8B-B14F-4D97-AF65-F5344CB8AC3E}">
        <p14:creationId xmlns:p14="http://schemas.microsoft.com/office/powerpoint/2010/main" val="1761993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974A554E-6CCF-4EC0-A01D-96284E3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4171FD49-866C-42A5-B455-8C05943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02</a:t>
            </a:r>
          </a:p>
        </p:txBody>
      </p:sp>
      <p:sp>
        <p:nvSpPr>
          <p:cNvPr id="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7DECC973-1219-4359-951B-ED56F1E2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3496106E-2466-40EB-A94D-58496E8E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3 · M02-S03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27C50B56-6AF4-4097-9E54-131D9E9E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Modify with a reason</a:t>
            </a:r>
          </a:p>
        </p:txBody>
      </p:sp>
      <p:sp>
        <p:nvSpPr>
          <p:cNvPr id="6" name="idea-3-body">
            <a:extLst xmlns:a="http://schemas.openxmlformats.org/drawingml/2006/main">
              <a:ext uri="{FF2B5EF4-FFF2-40B4-BE49-F238E27FC236}">
                <a16:creationId xmlns:a16="http://schemas.microsoft.com/office/drawing/2014/main" id="{EFC005CE-4556-4024-B752-A83B2B8E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 purposeful modification begins with a user and reason, checks ingredient provenance and cultural context, predicts functional effects, and uses a fair trial. Teacher approval, availability, allergy and safety requirements remain separate.</a:t>
            </a:r>
          </a:p>
        </p:txBody>
      </p:sp>
      <p:sp>
        <p:nvSpPr>
          <p:cNvPr id="7" name="idea-3-decision-band">
            <a:extLst xmlns:a="http://schemas.openxmlformats.org/drawingml/2006/main">
              <a:ext uri="{FF2B5EF4-FFF2-40B4-BE49-F238E27FC236}">
                <a16:creationId xmlns:a16="http://schemas.microsoft.com/office/drawing/2014/main" id="{FAF5F0C4-E02A-4B5C-B24D-CD8C7623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476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3-decision">
            <a:extLst xmlns:a="http://schemas.openxmlformats.org/drawingml/2006/main">
              <a:ext uri="{FF2B5EF4-FFF2-40B4-BE49-F238E27FC236}">
                <a16:creationId xmlns:a16="http://schemas.microsoft.com/office/drawing/2014/main" id="{23442695-C1A2-4DC0-8969-5510D918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Notice: Where is the reason for the change tested against evidence, and which step sends the design back for revision?</a:t>
            </a:r>
          </a:p>
        </p:txBody>
      </p:sp>
      <p:sp>
        <p:nvSpPr>
          <p:cNvPr id="9" name="idea-3-visual-frame">
            <a:extLst xmlns:a="http://schemas.openxmlformats.org/drawingml/2006/main">
              <a:ext uri="{FF2B5EF4-FFF2-40B4-BE49-F238E27FC236}">
                <a16:creationId xmlns:a16="http://schemas.microsoft.com/office/drawing/2014/main" id="{D9DA24D9-157E-4215-8DF6-31599709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24000"/>
            <a:ext cx="60579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f59be1d05431c"/>
          <a:stretch xmlns:a="http://schemas.openxmlformats.org/drawingml/2006/main"/>
        </p:blipFill>
        <p:spPr>
          <a:xfrm xmlns:a="http://schemas.openxmlformats.org/drawingml/2006/main">
            <a:off x="5543550" y="1860947"/>
            <a:ext cx="5981700" cy="3364706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11" name="idea-3-visual-caption">
            <a:extLst xmlns:a="http://schemas.openxmlformats.org/drawingml/2006/main">
              <a:ext uri="{FF2B5EF4-FFF2-40B4-BE49-F238E27FC236}">
                <a16:creationId xmlns:a16="http://schemas.microsoft.com/office/drawing/2014/main" id="{D35DC278-D911-4EB5-B77C-AB20499E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97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Purpose, source checking, prediction, fair observation and evaluation turn an ingredient change into an evidence-based modification.</a:t>
            </a:r>
          </a:p>
        </p:txBody>
      </p:sp>
    </p:spTree>
    <p:extLst>
      <p:ext uri="{BB962C8B-B14F-4D97-AF65-F5344CB8AC3E}">
        <p14:creationId xmlns:p14="http://schemas.microsoft.com/office/powerpoint/2010/main" val="695627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BC40255F-4910-4129-8871-F923920F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24768384-EF52-41E6-B17E-04645BAC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  •  MODULE 02</a:t>
            </a:r>
          </a:p>
        </p:txBody>
      </p:sp>
      <p:sp>
        <p:nvSpPr>
          <p:cNvPr id="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7ABFAC82-F12E-4F73-B3BB-8121EF7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D1285DB3-0889-4963-AF6B-B417DC8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NATIVE FOODS AND NUTRITION · REHEARSAL</a:t>
            </a:r>
          </a:p>
        </p:txBody>
      </p:sp>
      <p:sp>
        <p:nvSpPr>
          <p:cNvPr id="5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D4E1EDF5-ABD8-4903-AE35-B5ADE55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6" name="retrieve-instruction">
            <a:extLst xmlns:a="http://schemas.openxmlformats.org/drawingml/2006/main">
              <a:ext uri="{FF2B5EF4-FFF2-40B4-BE49-F238E27FC236}">
                <a16:creationId xmlns:a16="http://schemas.microsoft.com/office/drawing/2014/main" id="{5F0ABB27-3D57-4901-80EC-D8D8F65F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9E2"/>
                </a:solidFill>
                <a:latin typeface="Aptos"/>
                <a:ea typeface="Aptos"/>
                <a:cs typeface="Aptos"/>
              </a:rPr>
              <a:t>Answer silently first. Then justify one response with a partner.</a:t>
            </a:r>
          </a:p>
        </p:txBody>
      </p:sp>
      <p:sp>
        <p:nvSpPr>
          <p:cNvPr id="7" name="retrieve-number-1">
            <a:extLst xmlns:a="http://schemas.openxmlformats.org/drawingml/2006/main">
              <a:ext uri="{FF2B5EF4-FFF2-40B4-BE49-F238E27FC236}">
                <a16:creationId xmlns:a16="http://schemas.microsoft.com/office/drawing/2014/main" id="{8CF0753E-5B18-429E-8D9F-D926B24A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rieve-question-1">
            <a:extLst xmlns:a="http://schemas.openxmlformats.org/drawingml/2006/main">
              <a:ext uri="{FF2B5EF4-FFF2-40B4-BE49-F238E27FC236}">
                <a16:creationId xmlns:a16="http://schemas.microsoft.com/office/drawing/2014/main" id="{4F9599AC-F2EF-4523-9D20-A885B03F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research sentence is most accurate and respectful?</a:t>
            </a:r>
          </a:p>
        </p:txBody>
      </p:sp>
      <p:sp>
        <p:nvSpPr>
          <p:cNvPr id="9" name="retrieve-divider-1">
            <a:extLst xmlns:a="http://schemas.openxmlformats.org/drawingml/2006/main">
              <a:ext uri="{FF2B5EF4-FFF2-40B4-BE49-F238E27FC236}">
                <a16:creationId xmlns:a16="http://schemas.microsoft.com/office/drawing/2014/main" id="{1C0799B1-0B25-4A2B-A578-AA4E2DB0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0" name="retrieve-number-2">
            <a:extLst xmlns:a="http://schemas.openxmlformats.org/drawingml/2006/main">
              <a:ext uri="{FF2B5EF4-FFF2-40B4-BE49-F238E27FC236}">
                <a16:creationId xmlns:a16="http://schemas.microsoft.com/office/drawing/2014/main" id="{CBDBCBCC-7272-4CE3-8365-62CE83D8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trieve-question-2">
            <a:extLst xmlns:a="http://schemas.openxmlformats.org/drawingml/2006/main">
              <a:ext uri="{FF2B5EF4-FFF2-40B4-BE49-F238E27FC236}">
                <a16:creationId xmlns:a16="http://schemas.microsoft.com/office/drawing/2014/main" id="{8ED55175-304D-4876-910D-0A225A3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 comparing the iron values of two foods, which check matters most?</a:t>
            </a:r>
          </a:p>
        </p:txBody>
      </p:sp>
      <p:sp>
        <p:nvSpPr>
          <p:cNvPr id="12" name="retrieve-divider-2">
            <a:extLst xmlns:a="http://schemas.openxmlformats.org/drawingml/2006/main">
              <a:ext uri="{FF2B5EF4-FFF2-40B4-BE49-F238E27FC236}">
                <a16:creationId xmlns:a16="http://schemas.microsoft.com/office/drawing/2014/main" id="{0C6E7CFE-5AE1-43B4-8A66-8E8BF7C7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3" name="retrieve-number-3">
            <a:extLst xmlns:a="http://schemas.openxmlformats.org/drawingml/2006/main">
              <a:ext uri="{FF2B5EF4-FFF2-40B4-BE49-F238E27FC236}">
                <a16:creationId xmlns:a16="http://schemas.microsoft.com/office/drawing/2014/main" id="{5932ABAD-9F7E-4169-961C-8B36289E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trieve-question-3">
            <a:extLst xmlns:a="http://schemas.openxmlformats.org/drawingml/2006/main">
              <a:ext uri="{FF2B5EF4-FFF2-40B4-BE49-F238E27FC236}">
                <a16:creationId xmlns:a16="http://schemas.microsoft.com/office/drawing/2014/main" id="{BF7B31F8-FF4D-4A5C-B8E0-E0E7D27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plan would produce the clearest evidence about a proposed ingredient modification?</a:t>
            </a:r>
          </a:p>
        </p:txBody>
      </p:sp>
      <p:sp>
        <p:nvSpPr>
          <p:cNvPr id="15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4E6CC1EC-2F62-4EE4-81C9-756810F6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6" name="activity-label">
            <a:extLst xmlns:a="http://schemas.openxmlformats.org/drawingml/2006/main">
              <a:ext uri="{FF2B5EF4-FFF2-40B4-BE49-F238E27FC236}">
                <a16:creationId xmlns:a16="http://schemas.microsoft.com/office/drawing/2014/main" id="{148817C3-60AA-4908-A904-99D116BA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APPLIED LEARNING ACTIVITY</a:t>
            </a:r>
          </a:p>
        </p:txBody>
      </p:sp>
      <p:sp>
        <p:nvSpPr>
          <p:cNvPr id="17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9AF55C4E-7584-474C-B5E1-AB230C7D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Native-food evidence detective</a:t>
            </a:r>
          </a:p>
        </p:txBody>
      </p:sp>
      <p:sp>
        <p:nvSpPr>
          <p:cNvPr id="18" name="activity-purpose">
            <a:extLst xmlns:a="http://schemas.openxmlformats.org/drawingml/2006/main">
              <a:ext uri="{FF2B5EF4-FFF2-40B4-BE49-F238E27FC236}">
                <a16:creationId xmlns:a16="http://schemas.microsoft.com/office/drawing/2014/main" id="{CDF3A97E-7BB7-4B41-A769-A92D77E7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38525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Practise keeping cultural and nutrition claims source-bounded and identifying the evidence a respectful modification needs.</a:t>
            </a:r>
          </a:p>
        </p:txBody>
      </p:sp>
      <p:sp>
        <p:nvSpPr>
          <p:cNvPr id="19" name="activity-task">
            <a:extLst xmlns:a="http://schemas.openxmlformats.org/drawingml/2006/main">
              <a:ext uri="{FF2B5EF4-FFF2-40B4-BE49-F238E27FC236}">
                <a16:creationId xmlns:a16="http://schemas.microsoft.com/office/drawing/2014/main" id="{5DACFC9D-FA1B-46FE-96C4-5A0E9052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Try: How strong is each claim?</a:t>
            </a:r>
          </a:p>
        </p:txBody>
      </p:sp>
      <p:sp>
        <p:nvSpPr>
          <p:cNvPr id="20" name="retrieve-boundary">
            <a:extLst xmlns:a="http://schemas.openxmlformats.org/drawingml/2006/main">
              <a:ext uri="{FF2B5EF4-FFF2-40B4-BE49-F238E27FC236}">
                <a16:creationId xmlns:a16="http://schemas.microsoft.com/office/drawing/2014/main" id="{5DCC3356-7316-4657-B47E-F9848096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Rehearsal first. Save evidence only when the teacher directs.</a:t>
            </a:r>
          </a:p>
        </p:txBody>
      </p:sp>
    </p:spTree>
    <p:extLst>
      <p:ext uri="{BB962C8B-B14F-4D97-AF65-F5344CB8AC3E}">
        <p14:creationId xmlns:p14="http://schemas.microsoft.com/office/powerpoint/2010/main" val="122757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BFE13BDF-7386-46AB-A18A-63ECDF6B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CBAB60F9-86F5-4F82-ACFD-6C2EF756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02</a:t>
            </a:r>
          </a:p>
        </p:txBody>
      </p:sp>
      <p:sp>
        <p:nvSpPr>
          <p:cNvPr id="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3547026-5B10-4467-8E6E-DD510BF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2AF1ECB2-9B73-4282-840B-D144BA6C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NATIVE FOODS AND NUTRITION · GUIDED RESPONSE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E5B80E78-3795-4E4D-A027-9B033A04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Build evidence someone else can follow</a:t>
            </a:r>
          </a:p>
        </p:txBody>
      </p:sp>
      <p:sp>
        <p:nvSpPr>
          <p:cNvPr id="6" name="evidence-question-panel">
            <a:extLst xmlns:a="http://schemas.openxmlformats.org/drawingml/2006/main">
              <a:ext uri="{FF2B5EF4-FFF2-40B4-BE49-F238E27FC236}">
                <a16:creationId xmlns:a16="http://schemas.microsoft.com/office/drawing/2014/main" id="{D7B31ECE-82A2-44B3-B8E5-40C8EE0D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871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evidence-question-label">
            <a:extLst xmlns:a="http://schemas.openxmlformats.org/drawingml/2006/main">
              <a:ext uri="{FF2B5EF4-FFF2-40B4-BE49-F238E27FC236}">
                <a16:creationId xmlns:a16="http://schemas.microsoft.com/office/drawing/2014/main" id="{9A05A65B-ACC3-4665-863A-B697036D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8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5838A580-C5BD-46C4-B9DC-58776BB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Justify a proposed food modification by linking its purpose, supporting evidence, respectful use of the ingredient and predicted effects on food function. Identify what a fair trial would need to test.</a:t>
            </a:r>
          </a:p>
        </p:txBody>
      </p:sp>
      <p:sp>
        <p:nvSpPr>
          <p:cNvPr id="9" name="evidence-connector-1">
            <a:extLst xmlns:a="http://schemas.openxmlformats.org/drawingml/2006/main">
              <a:ext uri="{FF2B5EF4-FFF2-40B4-BE49-F238E27FC236}">
                <a16:creationId xmlns:a16="http://schemas.microsoft.com/office/drawing/2014/main" id="{2BBBBB91-6373-4BC6-B617-13706E73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0" name="evidence-connector-2">
            <a:extLst xmlns:a="http://schemas.openxmlformats.org/drawingml/2006/main">
              <a:ext uri="{FF2B5EF4-FFF2-40B4-BE49-F238E27FC236}">
                <a16:creationId xmlns:a16="http://schemas.microsoft.com/office/drawing/2014/main" id="{A5B4C501-4F65-4A0F-A219-3CA03F8F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evidence-connector-3">
            <a:extLst xmlns:a="http://schemas.openxmlformats.org/drawingml/2006/main">
              <a:ext uri="{FF2B5EF4-FFF2-40B4-BE49-F238E27FC236}">
                <a16:creationId xmlns:a16="http://schemas.microsoft.com/office/drawing/2014/main" id="{B673FC88-B3AC-4923-9F8D-6FB4ACD5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evidence-step-label-1">
            <a:extLst xmlns:a="http://schemas.openxmlformats.org/drawingml/2006/main">
              <a:ext uri="{FF2B5EF4-FFF2-40B4-BE49-F238E27FC236}">
                <a16:creationId xmlns:a16="http://schemas.microsoft.com/office/drawing/2014/main" id="{88AD959C-B3F3-4643-84DB-8420BAA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13" name="evidence-step-panel-1">
            <a:extLst xmlns:a="http://schemas.openxmlformats.org/drawingml/2006/main">
              <a:ext uri="{FF2B5EF4-FFF2-40B4-BE49-F238E27FC236}">
                <a16:creationId xmlns:a16="http://schemas.microsoft.com/office/drawing/2014/main" id="{71377F01-8AA9-4ABA-B5BD-E96F3B35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4" name="evidence-step-text-1">
            <a:extLst xmlns:a="http://schemas.openxmlformats.org/drawingml/2006/main">
              <a:ext uri="{FF2B5EF4-FFF2-40B4-BE49-F238E27FC236}">
                <a16:creationId xmlns:a16="http://schemas.microsoft.com/office/drawing/2014/main" id="{DE3E6A1E-2841-4C05-AA02-5B83BFC5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Underline the exact decision or explanation the prompt requires.</a:t>
            </a:r>
          </a:p>
        </p:txBody>
      </p:sp>
      <p:sp>
        <p:nvSpPr>
          <p:cNvPr id="15" name="evidence-step-label-2">
            <a:extLst xmlns:a="http://schemas.openxmlformats.org/drawingml/2006/main">
              <a:ext uri="{FF2B5EF4-FFF2-40B4-BE49-F238E27FC236}">
                <a16:creationId xmlns:a16="http://schemas.microsoft.com/office/drawing/2014/main" id="{B93ABC47-0C75-41DA-827F-8356F655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6" name="evidence-step-panel-2">
            <a:extLst xmlns:a="http://schemas.openxmlformats.org/drawingml/2006/main">
              <a:ext uri="{FF2B5EF4-FFF2-40B4-BE49-F238E27FC236}">
                <a16:creationId xmlns:a16="http://schemas.microsoft.com/office/drawing/2014/main" id="{9F1271DD-1637-49F5-87D8-AB4C3C31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7" name="evidence-step-text-2">
            <a:extLst xmlns:a="http://schemas.openxmlformats.org/drawingml/2006/main">
              <a:ext uri="{FF2B5EF4-FFF2-40B4-BE49-F238E27FC236}">
                <a16:creationId xmlns:a16="http://schemas.microsoft.com/office/drawing/2014/main" id="{0CB14075-2F3C-49CE-B3AD-401367E6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evidence that connects change to purpose.</a:t>
            </a:r>
          </a:p>
        </p:txBody>
      </p:sp>
      <p:sp>
        <p:nvSpPr>
          <p:cNvPr id="18" name="evidence-step-label-3">
            <a:extLst xmlns:a="http://schemas.openxmlformats.org/drawingml/2006/main">
              <a:ext uri="{FF2B5EF4-FFF2-40B4-BE49-F238E27FC236}">
                <a16:creationId xmlns:a16="http://schemas.microsoft.com/office/drawing/2014/main" id="{1260E3D2-6322-47A5-9FDC-85389BD8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9" name="evidence-step-panel-3">
            <a:extLst xmlns:a="http://schemas.openxmlformats.org/drawingml/2006/main">
              <a:ext uri="{FF2B5EF4-FFF2-40B4-BE49-F238E27FC236}">
                <a16:creationId xmlns:a16="http://schemas.microsoft.com/office/drawing/2014/main" id="{CF5B8363-8B6E-4780-82E2-FA7E2CC1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EE3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0" name="evidence-step-text-3">
            <a:extLst xmlns:a="http://schemas.openxmlformats.org/drawingml/2006/main">
              <a:ext uri="{FF2B5EF4-FFF2-40B4-BE49-F238E27FC236}">
                <a16:creationId xmlns:a16="http://schemas.microsoft.com/office/drawing/2014/main" id="{617D0D70-D5D9-4E2E-992B-244AA964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The design purpose is …</a:t>
            </a:r>
          </a:p>
        </p:txBody>
      </p:sp>
      <p:sp>
        <p:nvSpPr>
          <p:cNvPr id="21" name="evidence-step-label-4">
            <a:extLst xmlns:a="http://schemas.openxmlformats.org/drawingml/2006/main">
              <a:ext uri="{FF2B5EF4-FFF2-40B4-BE49-F238E27FC236}">
                <a16:creationId xmlns:a16="http://schemas.microsoft.com/office/drawing/2014/main" id="{78D44338-701C-490E-8AAC-259C975D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22" name="evidence-step-panel-4">
            <a:extLst xmlns:a="http://schemas.openxmlformats.org/drawingml/2006/main">
              <a:ext uri="{FF2B5EF4-FFF2-40B4-BE49-F238E27FC236}">
                <a16:creationId xmlns:a16="http://schemas.microsoft.com/office/drawing/2014/main" id="{5580F41F-60F7-47D3-9463-AEBF40E5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3" name="evidence-step-text-4">
            <a:extLst xmlns:a="http://schemas.openxmlformats.org/drawingml/2006/main">
              <a:ext uri="{FF2B5EF4-FFF2-40B4-BE49-F238E27FC236}">
                <a16:creationId xmlns:a16="http://schemas.microsoft.com/office/drawing/2014/main" id="{E1A44A3D-E11C-49C4-8421-79B7A374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Identifies provenance or cultural-context evidence; predicts more than taste alone.</a:t>
            </a:r>
          </a:p>
        </p:txBody>
      </p:sp>
      <p:sp>
        <p:nvSpPr>
          <p:cNvPr id="24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DDE904BC-FDEE-4962-83DA-30D11E1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Save in My Folio only when your teacher asks. Saving is not submission.</a:t>
            </a:r>
          </a:p>
        </p:txBody>
      </p:sp>
    </p:spTree>
    <p:extLst>
      <p:ext uri="{BB962C8B-B14F-4D97-AF65-F5344CB8AC3E}">
        <p14:creationId xmlns:p14="http://schemas.microsoft.com/office/powerpoint/2010/main" val="2057514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934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side-field">
            <a:extLst xmlns:a="http://schemas.openxmlformats.org/drawingml/2006/main">
              <a:ext uri="{FF2B5EF4-FFF2-40B4-BE49-F238E27FC236}">
                <a16:creationId xmlns:a16="http://schemas.microsoft.com/office/drawing/2014/main" id="{FB77F1A9-67C3-4746-B872-3B37BFC6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3A2BAB0C-BB4F-4925-9B65-88FCDFB2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MODULE 02 · EXIT EVIDENCE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7F9A912-5188-4F1D-A7DD-53BC6F3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evidence, not a guess.</a:t>
            </a:r>
          </a:p>
        </p:txBody>
      </p:sp>
      <p:sp>
        <p:nvSpPr>
          <p:cNvPr id="4" name="close-prompt-1">
            <a:extLst xmlns:a="http://schemas.openxmlformats.org/drawingml/2006/main">
              <a:ext uri="{FF2B5EF4-FFF2-40B4-BE49-F238E27FC236}">
                <a16:creationId xmlns:a16="http://schemas.microsoft.com/office/drawing/2014/main" id="{3B04AA72-056B-40A3-8ACA-7DF68C02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 One idea I can explain is Country, identity and respectful language because …</a:t>
            </a:r>
          </a:p>
        </p:txBody>
      </p:sp>
      <p:sp>
        <p:nvSpPr>
          <p:cNvPr id="5" name="close-divider-1">
            <a:extLst xmlns:a="http://schemas.openxmlformats.org/drawingml/2006/main">
              <a:ext uri="{FF2B5EF4-FFF2-40B4-BE49-F238E27FC236}">
                <a16:creationId xmlns:a16="http://schemas.microsoft.com/office/drawing/2014/main" id="{D252B1F0-05FC-47FC-BF61-6E8B48A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6" name="close-prompt-2">
            <a:extLst xmlns:a="http://schemas.openxmlformats.org/drawingml/2006/main">
              <a:ext uri="{FF2B5EF4-FFF2-40B4-BE49-F238E27FC236}">
                <a16:creationId xmlns:a16="http://schemas.microsoft.com/office/drawing/2014/main" id="{CCBEB5F1-BDB7-4780-BAFD-A0F9C83A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 One connection across the three ideas is …</a:t>
            </a:r>
          </a:p>
        </p:txBody>
      </p:sp>
      <p:sp>
        <p:nvSpPr>
          <p:cNvPr id="7" name="close-divider-2">
            <a:extLst xmlns:a="http://schemas.openxmlformats.org/drawingml/2006/main">
              <a:ext uri="{FF2B5EF4-FFF2-40B4-BE49-F238E27FC236}">
                <a16:creationId xmlns:a16="http://schemas.microsoft.com/office/drawing/2014/main" id="{6B0E99DD-C2AA-424D-AB4A-ABDFB93C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8" name="close-prompt-3">
            <a:extLst xmlns:a="http://schemas.openxmlformats.org/drawingml/2006/main">
              <a:ext uri="{FF2B5EF4-FFF2-40B4-BE49-F238E27FC236}">
                <a16:creationId xmlns:a16="http://schemas.microsoft.com/office/drawing/2014/main" id="{DC5896FE-D00A-4D0A-8FAF-E0D76B5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 One question or check I still need is …</a:t>
            </a:r>
          </a:p>
        </p:txBody>
      </p:sp>
      <p:sp>
        <p:nvSpPr>
          <p:cNvPr id="9" name="close-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5152D408-B70F-417D-B3F2-A2102249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Evidence destination: My Folio when directed. Exporting or saving is not submission.</a:t>
            </a:r>
          </a:p>
        </p:txBody>
      </p:sp>
      <p:sp>
        <p:nvSpPr>
          <p:cNvPr id="10" name="teacher-confirm-label">
            <a:extLst xmlns:a="http://schemas.openxmlformats.org/drawingml/2006/main">
              <a:ext uri="{FF2B5EF4-FFF2-40B4-BE49-F238E27FC236}">
                <a16:creationId xmlns:a16="http://schemas.microsoft.com/office/drawing/2014/main" id="{1DC25A49-4ED1-4799-A570-67112D94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TEACHER TO CONFIRM</a:t>
            </a:r>
          </a:p>
        </p:txBody>
      </p:sp>
      <p:sp>
        <p:nvSpPr>
          <p:cNvPr id="11" name="teacher-confirm-panel">
            <a:extLst xmlns:a="http://schemas.openxmlformats.org/drawingml/2006/main">
              <a:ext uri="{FF2B5EF4-FFF2-40B4-BE49-F238E27FC236}">
                <a16:creationId xmlns:a16="http://schemas.microsoft.com/office/drawing/2014/main" id="{3614EA2C-162D-4AE7-8035-0501BBDF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57325"/>
            <a:ext cx="3143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5E2"/>
          </a:solidFill>
          <a:ln xmlns:a="http://schemas.openxmlformats.org/drawingml/2006/main" w="28575">
            <a:solidFill>
              <a:srgbClr val="93442F"/>
            </a:solidFill>
            <a:prstDash val="solid"/>
          </a:ln>
        </p:spPr>
      </p:sp>
      <p:sp>
        <p:nvSpPr>
          <p:cNvPr id="12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4762BAA5-CBB3-455C-AF26-0F12DD6F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47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Ingredient access, allergies, cultural context and any practical trial approval.</a:t>
            </a:r>
          </a:p>
        </p:txBody>
      </p:sp>
      <p:sp>
        <p:nvSpPr>
          <p:cNvPr id="13" name="close-next-step-label">
            <a:extLst xmlns:a="http://schemas.openxmlformats.org/drawingml/2006/main">
              <a:ext uri="{FF2B5EF4-FFF2-40B4-BE49-F238E27FC236}">
                <a16:creationId xmlns:a16="http://schemas.microsoft.com/office/drawing/2014/main" id="{0F15C0B0-C6E1-490E-8377-491BF64D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4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ED25C0A6-A6B0-4C47-A44E-2981ADF4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module page to refine one response, then follow your teacher’s directions.</a:t>
            </a:r>
          </a:p>
        </p:txBody>
      </p:sp>
    </p:spTree>
    <p:extLst>
      <p:ext uri="{BB962C8B-B14F-4D97-AF65-F5344CB8AC3E}">
        <p14:creationId xmlns:p14="http://schemas.microsoft.com/office/powerpoint/2010/main" val="170538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2026-08-26T13:29:04.2010000Z</dcterms:created>
  <dcterms:modified xsi:type="dcterms:W3CDTF">2026-08-26T13:29:04.2010000Z</dcterms:modified>
</coreProperties>
</file>