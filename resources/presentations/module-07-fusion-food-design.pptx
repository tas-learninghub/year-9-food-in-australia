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82225b2b7f4bb1" /><Relationship Type="http://schemas.openxmlformats.org/officeDocument/2006/relationships/extended-properties" Target="/docProps/app.xml" Id="Re0ee42f58888437a" /><Relationship Type="http://schemas.openxmlformats.org/officeDocument/2006/relationships/officeDocument" Target="/ppt/presentation.xml" Id="Rd755ea0ae92146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7d288ea6fa46ad"/>
  </p:sldMasterIdLst>
  <p:notesMasterIdLst>
    <p:notesMasterId xmlns:r="http://schemas.openxmlformats.org/officeDocument/2006/relationships" r:id="Rc616d12e629b4c8d"/>
  </p:notesMasterIdLst>
  <p:sldIdLst>
    <p:sldId xmlns:r="http://schemas.openxmlformats.org/officeDocument/2006/relationships" id="256" r:id="R9a31cbba4c3d49dd"/>
    <p:sldId xmlns:r="http://schemas.openxmlformats.org/officeDocument/2006/relationships" id="257" r:id="Ref77595c718f4cf3"/>
    <p:sldId xmlns:r="http://schemas.openxmlformats.org/officeDocument/2006/relationships" id="258" r:id="Rc4fcb97f1662409d"/>
    <p:sldId xmlns:r="http://schemas.openxmlformats.org/officeDocument/2006/relationships" id="259" r:id="Rfb5661466dc043ef"/>
    <p:sldId xmlns:r="http://schemas.openxmlformats.org/officeDocument/2006/relationships" id="260" r:id="R0490f22e8a5240e5"/>
    <p:sldId xmlns:r="http://schemas.openxmlformats.org/officeDocument/2006/relationships" id="261" r:id="R90a3eca6d1764486"/>
    <p:sldId xmlns:r="http://schemas.openxmlformats.org/officeDocument/2006/relationships" id="262" r:id="Rb3647bb0daea4de5"/>
    <p:sldId xmlns:r="http://schemas.openxmlformats.org/officeDocument/2006/relationships" id="263" r:id="Rbad3e71d7a3844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ed6abfa8a149ac" /><Relationship Type="http://schemas.openxmlformats.org/officeDocument/2006/relationships/slideMaster" Target="/ppt/slideMasters/slideMaster1.xml" Id="R987d288ea6fa46ad" /><Relationship Type="http://schemas.openxmlformats.org/officeDocument/2006/relationships/notesMaster" Target="/ppt/notesMasters/notesMaster1.xml" Id="Rc616d12e629b4c8d" /><Relationship Type="http://schemas.openxmlformats.org/officeDocument/2006/relationships/presProps" Target="/ppt/presProps.xml" Id="Rc4c8bebceed94a49" /><Relationship Type="http://schemas.openxmlformats.org/officeDocument/2006/relationships/tableStyles" Target="/ppt/tableStyles.xml" Id="Ra367e744660a4d12" /><Relationship Type="http://schemas.openxmlformats.org/officeDocument/2006/relationships/slide" Target="/ppt/slides/slide1.xml" Id="R9a31cbba4c3d49dd" /><Relationship Type="http://schemas.openxmlformats.org/officeDocument/2006/relationships/slide" Target="/ppt/slides/slide2.xml" Id="Ref77595c718f4cf3" /><Relationship Type="http://schemas.openxmlformats.org/officeDocument/2006/relationships/slide" Target="/ppt/slides/slide3.xml" Id="Rc4fcb97f1662409d" /><Relationship Type="http://schemas.openxmlformats.org/officeDocument/2006/relationships/slide" Target="/ppt/slides/slide4.xml" Id="Rfb5661466dc043ef" /><Relationship Type="http://schemas.openxmlformats.org/officeDocument/2006/relationships/slide" Target="/ppt/slides/slide5.xml" Id="R0490f22e8a5240e5" /><Relationship Type="http://schemas.openxmlformats.org/officeDocument/2006/relationships/slide" Target="/ppt/slides/slide6.xml" Id="R90a3eca6d1764486" /><Relationship Type="http://schemas.openxmlformats.org/officeDocument/2006/relationships/slide" Target="/ppt/slides/slide7.xml" Id="Rb3647bb0daea4de5" /><Relationship Type="http://schemas.openxmlformats.org/officeDocument/2006/relationships/slide" Target="/ppt/slides/slide8.xml" Id="Rbad3e71d7a3844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c978b88cd47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5c211a95b04f48" /><Relationship Type="http://schemas.openxmlformats.org/officeDocument/2006/relationships/notesMaster" Target="/ppt/notesMasters/notesMaster1.xml" Id="R78b23e5f0cf84c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9b7bd9d063443d" /><Relationship Type="http://schemas.openxmlformats.org/officeDocument/2006/relationships/notesMaster" Target="/ppt/notesMasters/notesMaster1.xml" Id="R36d4639765994b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968029c57f4b61" /><Relationship Type="http://schemas.openxmlformats.org/officeDocument/2006/relationships/notesMaster" Target="/ppt/notesMasters/notesMaster1.xml" Id="Rf81c66fe0ef4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964432fdac463b" /><Relationship Type="http://schemas.openxmlformats.org/officeDocument/2006/relationships/notesMaster" Target="/ppt/notesMasters/notesMaster1.xml" Id="Rc710074825e642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a424b291934298" /><Relationship Type="http://schemas.openxmlformats.org/officeDocument/2006/relationships/notesMaster" Target="/ppt/notesMasters/notesMaster1.xml" Id="Rfdaaf9065ca645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52222a086845d0" /><Relationship Type="http://schemas.openxmlformats.org/officeDocument/2006/relationships/notesMaster" Target="/ppt/notesMasters/notesMaster1.xml" Id="Rfcd1207b157b4f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3741c38d954d56" /><Relationship Type="http://schemas.openxmlformats.org/officeDocument/2006/relationships/notesMaster" Target="/ppt/notesMasters/notesMaster1.xml" Id="Rd9b69ac85c0644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874cc1bd124852" /><Relationship Type="http://schemas.openxmlformats.org/officeDocument/2006/relationships/notesMaster" Target="/ppt/notesMasters/notesMaster1.xml" Id="R982be4575d00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question: how does fusion food design change a food decision or explanation?</a:t>
            </a:r>
          </a:p>
          <a:p xmlns:a="http://schemas.openxmlformats.org/drawingml/2006/main">
            <a:r>
              <a:t>State the outcome in plain language: A strong fusion concept has a user, purpose, researched rationale and an honest plan for evidence.</a:t>
            </a:r>
          </a:p>
          <a:p xmlns:a="http://schemas.openxmlformats.org/drawingml/2006/main">
            <a:r>
              <a:t>Ask students what the visual helps them notice, then make clear that it is a generated learning visual, not documentary evidence or practical permission.</a:t>
            </a:r>
          </a:p>
          <a:p xmlns:a="http://schemas.openxmlformats.org/drawingml/2006/main">
            <a:r>
              <a:t>Transition: the next slide shows the three connected ideas students will use to reach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visual: assets/photos/m07-purposeful-fusion-workspace.png;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timeline as a learning sequence, not an agenda. Briefly name each idea and show how the third depends on the first two.</a:t>
            </a:r>
          </a:p>
          <a:p xmlns:a="http://schemas.openxmlformats.org/drawingml/2006/main">
            <a:r>
              <a:t>Retrieval prompt: ask students to define or exemplify one term from Fusion needs a purpose, then name one uncertainty to check.</a:t>
            </a:r>
          </a:p>
          <a:p xmlns:a="http://schemas.openxmlformats.org/drawingml/2006/main">
            <a:r>
              <a:t>Listen for unsupported certainty. Model language such as ‘the source supports…’, ‘in this context…’ and ‘Teacher to confirm…’ where relevant.</a:t>
            </a:r>
          </a:p>
          <a:p xmlns:a="http://schemas.openxmlformats.org/drawingml/2006/main">
            <a:r>
              <a:t>Transition: begin with Fusion needs a purpose; students will use it as the first part of the final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m07-s01: Fusion needs a purpose.</a:t>
            </a:r>
          </a:p>
          <a:p xmlns:a="http://schemas.openxmlformats.org/drawingml/2006/main">
            <a:r>
              <a:t>- Course theory section m07-s02: Research before you design.</a:t>
            </a:r>
          </a:p>
          <a:p xmlns:a="http://schemas.openxmlformats.org/drawingml/2006/main">
            <a:r>
              <a:t>- Course theory section m07-s03: Annotate a safe, feasible concept.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Purposeful fusion starts with an intended user and reason. Each influence needs a functional contribution, researched context and honest acknowledgement. Combining recognisable elements at random is not a design rationale.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Fusion means combining anything recognisable.</a:t>
            </a:r>
          </a:p>
          <a:p xmlns:a="http://schemas.openxmlformats.org/drawingml/2006/main">
            <a:r>
              <a:t>Transition: connect this idea to fusion food design, then move to "the second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m07-s01: Fusion needs a purpose.</a:t>
            </a:r>
          </a:p>
          <a:p xmlns:a="http://schemas.openxmlformats.org/drawingml/2006/main">
            <a:r>
              <a:t>- Course visual: assets/diagrams/m07-purposeful-fusion-pathways.svg;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Design research should change a decision. Gather a small, relevant evidence set about origins, methods, predicted effects and constraints, then record how each source shaped the concept.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More research notes always produce a better design.</a:t>
            </a:r>
          </a:p>
          <a:p xmlns:a="http://schemas.openxmlformats.org/drawingml/2006/main">
            <a:r>
              <a:t>Transition: connect this idea to fusion food design, then move to "the final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m07-s02: Research before you design.</a:t>
            </a:r>
          </a:p>
          <a:p xmlns:a="http://schemas.openxmlformats.org/drawingml/2006/main">
            <a:r>
              <a:t>- Course visual: assets/photos/m07-evidence-to-design-workspace.png;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An annotated concept makes the reasoning visible: user, purpose, form, components, predicted sensory and functional effects, evidence, constraints and questions. It is a proposal, not practical permission.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 labelled sketch is automatically a tested or approved concept.</a:t>
            </a:r>
          </a:p>
          <a:p xmlns:a="http://schemas.openxmlformats.org/drawingml/2006/main">
            <a:r>
              <a:t>Transition: students now rehearse all three ideas through the module activity and retrieval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m07-s03: Annotate a safe, feasible concept.</a:t>
            </a:r>
          </a:p>
          <a:p xmlns:a="http://schemas.openxmlformats.org/drawingml/2006/main">
            <a:r>
              <a:t>- Course visual: assets/diagrams/m07-concept-annotation-map.svg;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activity as rehearsal: Rank the rationales from strongest to weakest, then choose the annotation that communicates a decision and its uncertainty.</a:t>
            </a:r>
          </a:p>
          <a:p xmlns:a="http://schemas.openxmlformats.org/drawingml/2006/main">
            <a:r>
              <a:t>Give quiet thinking time before discussion. Ask students to explain why an alternative is weaker, not merely name the correct choice.</a:t>
            </a:r>
          </a:p>
          <a:p xmlns:a="http://schemas.openxmlformats.org/drawingml/2006/main">
            <a:r>
              <a:t>Check 1: Each influence is researched and contributes deliberately to the user, purpose, sensory result, structure or meaning, with appropriate acknowledgement.</a:t>
            </a:r>
          </a:p>
          <a:p xmlns:a="http://schemas.openxmlformats.org/drawingml/2006/main">
            <a:r>
              <a:t>Check 2: A credible source or observation that changes or supports a named design decision.</a:t>
            </a:r>
          </a:p>
          <a:p xmlns:a="http://schemas.openxmlformats.org/drawingml/2006/main">
            <a:r>
              <a:t>Check 3: It names the feature, predicts its contribution, connects that contribution to purpose, and flags evidence or teacher confirmation still needed.</a:t>
            </a:r>
          </a:p>
          <a:p xmlns:a="http://schemas.openxmlformats.org/drawingml/2006/main">
            <a:r>
              <a:t>Misconception to correct: a correct choice without reasoning is enough evidence. Ask for the link between the claim and the source or scenario.</a:t>
            </a:r>
          </a:p>
          <a:p xmlns:a="http://schemas.openxmlformats.org/drawingml/2006/main">
            <a:r>
              <a:t>Transition: move from short retrieval to one constructed evidence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activity activity-m07: Fusion rationale studio.</a:t>
            </a:r>
          </a:p>
          <a:p xmlns:a="http://schemas.openxmlformats.org/drawingml/2006/main">
            <a:r>
              <a:t>- Course formative check check-m07-s01 for m07-s01.</a:t>
            </a:r>
          </a:p>
          <a:p xmlns:a="http://schemas.openxmlformats.org/drawingml/2006/main">
            <a:r>
              <a:t>- Course formative check check-m07-s02 for m07-s02.</a:t>
            </a:r>
          </a:p>
          <a:p xmlns:a="http://schemas.openxmlformats.org/drawingml/2006/main">
            <a:r>
              <a:t>- Course formative check check-m07-s03 for m07-s03.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prompt aloud once, then ask students to restate its decision or explanation in their own words.</a:t>
            </a:r>
          </a:p>
          <a:p xmlns:a="http://schemas.openxmlformats.org/drawingml/2006/main">
            <a:r>
              <a:t>Model the sequence: Read → Select → Explain → Check. Use the starter "The feature is intended to …" only if students need it.</a:t>
            </a:r>
          </a:p>
          <a:p xmlns:a="http://schemas.openxmlformats.org/drawingml/2006/main">
            <a:r>
              <a:t>Look for: uses the annotation reasoning chain; identifies uncertainty; does not imply practical permission.</a:t>
            </a:r>
          </a:p>
          <a:p xmlns:a="http://schemas.openxmlformats.org/drawingml/2006/main">
            <a:r>
              <a:t>Misconception to correct: saving locally means the work has been submitted or formally assessed. It has not.</a:t>
            </a:r>
          </a:p>
          <a:p xmlns:a="http://schemas.openxmlformats.org/drawingml/2006/main">
            <a:r>
              <a:t>Transition: close with a three-part exit ticket and the teacher-controlled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evidence record for m07-s03: Defend and test a concept.</a:t>
            </a:r>
          </a:p>
          <a:p xmlns:a="http://schemas.openxmlformats.org/drawingml/2006/main">
            <a:r>
              <a:t>- Course folio contract: device-local saving is not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one minute to write all three exit lines. Ask for a specific connection, not a generic summary.</a:t>
            </a:r>
          </a:p>
          <a:p xmlns:a="http://schemas.openxmlformats.org/drawingml/2006/main">
            <a:r>
              <a:t>Listen for the module takeaway: A strong fusion concept has a user, purpose, researched rationale and an honest plan for evidence.</a:t>
            </a:r>
          </a:p>
          <a:p xmlns:a="http://schemas.openxmlformats.org/drawingml/2006/main">
            <a:r>
              <a:t>State the sign-off exactly as shown: Teacher to confirm practical approval, ingredients, equipment and any cultural permission required.</a:t>
            </a:r>
          </a:p>
          <a:p xmlns:a="http://schemas.openxmlformats.org/drawingml/2006/main">
            <a:r>
              <a:t>Do not announce a practical, due date, weighting, grade or submission route unless it is in the current teacher-issued instruction.</a:t>
            </a:r>
          </a:p>
          <a:p xmlns:a="http://schemas.openxmlformats.org/drawingml/2006/main">
            <a:r>
              <a:t>Close by directing students to the Module 07 page or My Folio only as the teacher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Current Year 9 Assessment Booklet 2026: course-level task boundaries only; this deck does not invent unit task details.</a:t>
            </a:r>
          </a:p>
          <a:p xmlns:a="http://schemas.openxmlformats.org/drawingml/2006/main">
            <a:r>
              <a:t>- Course source-map v1.1 and assessment-orientation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36c3424cd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ecd2538744a02" /><Relationship Type="http://schemas.openxmlformats.org/officeDocument/2006/relationships/slideLayout" Target="/ppt/slideLayouts/slideLayout1.xml" Id="R95760c6ee28f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760c6ee28f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9de0197b540e4" /><Relationship Type="http://schemas.openxmlformats.org/officeDocument/2006/relationships/image" Target="/ppt/media/image.png" Id="R97e71b87a22a4678" /><Relationship Type="http://schemas.openxmlformats.org/officeDocument/2006/relationships/notesSlide" Target="/ppt/notesSlides/notesSlide1.xml" Id="R3658adcac648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af9300e034530" /><Relationship Type="http://schemas.openxmlformats.org/officeDocument/2006/relationships/notesSlide" Target="/ppt/notesSlides/notesSlide2.xml" Id="Rdc96a93b185b4e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710a36b034b68" /><Relationship Type="http://schemas.openxmlformats.org/officeDocument/2006/relationships/image" Target="/ppt/media/image2.png" Id="R92134590c84f47a2" /><Relationship Type="http://schemas.openxmlformats.org/officeDocument/2006/relationships/notesSlide" Target="/ppt/notesSlides/notesSlide3.xml" Id="R9c80284b9fa648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e037ddd4345af" /><Relationship Type="http://schemas.openxmlformats.org/officeDocument/2006/relationships/image" Target="/ppt/media/image3.png" Id="Rb3cfeb7a479b42a9" /><Relationship Type="http://schemas.openxmlformats.org/officeDocument/2006/relationships/notesSlide" Target="/ppt/notesSlides/notesSlide4.xml" Id="Rf31c85b99ab046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a975c4ade4f20" /><Relationship Type="http://schemas.openxmlformats.org/officeDocument/2006/relationships/image" Target="/ppt/media/image4.png" Id="Re3100c964c4a4936" /><Relationship Type="http://schemas.openxmlformats.org/officeDocument/2006/relationships/notesSlide" Target="/ppt/notesSlides/notesSlide5.xml" Id="R80b21b304f4348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98dcc14944092" /><Relationship Type="http://schemas.openxmlformats.org/officeDocument/2006/relationships/notesSlide" Target="/ppt/notesSlides/notesSlide6.xml" Id="Recef59cc23e24e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1dcae9fb04759" /><Relationship Type="http://schemas.openxmlformats.org/officeDocument/2006/relationships/notesSlide" Target="/ppt/notesSlides/notesSlide7.xml" Id="Ra3ebd6ab3a9e42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974fef5bd41f2" /><Relationship Type="http://schemas.openxmlformats.org/officeDocument/2006/relationships/notesSlide" Target="/ppt/notesSlides/notesSlide8.xml" Id="R968e10b5ff164c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E3C20973-BF60-4F19-A061-4DD6BB31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D62A72BF-1A9B-42E5-9DAE-D3F65F3F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5181600" cy="6019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71b87a22a4678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66700"/>
            <a:ext cx="5105400" cy="59436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4" name="cover-notice-panel">
            <a:extLst xmlns:a="http://schemas.openxmlformats.org/drawingml/2006/main">
              <a:ext uri="{FF2B5EF4-FFF2-40B4-BE49-F238E27FC236}">
                <a16:creationId xmlns:a16="http://schemas.microsoft.com/office/drawing/2014/main" id="{169C8F88-D266-40FD-AC76-B92A9D64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480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cover-notice">
            <a:extLst xmlns:a="http://schemas.openxmlformats.org/drawingml/2006/main">
              <a:ext uri="{FF2B5EF4-FFF2-40B4-BE49-F238E27FC236}">
                <a16:creationId xmlns:a16="http://schemas.microsoft.com/office/drawing/2014/main" id="{EBE42F8E-3634-4BD4-90D4-C9331F94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Generated learning visual — not documentary evidence.</a:t>
            </a:r>
          </a:p>
        </p:txBody>
      </p:sp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FC9B9A53-A07B-4315-A506-8127BC4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7F7CA2B5-E3C8-4787-89DF-06081E2A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odule-label">
            <a:extLst xmlns:a="http://schemas.openxmlformats.org/drawingml/2006/main">
              <a:ext uri="{FF2B5EF4-FFF2-40B4-BE49-F238E27FC236}">
                <a16:creationId xmlns:a16="http://schemas.microsoft.com/office/drawing/2014/main" id="{0EF9C223-CEE0-4B39-93CF-44078830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MODULE 07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A9F33A8-D570-4156-9C58-5F5F2DD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Fusion food design</a:t>
            </a:r>
          </a:p>
        </p:txBody>
      </p:sp>
      <p:sp>
        <p:nvSpPr>
          <p:cNvPr id="10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FBDB19CC-7BD4-4DBC-90AD-8F87EFE5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E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2ED"/>
                </a:solidFill>
                <a:latin typeface="Aptos"/>
                <a:ea typeface="Aptos"/>
                <a:cs typeface="Aptos"/>
              </a:rPr>
              <a:t>A strong fusion concept has a user, purpose, researched rationale and an honest plan for evidence.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50F96D2-C597-4BEB-BD60-16142F6C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1C6"/>
                </a:solidFill>
                <a:latin typeface="Aptos"/>
                <a:ea typeface="Aptos"/>
                <a:cs typeface="Aptos"/>
              </a:rPr>
              <a:t>Editable classroom presentation  •  Local review copy</a:t>
            </a:r>
          </a:p>
        </p:txBody>
      </p:sp>
    </p:spTree>
    <p:extLst>
      <p:ext uri="{BB962C8B-B14F-4D97-AF65-F5344CB8AC3E}">
        <p14:creationId xmlns:p14="http://schemas.microsoft.com/office/powerpoint/2010/main" val="105267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226F94CD-306D-4516-AD87-178E0071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B22C27B4-2EE4-4014-8FD6-E44968FE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07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1863A6C-C36F-4AFB-82FF-5136127D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0EB668D9-57B4-47C3-B2F1-F0D9E2A1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FUSION FOOD DESIGN · LEARNING PATHWAY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17BF5549-1A3B-4EC2-A84B-6CC4E3B0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Three ideas build one explanation</a:t>
            </a:r>
          </a:p>
        </p:txBody>
      </p:sp>
      <p:sp>
        <p:nvSpPr>
          <p:cNvPr id="6" name="arc-retrieval-prompt">
            <a:extLst xmlns:a="http://schemas.openxmlformats.org/drawingml/2006/main">
              <a:ext uri="{FF2B5EF4-FFF2-40B4-BE49-F238E27FC236}">
                <a16:creationId xmlns:a16="http://schemas.microsoft.com/office/drawing/2014/main" id="{2B50DB15-B877-47C2-85E9-50B6A844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Retrieval warm-up: What do you already know—and what needs checking?</a:t>
            </a:r>
          </a:p>
        </p:txBody>
      </p:sp>
      <p:sp>
        <p:nvSpPr>
          <p:cNvPr id="7" name="arc-connector">
            <a:extLst xmlns:a="http://schemas.openxmlformats.org/drawingml/2006/main">
              <a:ext uri="{FF2B5EF4-FFF2-40B4-BE49-F238E27FC236}">
                <a16:creationId xmlns:a16="http://schemas.microsoft.com/office/drawing/2014/main" id="{D7A94879-490B-4E5D-82DD-7399DA71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arc-node-1">
            <a:extLst xmlns:a="http://schemas.openxmlformats.org/drawingml/2006/main">
              <a:ext uri="{FF2B5EF4-FFF2-40B4-BE49-F238E27FC236}">
                <a16:creationId xmlns:a16="http://schemas.microsoft.com/office/drawing/2014/main" id="{6BC1ACA9-861E-4F9A-932B-E14956A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arc-number-1">
            <a:extLst xmlns:a="http://schemas.openxmlformats.org/drawingml/2006/main">
              <a:ext uri="{FF2B5EF4-FFF2-40B4-BE49-F238E27FC236}">
                <a16:creationId xmlns:a16="http://schemas.microsoft.com/office/drawing/2014/main" id="{127B066F-05D8-441F-B7E5-2C7E3E32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arc-node-2">
            <a:extLst xmlns:a="http://schemas.openxmlformats.org/drawingml/2006/main">
              <a:ext uri="{FF2B5EF4-FFF2-40B4-BE49-F238E27FC236}">
                <a16:creationId xmlns:a16="http://schemas.microsoft.com/office/drawing/2014/main" id="{E1AE9B25-F740-4067-A181-6215D4D0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442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arc-number-2">
            <a:extLst xmlns:a="http://schemas.openxmlformats.org/drawingml/2006/main">
              <a:ext uri="{FF2B5EF4-FFF2-40B4-BE49-F238E27FC236}">
                <a16:creationId xmlns:a16="http://schemas.microsoft.com/office/drawing/2014/main" id="{5941C5B7-12F8-4ABF-BC7D-721D68BF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arc-node-3">
            <a:extLst xmlns:a="http://schemas.openxmlformats.org/drawingml/2006/main">
              <a:ext uri="{FF2B5EF4-FFF2-40B4-BE49-F238E27FC236}">
                <a16:creationId xmlns:a16="http://schemas.microsoft.com/office/drawing/2014/main" id="{DC5CB89D-EBC8-41DF-8AF0-DCC38FC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arc-number-3">
            <a:extLst xmlns:a="http://schemas.openxmlformats.org/drawingml/2006/main">
              <a:ext uri="{FF2B5EF4-FFF2-40B4-BE49-F238E27FC236}">
                <a16:creationId xmlns:a16="http://schemas.microsoft.com/office/drawing/2014/main" id="{38CF6339-6DBB-4F35-833B-00EE8C9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arc-section-title-1">
            <a:extLst xmlns:a="http://schemas.openxmlformats.org/drawingml/2006/main">
              <a:ext uri="{FF2B5EF4-FFF2-40B4-BE49-F238E27FC236}">
                <a16:creationId xmlns:a16="http://schemas.microsoft.com/office/drawing/2014/main" id="{9DAE0E38-9AFE-4014-AE0B-36EE79E2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Fusion needs a purpose</a:t>
            </a:r>
          </a:p>
        </p:txBody>
      </p:sp>
      <p:sp>
        <p:nvSpPr>
          <p:cNvPr id="15" name="arc-section-purpose-1">
            <a:extLst xmlns:a="http://schemas.openxmlformats.org/drawingml/2006/main">
              <a:ext uri="{FF2B5EF4-FFF2-40B4-BE49-F238E27FC236}">
                <a16:creationId xmlns:a16="http://schemas.microsoft.com/office/drawing/2014/main" id="{3F4BBD32-DD27-4B3D-A345-E1D4A32D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Give the fusion a purpose</a:t>
            </a:r>
          </a:p>
        </p:txBody>
      </p:sp>
      <p:sp>
        <p:nvSpPr>
          <p:cNvPr id="16" name="arc-section-title-2">
            <a:extLst xmlns:a="http://schemas.openxmlformats.org/drawingml/2006/main">
              <a:ext uri="{FF2B5EF4-FFF2-40B4-BE49-F238E27FC236}">
                <a16:creationId xmlns:a16="http://schemas.microsoft.com/office/drawing/2014/main" id="{E295879E-4686-43D5-B550-EBADC8EA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Research before you design</a:t>
            </a:r>
          </a:p>
        </p:txBody>
      </p:sp>
      <p:sp>
        <p:nvSpPr>
          <p:cNvPr id="17" name="arc-section-purpose-2">
            <a:extLst xmlns:a="http://schemas.openxmlformats.org/drawingml/2006/main">
              <a:ext uri="{FF2B5EF4-FFF2-40B4-BE49-F238E27FC236}">
                <a16:creationId xmlns:a16="http://schemas.microsoft.com/office/drawing/2014/main" id="{BDF0E625-8BCC-44F0-BAAC-A295AA51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Gather research that changes decisions</a:t>
            </a:r>
          </a:p>
        </p:txBody>
      </p:sp>
      <p:sp>
        <p:nvSpPr>
          <p:cNvPr id="18" name="arc-section-title-3">
            <a:extLst xmlns:a="http://schemas.openxmlformats.org/drawingml/2006/main">
              <a:ext uri="{FF2B5EF4-FFF2-40B4-BE49-F238E27FC236}">
                <a16:creationId xmlns:a16="http://schemas.microsoft.com/office/drawing/2014/main" id="{CA302B3B-9611-4F9A-BA83-7891258B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Annotate a safe, feasible concept</a:t>
            </a:r>
          </a:p>
        </p:txBody>
      </p:sp>
      <p:sp>
        <p:nvSpPr>
          <p:cNvPr id="19" name="arc-section-purpose-3">
            <a:extLst xmlns:a="http://schemas.openxmlformats.org/drawingml/2006/main">
              <a:ext uri="{FF2B5EF4-FFF2-40B4-BE49-F238E27FC236}">
                <a16:creationId xmlns:a16="http://schemas.microsoft.com/office/drawing/2014/main" id="{F8D40B78-8C20-4A39-8A56-1C638182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Annotate reasoning, constraints and tests</a:t>
            </a:r>
          </a:p>
        </p:txBody>
      </p:sp>
      <p:sp>
        <p:nvSpPr>
          <p:cNvPr id="20" name="arc-takeaway-band">
            <a:extLst xmlns:a="http://schemas.openxmlformats.org/drawingml/2006/main">
              <a:ext uri="{FF2B5EF4-FFF2-40B4-BE49-F238E27FC236}">
                <a16:creationId xmlns:a16="http://schemas.microsoft.com/office/drawing/2014/main" id="{A51D8746-BED0-4A9A-9E31-36A0F02D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1" name="arc-takeaway">
            <a:extLst xmlns:a="http://schemas.openxmlformats.org/drawingml/2006/main">
              <a:ext uri="{FF2B5EF4-FFF2-40B4-BE49-F238E27FC236}">
                <a16:creationId xmlns:a16="http://schemas.microsoft.com/office/drawing/2014/main" id="{617C2452-430D-442C-9260-7EF77A59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9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Connect all three: A strong fusion concept has a user, purpose, researched rationale and an honest plan for evidence.</a:t>
            </a:r>
          </a:p>
        </p:txBody>
      </p:sp>
    </p:spTree>
    <p:extLst>
      <p:ext uri="{BB962C8B-B14F-4D97-AF65-F5344CB8AC3E}">
        <p14:creationId xmlns:p14="http://schemas.microsoft.com/office/powerpoint/2010/main" val="927908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D263A7A7-E29A-48D5-AE44-5D1C101D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04CE9AF9-9E0F-4F20-AF0B-3FFC0C4D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07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B670E42A-9F3B-4275-A520-D6792889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33EC1AA4-B100-46AA-B15E-1FA722D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1 · M07-S01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1C9DF173-B75D-4548-B5B3-9017F07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Fusion needs a purpose</a:t>
            </a:r>
          </a:p>
        </p:txBody>
      </p:sp>
      <p:sp>
        <p:nvSpPr>
          <p:cNvPr id="6" name="idea-1-visual-frame">
            <a:extLst xmlns:a="http://schemas.openxmlformats.org/drawingml/2006/main">
              <a:ext uri="{FF2B5EF4-FFF2-40B4-BE49-F238E27FC236}">
                <a16:creationId xmlns:a16="http://schemas.microsoft.com/office/drawing/2014/main" id="{FF8C0EAC-8D72-4E78-99C1-B71F7387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9817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34590c84f47a2"/>
          <a:stretch xmlns:a="http://schemas.openxmlformats.org/drawingml/2006/main"/>
        </p:blipFill>
        <p:spPr>
          <a:xfrm xmlns:a="http://schemas.openxmlformats.org/drawingml/2006/main">
            <a:off x="533400" y="1716881"/>
            <a:ext cx="5905500" cy="369093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idea-1-visual-caption">
            <a:extLst xmlns:a="http://schemas.openxmlformats.org/drawingml/2006/main">
              <a:ext uri="{FF2B5EF4-FFF2-40B4-BE49-F238E27FC236}">
                <a16:creationId xmlns:a16="http://schemas.microsoft.com/office/drawing/2014/main" id="{11142075-F52A-45F5-A5DE-E49E5BCA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themed label cannot make a random combination respectful; a purposeful pathway connects research and design decisions to user, function and context.</a:t>
            </a:r>
          </a:p>
        </p:txBody>
      </p:sp>
      <p:sp>
        <p:nvSpPr>
          <p:cNvPr id="9" name="idea-1-body">
            <a:extLst xmlns:a="http://schemas.openxmlformats.org/drawingml/2006/main">
              <a:ext uri="{FF2B5EF4-FFF2-40B4-BE49-F238E27FC236}">
                <a16:creationId xmlns:a16="http://schemas.microsoft.com/office/drawing/2014/main" id="{4BCD876E-FB7D-4E45-B16B-94B550EB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91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Purposeful fusion starts with an intended user and reason. Each influence needs a functional contribution, researched context and honest acknowledgement. Combining recognisable elements at random is not a design rationale.</a:t>
            </a:r>
          </a:p>
        </p:txBody>
      </p:sp>
      <p:sp>
        <p:nvSpPr>
          <p:cNvPr id="10" name="idea-1-notice-band">
            <a:extLst xmlns:a="http://schemas.openxmlformats.org/drawingml/2006/main">
              <a:ext uri="{FF2B5EF4-FFF2-40B4-BE49-F238E27FC236}">
                <a16:creationId xmlns:a16="http://schemas.microsoft.com/office/drawing/2014/main" id="{2382019C-98DF-4908-B636-0B843D86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591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idea-1-notice">
            <a:extLst xmlns:a="http://schemas.openxmlformats.org/drawingml/2006/main">
              <a:ext uri="{FF2B5EF4-FFF2-40B4-BE49-F238E27FC236}">
                <a16:creationId xmlns:a16="http://schemas.microsoft.com/office/drawing/2014/main" id="{58950348-3EFA-419A-8A8B-61FBBE26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133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Compare the two pathways. At which step does evidence begin changing the quality of the design reasoning?</a:t>
            </a:r>
          </a:p>
        </p:txBody>
      </p:sp>
    </p:spTree>
    <p:extLst>
      <p:ext uri="{BB962C8B-B14F-4D97-AF65-F5344CB8AC3E}">
        <p14:creationId xmlns:p14="http://schemas.microsoft.com/office/powerpoint/2010/main" val="397608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4ABC39A1-F344-4413-89FB-B419E7F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D9EA3950-B834-4BC0-BFFC-204322A5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07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A0B54D03-8A34-40E5-94B6-4D86516A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67A9FBCF-DAE3-48A0-ABB7-7BCA270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2 · M07-S02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D614C56C-E74A-4FD0-AEA5-FF757728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Research before you design</a:t>
            </a:r>
          </a:p>
        </p:txBody>
      </p:sp>
      <p:sp>
        <p:nvSpPr>
          <p:cNvPr id="6" name="idea-2-body">
            <a:extLst xmlns:a="http://schemas.openxmlformats.org/drawingml/2006/main">
              <a:ext uri="{FF2B5EF4-FFF2-40B4-BE49-F238E27FC236}">
                <a16:creationId xmlns:a16="http://schemas.microsoft.com/office/drawing/2014/main" id="{57278E62-4B97-493A-810B-E4531816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686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Design research should change a decision. Gather a small, relevant evidence set about origins, methods, predicted effects and constraints, then record how each source shaped the concept.</a:t>
            </a:r>
          </a:p>
        </p:txBody>
      </p:sp>
      <p:sp>
        <p:nvSpPr>
          <p:cNvPr id="7" name="idea-2-notice-band">
            <a:extLst xmlns:a="http://schemas.openxmlformats.org/drawingml/2006/main">
              <a:ext uri="{FF2B5EF4-FFF2-40B4-BE49-F238E27FC236}">
                <a16:creationId xmlns:a16="http://schemas.microsoft.com/office/drawing/2014/main" id="{45101762-BE86-40C3-92BC-AA7FA17C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686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8" name="idea-2-notice">
            <a:extLst xmlns:a="http://schemas.openxmlformats.org/drawingml/2006/main">
              <a:ext uri="{FF2B5EF4-FFF2-40B4-BE49-F238E27FC236}">
                <a16:creationId xmlns:a16="http://schemas.microsoft.com/office/drawing/2014/main" id="{945780CE-677D-41D9-8D09-CC3E395B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229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Trace the visual path from source cards to sketch and ingredient arrangement. What design decision could each type of evidence inform?</a:t>
            </a:r>
          </a:p>
        </p:txBody>
      </p:sp>
      <p:sp>
        <p:nvSpPr>
          <p:cNvPr id="9" name="idea-2-visual-frame">
            <a:extLst xmlns:a="http://schemas.openxmlformats.org/drawingml/2006/main">
              <a:ext uri="{FF2B5EF4-FFF2-40B4-BE49-F238E27FC236}">
                <a16:creationId xmlns:a16="http://schemas.microsoft.com/office/drawing/2014/main" id="{B3CC4399-C720-4119-9562-D545E9F0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8483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feb7a479b42a9"/>
          <a:srcRect xmlns:a="http://schemas.openxmlformats.org/drawingml/2006/main" l="1905" t="0" r="19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562100"/>
            <a:ext cx="57721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idea-2-visual-caption">
            <a:extLst xmlns:a="http://schemas.openxmlformats.org/drawingml/2006/main">
              <a:ext uri="{FF2B5EF4-FFF2-40B4-BE49-F238E27FC236}">
                <a16:creationId xmlns:a16="http://schemas.microsoft.com/office/drawing/2014/main" id="{C9BF09AF-D69C-4DF8-A209-281D582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fictional research workspace showing evidence feeding a design decision; blank cards avoid invented sources and private information.</a:t>
            </a:r>
          </a:p>
        </p:txBody>
      </p:sp>
    </p:spTree>
    <p:extLst>
      <p:ext uri="{BB962C8B-B14F-4D97-AF65-F5344CB8AC3E}">
        <p14:creationId xmlns:p14="http://schemas.microsoft.com/office/powerpoint/2010/main" val="721762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788ACE8E-6553-4D8C-B80A-FB4E72A8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FD76F9F8-44AB-40AB-A8D5-D4D8A39C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07</a:t>
            </a:r>
          </a:p>
        </p:txBody>
      </p:sp>
      <p:sp>
        <p:nvSpPr>
          <p:cNvPr id="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93D90CF-8BB2-47EA-A7F9-B16F60D0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CA17FCD6-F28B-42F9-821E-FFC569CA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3 · M07-S03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E9C52E93-0BFF-42C2-8E89-F7E80AD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Annotate a safe, feasible concept</a:t>
            </a:r>
          </a:p>
        </p:txBody>
      </p:sp>
      <p:sp>
        <p:nvSpPr>
          <p:cNvPr id="6" name="idea-3-body">
            <a:extLst xmlns:a="http://schemas.openxmlformats.org/drawingml/2006/main">
              <a:ext uri="{FF2B5EF4-FFF2-40B4-BE49-F238E27FC236}">
                <a16:creationId xmlns:a16="http://schemas.microsoft.com/office/drawing/2014/main" id="{67C630BE-9BA5-4E05-AF4B-D031619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An annotated concept makes the reasoning visible: user, purpose, form, components, predicted sensory and functional effects, evidence, constraints and questions. It is a proposal, not practical permission.</a:t>
            </a:r>
          </a:p>
        </p:txBody>
      </p:sp>
      <p:sp>
        <p:nvSpPr>
          <p:cNvPr id="7" name="idea-3-decision-band">
            <a:extLst xmlns:a="http://schemas.openxmlformats.org/drawingml/2006/main">
              <a:ext uri="{FF2B5EF4-FFF2-40B4-BE49-F238E27FC236}">
                <a16:creationId xmlns:a16="http://schemas.microsoft.com/office/drawing/2014/main" id="{F4E76347-20C8-4EF6-824A-59DDF986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476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3-decision">
            <a:extLst xmlns:a="http://schemas.openxmlformats.org/drawingml/2006/main">
              <a:ext uri="{FF2B5EF4-FFF2-40B4-BE49-F238E27FC236}">
                <a16:creationId xmlns:a16="http://schemas.microsoft.com/office/drawing/2014/main" id="{97A5DCBD-9968-4A60-BE1E-9039BFD7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Follow each arrow. Which annotation describes observation, which predicts an effect, and which records uncertainty?</a:t>
            </a:r>
          </a:p>
        </p:txBody>
      </p:sp>
      <p:sp>
        <p:nvSpPr>
          <p:cNvPr id="9" name="idea-3-visual-frame">
            <a:extLst xmlns:a="http://schemas.openxmlformats.org/drawingml/2006/main">
              <a:ext uri="{FF2B5EF4-FFF2-40B4-BE49-F238E27FC236}">
                <a16:creationId xmlns:a16="http://schemas.microsoft.com/office/drawing/2014/main" id="{C9FD12EE-EACE-4958-80E0-0B7C55FD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24000"/>
            <a:ext cx="60579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00c964c4a4936"/>
          <a:stretch xmlns:a="http://schemas.openxmlformats.org/drawingml/2006/main"/>
        </p:blipFill>
        <p:spPr>
          <a:xfrm xmlns:a="http://schemas.openxmlformats.org/drawingml/2006/main">
            <a:off x="5543550" y="1674019"/>
            <a:ext cx="5981700" cy="3738563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11" name="idea-3-visual-caption">
            <a:extLst xmlns:a="http://schemas.openxmlformats.org/drawingml/2006/main">
              <a:ext uri="{FF2B5EF4-FFF2-40B4-BE49-F238E27FC236}">
                <a16:creationId xmlns:a16="http://schemas.microsoft.com/office/drawing/2014/main" id="{5987B13D-60CA-4609-B970-4317C368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97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An annotation explains a feature and its reasoning; it does not authorise a practical method or erase a question that needs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38875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EF81ECDA-77E2-4BD7-94A4-55BB2C2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6FEBB23E-89BF-4094-8A3E-A66BDE8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  •  MODULE 07</a:t>
            </a:r>
          </a:p>
        </p:txBody>
      </p:sp>
      <p:sp>
        <p:nvSpPr>
          <p:cNvPr id="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C23CABD-D75D-4ECC-8D80-1A740D2F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90C45E89-EF68-48DF-957D-5F557790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FUSION FOOD DESIGN · REHEARSAL</a:t>
            </a:r>
          </a:p>
        </p:txBody>
      </p:sp>
      <p:sp>
        <p:nvSpPr>
          <p:cNvPr id="5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22E4F8C1-79F3-4D8D-840E-AFAA54D1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6" name="retrieve-instruction">
            <a:extLst xmlns:a="http://schemas.openxmlformats.org/drawingml/2006/main">
              <a:ext uri="{FF2B5EF4-FFF2-40B4-BE49-F238E27FC236}">
                <a16:creationId xmlns:a16="http://schemas.microsoft.com/office/drawing/2014/main" id="{72C15635-5EA2-43BB-9DA3-CB0E6452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9E2"/>
                </a:solidFill>
                <a:latin typeface="Aptos"/>
                <a:ea typeface="Aptos"/>
                <a:cs typeface="Aptos"/>
              </a:rPr>
              <a:t>Answer silently first. Then justify one response with a partner.</a:t>
            </a:r>
          </a:p>
        </p:txBody>
      </p:sp>
      <p:sp>
        <p:nvSpPr>
          <p:cNvPr id="7" name="retrieve-number-1">
            <a:extLst xmlns:a="http://schemas.openxmlformats.org/drawingml/2006/main">
              <a:ext uri="{FF2B5EF4-FFF2-40B4-BE49-F238E27FC236}">
                <a16:creationId xmlns:a16="http://schemas.microsoft.com/office/drawing/2014/main" id="{CA2B9E21-DE40-441C-83C8-5AD0212D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rieve-question-1">
            <a:extLst xmlns:a="http://schemas.openxmlformats.org/drawingml/2006/main">
              <a:ext uri="{FF2B5EF4-FFF2-40B4-BE49-F238E27FC236}">
                <a16:creationId xmlns:a16="http://schemas.microsoft.com/office/drawing/2014/main" id="{0155DD81-7685-40BC-BB9D-2585E18A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rationale describes purposeful fusion design?</a:t>
            </a:r>
          </a:p>
        </p:txBody>
      </p:sp>
      <p:sp>
        <p:nvSpPr>
          <p:cNvPr id="9" name="retrieve-divider-1">
            <a:extLst xmlns:a="http://schemas.openxmlformats.org/drawingml/2006/main">
              <a:ext uri="{FF2B5EF4-FFF2-40B4-BE49-F238E27FC236}">
                <a16:creationId xmlns:a16="http://schemas.microsoft.com/office/drawing/2014/main" id="{DD5F719E-25E8-4687-A4D7-FE93F627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0" name="retrieve-number-2">
            <a:extLst xmlns:a="http://schemas.openxmlformats.org/drawingml/2006/main">
              <a:ext uri="{FF2B5EF4-FFF2-40B4-BE49-F238E27FC236}">
                <a16:creationId xmlns:a16="http://schemas.microsoft.com/office/drawing/2014/main" id="{B2C4A5FD-45BA-40CE-BABD-A57447EB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trieve-question-2">
            <a:extLst xmlns:a="http://schemas.openxmlformats.org/drawingml/2006/main">
              <a:ext uri="{FF2B5EF4-FFF2-40B4-BE49-F238E27FC236}">
                <a16:creationId xmlns:a16="http://schemas.microsoft.com/office/drawing/2014/main" id="{D4CAF015-35A6-40E4-BCA7-7E5030D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research note belongs in a design evidence set?</a:t>
            </a:r>
          </a:p>
        </p:txBody>
      </p:sp>
      <p:sp>
        <p:nvSpPr>
          <p:cNvPr id="12" name="retrieve-divider-2">
            <a:extLst xmlns:a="http://schemas.openxmlformats.org/drawingml/2006/main">
              <a:ext uri="{FF2B5EF4-FFF2-40B4-BE49-F238E27FC236}">
                <a16:creationId xmlns:a16="http://schemas.microsoft.com/office/drawing/2014/main" id="{77E5A895-FD43-4063-8BBC-DD96047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3" name="retrieve-number-3">
            <a:extLst xmlns:a="http://schemas.openxmlformats.org/drawingml/2006/main">
              <a:ext uri="{FF2B5EF4-FFF2-40B4-BE49-F238E27FC236}">
                <a16:creationId xmlns:a16="http://schemas.microsoft.com/office/drawing/2014/main" id="{8E722872-FAC1-46B8-B155-F9E7BE94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trieve-question-3">
            <a:extLst xmlns:a="http://schemas.openxmlformats.org/drawingml/2006/main">
              <a:ext uri="{FF2B5EF4-FFF2-40B4-BE49-F238E27FC236}">
                <a16:creationId xmlns:a16="http://schemas.microsoft.com/office/drawing/2014/main" id="{B8FB9C70-9F57-4D37-94E3-0E6265A6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annotation shows the strongest design reasoning?</a:t>
            </a:r>
          </a:p>
        </p:txBody>
      </p:sp>
      <p:sp>
        <p:nvSpPr>
          <p:cNvPr id="15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CAFAEA9C-E9CE-46B0-9032-59233BB9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6" name="activity-label">
            <a:extLst xmlns:a="http://schemas.openxmlformats.org/drawingml/2006/main">
              <a:ext uri="{FF2B5EF4-FFF2-40B4-BE49-F238E27FC236}">
                <a16:creationId xmlns:a16="http://schemas.microsoft.com/office/drawing/2014/main" id="{A0746E99-55AA-4C07-BB3D-59677C02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APPLIED LEARNING ACTIVITY</a:t>
            </a:r>
          </a:p>
        </p:txBody>
      </p:sp>
      <p:sp>
        <p:nvSpPr>
          <p:cNvPr id="17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C0238A98-92CA-4125-8FEC-83EFF5CC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Fusion rationale studio</a:t>
            </a:r>
          </a:p>
        </p:txBody>
      </p:sp>
      <p:sp>
        <p:nvSpPr>
          <p:cNvPr id="18" name="activity-purpose">
            <a:extLst xmlns:a="http://schemas.openxmlformats.org/drawingml/2006/main">
              <a:ext uri="{FF2B5EF4-FFF2-40B4-BE49-F238E27FC236}">
                <a16:creationId xmlns:a16="http://schemas.microsoft.com/office/drawing/2014/main" id="{5AA9080D-A004-46E8-8D60-11444727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38525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Practise ranking design rationales and turning labels into evidence-aware annotations.</a:t>
            </a:r>
          </a:p>
        </p:txBody>
      </p:sp>
      <p:sp>
        <p:nvSpPr>
          <p:cNvPr id="19" name="activity-task">
            <a:extLst xmlns:a="http://schemas.openxmlformats.org/drawingml/2006/main">
              <a:ext uri="{FF2B5EF4-FFF2-40B4-BE49-F238E27FC236}">
                <a16:creationId xmlns:a16="http://schemas.microsoft.com/office/drawing/2014/main" id="{FACA5552-87B9-476B-B70D-B6260379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Try: Rank these rationales from strongest to weakest.</a:t>
            </a:r>
          </a:p>
        </p:txBody>
      </p:sp>
      <p:sp>
        <p:nvSpPr>
          <p:cNvPr id="20" name="retrieve-boundary">
            <a:extLst xmlns:a="http://schemas.openxmlformats.org/drawingml/2006/main">
              <a:ext uri="{FF2B5EF4-FFF2-40B4-BE49-F238E27FC236}">
                <a16:creationId xmlns:a16="http://schemas.microsoft.com/office/drawing/2014/main" id="{1CB1C025-0ED7-44C8-B892-474827E3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Rehearsal first. Save evidence only when the teacher directs.</a:t>
            </a:r>
          </a:p>
        </p:txBody>
      </p:sp>
    </p:spTree>
    <p:extLst>
      <p:ext uri="{BB962C8B-B14F-4D97-AF65-F5344CB8AC3E}">
        <p14:creationId xmlns:p14="http://schemas.microsoft.com/office/powerpoint/2010/main" val="141173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E1B696A8-0CC4-44B0-B5F1-F1BC6118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03E24C34-B46F-4AB3-B9D2-CF59C278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07</a:t>
            </a:r>
          </a:p>
        </p:txBody>
      </p:sp>
      <p:sp>
        <p:nvSpPr>
          <p:cNvPr id="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EE59A3F4-D4C4-4325-9CC9-7AFBADF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42F254C0-ABCE-490E-83C1-FA0D5786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FUSION FOOD DESIGN · GUIDED RESPONSE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355FF334-BAC6-49FB-9E9A-5C5A4C4E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Build evidence someone else can follow</a:t>
            </a:r>
          </a:p>
        </p:txBody>
      </p:sp>
      <p:sp>
        <p:nvSpPr>
          <p:cNvPr id="6" name="evidence-question-panel">
            <a:extLst xmlns:a="http://schemas.openxmlformats.org/drawingml/2006/main">
              <a:ext uri="{FF2B5EF4-FFF2-40B4-BE49-F238E27FC236}">
                <a16:creationId xmlns:a16="http://schemas.microsoft.com/office/drawing/2014/main" id="{5A0C8393-8A54-46E2-9564-40C2E58A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871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evidence-question-label">
            <a:extLst xmlns:a="http://schemas.openxmlformats.org/drawingml/2006/main">
              <a:ext uri="{FF2B5EF4-FFF2-40B4-BE49-F238E27FC236}">
                <a16:creationId xmlns:a16="http://schemas.microsoft.com/office/drawing/2014/main" id="{4FC9F97E-1CDF-4384-BA78-A5AFFB5E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8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C9D3460A-1949-4BF1-926B-1E7EC839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Defend the strongest decision in an annotated concept and identify the first assumption that should be tested through evidence, prototyping or feedback. Keep practical approval separate.</a:t>
            </a:r>
          </a:p>
        </p:txBody>
      </p:sp>
      <p:sp>
        <p:nvSpPr>
          <p:cNvPr id="9" name="evidence-connector-1">
            <a:extLst xmlns:a="http://schemas.openxmlformats.org/drawingml/2006/main">
              <a:ext uri="{FF2B5EF4-FFF2-40B4-BE49-F238E27FC236}">
                <a16:creationId xmlns:a16="http://schemas.microsoft.com/office/drawing/2014/main" id="{3AAB4AD5-A44A-46AF-8BB3-E00959B0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0" name="evidence-connector-2">
            <a:extLst xmlns:a="http://schemas.openxmlformats.org/drawingml/2006/main">
              <a:ext uri="{FF2B5EF4-FFF2-40B4-BE49-F238E27FC236}">
                <a16:creationId xmlns:a16="http://schemas.microsoft.com/office/drawing/2014/main" id="{72596DB9-296A-4CF8-BFE8-941A249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evidence-connector-3">
            <a:extLst xmlns:a="http://schemas.openxmlformats.org/drawingml/2006/main">
              <a:ext uri="{FF2B5EF4-FFF2-40B4-BE49-F238E27FC236}">
                <a16:creationId xmlns:a16="http://schemas.microsoft.com/office/drawing/2014/main" id="{2EA4D4B2-813A-4C58-B45B-B663B547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evidence-step-label-1">
            <a:extLst xmlns:a="http://schemas.openxmlformats.org/drawingml/2006/main">
              <a:ext uri="{FF2B5EF4-FFF2-40B4-BE49-F238E27FC236}">
                <a16:creationId xmlns:a16="http://schemas.microsoft.com/office/drawing/2014/main" id="{09CD8DEF-A85A-4F28-B1DB-9D0DB243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13" name="evidence-step-panel-1">
            <a:extLst xmlns:a="http://schemas.openxmlformats.org/drawingml/2006/main">
              <a:ext uri="{FF2B5EF4-FFF2-40B4-BE49-F238E27FC236}">
                <a16:creationId xmlns:a16="http://schemas.microsoft.com/office/drawing/2014/main" id="{D0304D27-B4F7-440C-B50E-E32FD2B5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4" name="evidence-step-text-1">
            <a:extLst xmlns:a="http://schemas.openxmlformats.org/drawingml/2006/main">
              <a:ext uri="{FF2B5EF4-FFF2-40B4-BE49-F238E27FC236}">
                <a16:creationId xmlns:a16="http://schemas.microsoft.com/office/drawing/2014/main" id="{9DD5514E-E6B7-429F-914F-5FB806B7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Underline the exact decision or explanation the prompt requires.</a:t>
            </a:r>
          </a:p>
        </p:txBody>
      </p:sp>
      <p:sp>
        <p:nvSpPr>
          <p:cNvPr id="15" name="evidence-step-label-2">
            <a:extLst xmlns:a="http://schemas.openxmlformats.org/drawingml/2006/main">
              <a:ext uri="{FF2B5EF4-FFF2-40B4-BE49-F238E27FC236}">
                <a16:creationId xmlns:a16="http://schemas.microsoft.com/office/drawing/2014/main" id="{ED6A1B31-E843-40EC-8C86-250ABCEE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6" name="evidence-step-panel-2">
            <a:extLst xmlns:a="http://schemas.openxmlformats.org/drawingml/2006/main">
              <a:ext uri="{FF2B5EF4-FFF2-40B4-BE49-F238E27FC236}">
                <a16:creationId xmlns:a16="http://schemas.microsoft.com/office/drawing/2014/main" id="{3B816165-9DB9-45B8-8C7A-B55FB6E5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7" name="evidence-step-text-2">
            <a:extLst xmlns:a="http://schemas.openxmlformats.org/drawingml/2006/main">
              <a:ext uri="{FF2B5EF4-FFF2-40B4-BE49-F238E27FC236}">
                <a16:creationId xmlns:a16="http://schemas.microsoft.com/office/drawing/2014/main" id="{E7853C77-222E-411E-A724-A8B0EF3D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evidence that uses the annotation reasoning chain.</a:t>
            </a:r>
          </a:p>
        </p:txBody>
      </p:sp>
      <p:sp>
        <p:nvSpPr>
          <p:cNvPr id="18" name="evidence-step-label-3">
            <a:extLst xmlns:a="http://schemas.openxmlformats.org/drawingml/2006/main">
              <a:ext uri="{FF2B5EF4-FFF2-40B4-BE49-F238E27FC236}">
                <a16:creationId xmlns:a16="http://schemas.microsoft.com/office/drawing/2014/main" id="{1779826D-1932-4457-B7B3-A471C04B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9" name="evidence-step-panel-3">
            <a:extLst xmlns:a="http://schemas.openxmlformats.org/drawingml/2006/main">
              <a:ext uri="{FF2B5EF4-FFF2-40B4-BE49-F238E27FC236}">
                <a16:creationId xmlns:a16="http://schemas.microsoft.com/office/drawing/2014/main" id="{A07A6546-943D-403E-B27F-4C63BC5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EE3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0" name="evidence-step-text-3">
            <a:extLst xmlns:a="http://schemas.openxmlformats.org/drawingml/2006/main">
              <a:ext uri="{FF2B5EF4-FFF2-40B4-BE49-F238E27FC236}">
                <a16:creationId xmlns:a16="http://schemas.microsoft.com/office/drawing/2014/main" id="{18828C82-8DAE-46B8-82A8-3D2CBB0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The feature is intended to …</a:t>
            </a:r>
          </a:p>
        </p:txBody>
      </p:sp>
      <p:sp>
        <p:nvSpPr>
          <p:cNvPr id="21" name="evidence-step-label-4">
            <a:extLst xmlns:a="http://schemas.openxmlformats.org/drawingml/2006/main">
              <a:ext uri="{FF2B5EF4-FFF2-40B4-BE49-F238E27FC236}">
                <a16:creationId xmlns:a16="http://schemas.microsoft.com/office/drawing/2014/main" id="{5E9F51D8-5D62-4BBB-9D88-C7FEA639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22" name="evidence-step-panel-4">
            <a:extLst xmlns:a="http://schemas.openxmlformats.org/drawingml/2006/main">
              <a:ext uri="{FF2B5EF4-FFF2-40B4-BE49-F238E27FC236}">
                <a16:creationId xmlns:a16="http://schemas.microsoft.com/office/drawing/2014/main" id="{8E6BB76A-E716-4C57-8C67-5A536186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3" name="evidence-step-text-4">
            <a:extLst xmlns:a="http://schemas.openxmlformats.org/drawingml/2006/main">
              <a:ext uri="{FF2B5EF4-FFF2-40B4-BE49-F238E27FC236}">
                <a16:creationId xmlns:a16="http://schemas.microsoft.com/office/drawing/2014/main" id="{CB85FF68-99F2-43F1-939A-D0778515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Identifies uncertainty; does not imply practical permission.</a:t>
            </a:r>
          </a:p>
        </p:txBody>
      </p:sp>
      <p:sp>
        <p:nvSpPr>
          <p:cNvPr id="24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E250CFE5-029A-430B-B7DC-363B740C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Save in My Folio only when your teacher asks. Saving is not submission.</a:t>
            </a:r>
          </a:p>
        </p:txBody>
      </p:sp>
    </p:spTree>
    <p:extLst>
      <p:ext uri="{BB962C8B-B14F-4D97-AF65-F5344CB8AC3E}">
        <p14:creationId xmlns:p14="http://schemas.microsoft.com/office/powerpoint/2010/main" val="476527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934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side-field">
            <a:extLst xmlns:a="http://schemas.openxmlformats.org/drawingml/2006/main">
              <a:ext uri="{FF2B5EF4-FFF2-40B4-BE49-F238E27FC236}">
                <a16:creationId xmlns:a16="http://schemas.microsoft.com/office/drawing/2014/main" id="{3162AD2B-D5A0-43E6-903A-2CF23887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8C3AEA69-62B0-424F-88DD-A58119B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MODULE 07 · EXIT EVIDENCE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A86EE48-E0B2-4057-A275-18124817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evidence, not a guess.</a:t>
            </a:r>
          </a:p>
        </p:txBody>
      </p:sp>
      <p:sp>
        <p:nvSpPr>
          <p:cNvPr id="4" name="close-prompt-1">
            <a:extLst xmlns:a="http://schemas.openxmlformats.org/drawingml/2006/main">
              <a:ext uri="{FF2B5EF4-FFF2-40B4-BE49-F238E27FC236}">
                <a16:creationId xmlns:a16="http://schemas.microsoft.com/office/drawing/2014/main" id="{C5E6CC57-5891-48BF-A0EE-8F99DF89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 One idea I can explain is fusion needs a purpose because …</a:t>
            </a:r>
          </a:p>
        </p:txBody>
      </p:sp>
      <p:sp>
        <p:nvSpPr>
          <p:cNvPr id="5" name="close-divider-1">
            <a:extLst xmlns:a="http://schemas.openxmlformats.org/drawingml/2006/main">
              <a:ext uri="{FF2B5EF4-FFF2-40B4-BE49-F238E27FC236}">
                <a16:creationId xmlns:a16="http://schemas.microsoft.com/office/drawing/2014/main" id="{2642B701-EC19-4309-B9A2-1E4AD5C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6" name="close-prompt-2">
            <a:extLst xmlns:a="http://schemas.openxmlformats.org/drawingml/2006/main">
              <a:ext uri="{FF2B5EF4-FFF2-40B4-BE49-F238E27FC236}">
                <a16:creationId xmlns:a16="http://schemas.microsoft.com/office/drawing/2014/main" id="{46E2C4B0-2C29-4312-95B0-0C52045A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 One connection across the three ideas is …</a:t>
            </a:r>
          </a:p>
        </p:txBody>
      </p:sp>
      <p:sp>
        <p:nvSpPr>
          <p:cNvPr id="7" name="close-divider-2">
            <a:extLst xmlns:a="http://schemas.openxmlformats.org/drawingml/2006/main">
              <a:ext uri="{FF2B5EF4-FFF2-40B4-BE49-F238E27FC236}">
                <a16:creationId xmlns:a16="http://schemas.microsoft.com/office/drawing/2014/main" id="{F09183C6-4468-4BA2-A8A2-330B5269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8" name="close-prompt-3">
            <a:extLst xmlns:a="http://schemas.openxmlformats.org/drawingml/2006/main">
              <a:ext uri="{FF2B5EF4-FFF2-40B4-BE49-F238E27FC236}">
                <a16:creationId xmlns:a16="http://schemas.microsoft.com/office/drawing/2014/main" id="{E0B025F5-BDAE-401B-8893-3C8592F5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 One question or check I still need is …</a:t>
            </a:r>
          </a:p>
        </p:txBody>
      </p:sp>
      <p:sp>
        <p:nvSpPr>
          <p:cNvPr id="9" name="close-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4A351215-6AFF-4199-94E5-0E26114E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Evidence destination: My Folio when directed. Exporting or saving is not submission.</a:t>
            </a:r>
          </a:p>
        </p:txBody>
      </p:sp>
      <p:sp>
        <p:nvSpPr>
          <p:cNvPr id="10" name="teacher-confirm-label">
            <a:extLst xmlns:a="http://schemas.openxmlformats.org/drawingml/2006/main">
              <a:ext uri="{FF2B5EF4-FFF2-40B4-BE49-F238E27FC236}">
                <a16:creationId xmlns:a16="http://schemas.microsoft.com/office/drawing/2014/main" id="{D3C6B79C-5EC3-4F71-8F0B-5802780A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TEACHER TO CONFIRM</a:t>
            </a:r>
          </a:p>
        </p:txBody>
      </p:sp>
      <p:sp>
        <p:nvSpPr>
          <p:cNvPr id="11" name="teacher-confirm-panel">
            <a:extLst xmlns:a="http://schemas.openxmlformats.org/drawingml/2006/main">
              <a:ext uri="{FF2B5EF4-FFF2-40B4-BE49-F238E27FC236}">
                <a16:creationId xmlns:a16="http://schemas.microsoft.com/office/drawing/2014/main" id="{A660FA14-5018-48E6-8294-83F85633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57325"/>
            <a:ext cx="3143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5E2"/>
          </a:solidFill>
          <a:ln xmlns:a="http://schemas.openxmlformats.org/drawingml/2006/main" w="28575">
            <a:solidFill>
              <a:srgbClr val="93442F"/>
            </a:solidFill>
            <a:prstDash val="solid"/>
          </a:ln>
        </p:spPr>
      </p:sp>
      <p:sp>
        <p:nvSpPr>
          <p:cNvPr id="12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9F1EB8D5-EFF7-49BF-840E-5677AB49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47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Practical approval, ingredients, equipment and any cultural permission required.</a:t>
            </a:r>
          </a:p>
        </p:txBody>
      </p:sp>
      <p:sp>
        <p:nvSpPr>
          <p:cNvPr id="13" name="close-next-step-label">
            <a:extLst xmlns:a="http://schemas.openxmlformats.org/drawingml/2006/main">
              <a:ext uri="{FF2B5EF4-FFF2-40B4-BE49-F238E27FC236}">
                <a16:creationId xmlns:a16="http://schemas.microsoft.com/office/drawing/2014/main" id="{2F7A88C4-7B1B-4789-9B90-2D0DD00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4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61D7E90E-D7BE-49EE-9A16-4FA6452B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module page to refine one response, then follow your teacher’s directions.</a:t>
            </a:r>
          </a:p>
        </p:txBody>
      </p:sp>
    </p:spTree>
    <p:extLst>
      <p:ext uri="{BB962C8B-B14F-4D97-AF65-F5344CB8AC3E}">
        <p14:creationId xmlns:p14="http://schemas.microsoft.com/office/powerpoint/2010/main" val="1088135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2026-08-26T13:29:30.0420000Z</dcterms:created>
  <dcterms:modified xsi:type="dcterms:W3CDTF">2026-08-26T13:29:30.0420000Z</dcterms:modified>
</coreProperties>
</file>