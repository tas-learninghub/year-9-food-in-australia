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b63df9fef483d" /><Relationship Type="http://schemas.openxmlformats.org/officeDocument/2006/relationships/extended-properties" Target="/docProps/app.xml" Id="Rb5b205de6c224f30" /><Relationship Type="http://schemas.openxmlformats.org/officeDocument/2006/relationships/officeDocument" Target="/ppt/presentation.xml" Id="R9d47f31d1aa044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045f1340d349b4"/>
  </p:sldMasterIdLst>
  <p:notesMasterIdLst>
    <p:notesMasterId xmlns:r="http://schemas.openxmlformats.org/officeDocument/2006/relationships" r:id="Rd2718923395f436b"/>
  </p:notesMasterIdLst>
  <p:sldIdLst>
    <p:sldId xmlns:r="http://schemas.openxmlformats.org/officeDocument/2006/relationships" id="256" r:id="Racf34e5e8b8648a3"/>
    <p:sldId xmlns:r="http://schemas.openxmlformats.org/officeDocument/2006/relationships" id="257" r:id="Reea174f89bff4b53"/>
    <p:sldId xmlns:r="http://schemas.openxmlformats.org/officeDocument/2006/relationships" id="258" r:id="Rc47cb7f056a543ce"/>
    <p:sldId xmlns:r="http://schemas.openxmlformats.org/officeDocument/2006/relationships" id="259" r:id="R140d070791c8439f"/>
    <p:sldId xmlns:r="http://schemas.openxmlformats.org/officeDocument/2006/relationships" id="260" r:id="Rae6aecf671174fcf"/>
    <p:sldId xmlns:r="http://schemas.openxmlformats.org/officeDocument/2006/relationships" id="261" r:id="Rd74a199280d74b75"/>
    <p:sldId xmlns:r="http://schemas.openxmlformats.org/officeDocument/2006/relationships" id="262" r:id="Ra5ab921fa429403f"/>
    <p:sldId xmlns:r="http://schemas.openxmlformats.org/officeDocument/2006/relationships" id="263" r:id="R516a006b31354b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5a48874ddd4bc5" /><Relationship Type="http://schemas.openxmlformats.org/officeDocument/2006/relationships/slideMaster" Target="/ppt/slideMasters/slideMaster1.xml" Id="R10045f1340d349b4" /><Relationship Type="http://schemas.openxmlformats.org/officeDocument/2006/relationships/notesMaster" Target="/ppt/notesMasters/notesMaster1.xml" Id="Rd2718923395f436b" /><Relationship Type="http://schemas.openxmlformats.org/officeDocument/2006/relationships/presProps" Target="/ppt/presProps.xml" Id="Re006b5a67707444c" /><Relationship Type="http://schemas.openxmlformats.org/officeDocument/2006/relationships/tableStyles" Target="/ppt/tableStyles.xml" Id="R4ccf80523b354650" /><Relationship Type="http://schemas.openxmlformats.org/officeDocument/2006/relationships/slide" Target="/ppt/slides/slide1.xml" Id="Racf34e5e8b8648a3" /><Relationship Type="http://schemas.openxmlformats.org/officeDocument/2006/relationships/slide" Target="/ppt/slides/slide2.xml" Id="Reea174f89bff4b53" /><Relationship Type="http://schemas.openxmlformats.org/officeDocument/2006/relationships/slide" Target="/ppt/slides/slide3.xml" Id="Rc47cb7f056a543ce" /><Relationship Type="http://schemas.openxmlformats.org/officeDocument/2006/relationships/slide" Target="/ppt/slides/slide4.xml" Id="R140d070791c8439f" /><Relationship Type="http://schemas.openxmlformats.org/officeDocument/2006/relationships/slide" Target="/ppt/slides/slide5.xml" Id="Rae6aecf671174fcf" /><Relationship Type="http://schemas.openxmlformats.org/officeDocument/2006/relationships/slide" Target="/ppt/slides/slide6.xml" Id="Rd74a199280d74b75" /><Relationship Type="http://schemas.openxmlformats.org/officeDocument/2006/relationships/slide" Target="/ppt/slides/slide7.xml" Id="Ra5ab921fa429403f" /><Relationship Type="http://schemas.openxmlformats.org/officeDocument/2006/relationships/slide" Target="/ppt/slides/slide8.xml" Id="R516a006b31354b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e367f316d045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3a1f0f2a14169" /><Relationship Type="http://schemas.openxmlformats.org/officeDocument/2006/relationships/notesMaster" Target="/ppt/notesMasters/notesMaster1.xml" Id="R8489a5a7baef43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1b9777b1894362" /><Relationship Type="http://schemas.openxmlformats.org/officeDocument/2006/relationships/notesMaster" Target="/ppt/notesMasters/notesMaster1.xml" Id="Rf84f1912e36245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4962123f6a4e82" /><Relationship Type="http://schemas.openxmlformats.org/officeDocument/2006/relationships/notesMaster" Target="/ppt/notesMasters/notesMaster1.xml" Id="Rab97b88e3dcd44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dcff5eabde47c0" /><Relationship Type="http://schemas.openxmlformats.org/officeDocument/2006/relationships/notesMaster" Target="/ppt/notesMasters/notesMaster1.xml" Id="Rb3b74b08871341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4d810b81844edf" /><Relationship Type="http://schemas.openxmlformats.org/officeDocument/2006/relationships/notesMaster" Target="/ppt/notesMasters/notesMaster1.xml" Id="Rd7ce3e0992d14d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1b067d0a6641d7" /><Relationship Type="http://schemas.openxmlformats.org/officeDocument/2006/relationships/notesMaster" Target="/ppt/notesMasters/notesMaster1.xml" Id="Ra6abc4ec14a34c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98360c33ef4c3b" /><Relationship Type="http://schemas.openxmlformats.org/officeDocument/2006/relationships/notesMaster" Target="/ppt/notesMasters/notesMaster1.xml" Id="R44a587eee48248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60e15ac02b41f3" /><Relationship Type="http://schemas.openxmlformats.org/officeDocument/2006/relationships/notesMaster" Target="/ppt/notesMasters/notesMaster1.xml" Id="Rc2f52549a5c142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question: how does food systems, missions and nutrition change a food decision or explanation?</a:t>
            </a:r>
          </a:p>
          <a:p xmlns:a="http://schemas.openxmlformats.org/drawingml/2006/main">
            <a:r>
              <a:t>State the outcome in plain language: Historical food explanations connect systems, sources and limits without turning one account into a universal story.</a:t>
            </a:r>
          </a:p>
          <a:p xmlns:a="http://schemas.openxmlformats.org/drawingml/2006/main">
            <a:r>
              <a:t>Ask students what the visual helps them notice, then make clear that it is a generated learning visual, not documentary evidence or practical permission.</a:t>
            </a:r>
          </a:p>
          <a:p xmlns:a="http://schemas.openxmlformats.org/drawingml/2006/main">
            <a:r>
              <a:t>Transition: the next slide shows the three connected ideas students will use to reach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visual: assets/photos/m04-s03-source-analysis-workspace.png; Course-original generated PNG; no historical document, private material or proprietary image reproduced;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timeline as a learning sequence, not an agenda. Briefly name each idea and show how the third depends on the first two.</a:t>
            </a:r>
          </a:p>
          <a:p xmlns:a="http://schemas.openxmlformats.org/drawingml/2006/main">
            <a:r>
              <a:t>Retrieval prompt: ask students to define or exemplify one term from Roles, knowledge and responsibility, then name one uncertainty to check.</a:t>
            </a:r>
          </a:p>
          <a:p xmlns:a="http://schemas.openxmlformats.org/drawingml/2006/main">
            <a:r>
              <a:t>Listen for unsupported certainty. Model language such as ‘the source supports…’, ‘in this context…’ and ‘Teacher to confirm…’ where relevant.</a:t>
            </a:r>
          </a:p>
          <a:p xmlns:a="http://schemas.openxmlformats.org/drawingml/2006/main">
            <a:r>
              <a:t>Transition: begin with Roles, knowledge and responsibility; students will use it as the first part of the final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m04-s01: Roles, knowledge and responsibility.</a:t>
            </a:r>
          </a:p>
          <a:p xmlns:a="http://schemas.openxmlformats.org/drawingml/2006/main">
            <a:r>
              <a:t>- Course theory section m04-s02: Introduced rations and nutrition.</a:t>
            </a:r>
          </a:p>
          <a:p xmlns:a="http://schemas.openxmlformats.org/drawingml/2006/main">
            <a:r>
              <a:t>- Course theory section m04-s03: Read historical food sources critically.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Food-related responsibilities varied by Nation, Community, Country, family, expertise, time and source perspective. One historical observer cannot establish a universal rule. State what the source says and where its limits begin.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One source can establish fixed roles for all Communities.</a:t>
            </a:r>
          </a:p>
          <a:p xmlns:a="http://schemas.openxmlformats.org/drawingml/2006/main">
            <a:r>
              <a:t>Transition: connect this idea to food systems, missions and nutrition, then move to "the second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m04-s01: Roles, knowledge and responsibility.</a:t>
            </a:r>
          </a:p>
          <a:p xmlns:a="http://schemas.openxmlformats.org/drawingml/2006/main">
            <a:r>
              <a:t>- Editable simple concept pathway created from course theory section m04-s01; no cultural motif, historical source or external artwork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Colonial conditions could restrict access to Country, change movement and supply introduced foods. Possible nutrition effects need a chain of evidence and careful language because experiences varied by place, time and system.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Food-pattern change can be explained by individual choice alone.</a:t>
            </a:r>
          </a:p>
          <a:p xmlns:a="http://schemas.openxmlformats.org/drawingml/2006/main">
            <a:r>
              <a:t>Transition: connect this idea to food systems, missions and nutrition, then move to "the final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m04-s02: Introduced rations and nutrition.</a:t>
            </a:r>
          </a:p>
          <a:p xmlns:a="http://schemas.openxmlformats.org/drawingml/2006/main">
            <a:r>
              <a:t>- Course visual: assets/diagrams/m04-s02-interacting-food-system-changes.svg; Course-original SVG; no historical image, ration list or third-party artwork;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A source has a creator, context, audience and purpose. Separate what it directly shows from what you infer, then cross-check with other evidence and identify whose perspective is missing.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A source is either fully reliable or useless.</a:t>
            </a:r>
          </a:p>
          <a:p xmlns:a="http://schemas.openxmlformats.org/drawingml/2006/main">
            <a:r>
              <a:t>Transition: students now rehearse all three ideas through the module activity and retrieval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m04-s03: Read historical food sources critically.</a:t>
            </a:r>
          </a:p>
          <a:p xmlns:a="http://schemas.openxmlformats.org/drawingml/2006/main">
            <a:r>
              <a:t>- Course visual: assets/photos/m04-s03-source-analysis-workspace.png; Course-original generated PNG; no historical document, private material or proprietary image reproduced;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activity as rehearsal: Put the reasoning stages into a defensible order, then choose the conclusion the evidence can support.</a:t>
            </a:r>
          </a:p>
          <a:p xmlns:a="http://schemas.openxmlformats.org/drawingml/2006/main">
            <a:r>
              <a:t>Give quiet thinking time before discussion. Ask students to explain why an alternative is weaker, not merely name the correct choice.</a:t>
            </a:r>
          </a:p>
          <a:p xmlns:a="http://schemas.openxmlformats.org/drawingml/2006/main">
            <a:r>
              <a:t>Check 1: The account may offer evidence about that setting, but its creator, purpose, time, place and missing perspectives limit broader conclusions.</a:t>
            </a:r>
          </a:p>
          <a:p xmlns:a="http://schemas.openxmlformats.org/drawingml/2006/main">
            <a:r>
              <a:t>Check 2: Explain how policy, disrupted access to Country, available supplies and living conditions shaped realistic choices in the sourced context.</a:t>
            </a:r>
          </a:p>
          <a:p xmlns:a="http://schemas.openxmlformats.org/drawingml/2006/main">
            <a:r>
              <a:t>Check 3: Describe what is directly visible, investigate creator and context, and separate later interpretation from what the image itself supports.</a:t>
            </a:r>
          </a:p>
          <a:p xmlns:a="http://schemas.openxmlformats.org/drawingml/2006/main">
            <a:r>
              <a:t>Misconception to correct: a correct choice without reasoning is enough evidence. Ask for the link between the claim and the source or scenario.</a:t>
            </a:r>
          </a:p>
          <a:p xmlns:a="http://schemas.openxmlformats.org/drawingml/2006/main">
            <a:r>
              <a:t>Transition: move from short retrieval to one constructed evidence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activity activity-m04: Historical claim surgery.</a:t>
            </a:r>
          </a:p>
          <a:p xmlns:a="http://schemas.openxmlformats.org/drawingml/2006/main">
            <a:r>
              <a:t>- Course formative check check-m04-s01 for m04-s01.</a:t>
            </a:r>
          </a:p>
          <a:p xmlns:a="http://schemas.openxmlformats.org/drawingml/2006/main">
            <a:r>
              <a:t>- Course formative check check-m04-s02 for m04-s02.</a:t>
            </a:r>
          </a:p>
          <a:p xmlns:a="http://schemas.openxmlformats.org/drawingml/2006/main">
            <a:r>
              <a:t>- Course formative check check-m04-s03 for m04-s03.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prompt aloud once, then ask students to restate its decision or explanation in their own words.</a:t>
            </a:r>
          </a:p>
          <a:p xmlns:a="http://schemas.openxmlformats.org/drawingml/2006/main">
            <a:r>
              <a:t>Model the sequence: Read → Select → Explain → Check. Use the starter "The source directly shows or states …" only if students need it.</a:t>
            </a:r>
          </a:p>
          <a:p xmlns:a="http://schemas.openxmlformats.org/drawingml/2006/main">
            <a:r>
              <a:t>Look for: separates observation and inference; uses corroboration meaningfully; states uncertainty precisely.</a:t>
            </a:r>
          </a:p>
          <a:p xmlns:a="http://schemas.openxmlformats.org/drawingml/2006/main">
            <a:r>
              <a:t>Misconception to correct: saving locally means the work has been submitted or formally assessed. It has not.</a:t>
            </a:r>
          </a:p>
          <a:p xmlns:a="http://schemas.openxmlformats.org/drawingml/2006/main">
            <a:r>
              <a:t>Transition: close with a three-part exit ticket and the teacher-controlled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evidence record for m04-s03: Confidence in a historical source.</a:t>
            </a:r>
          </a:p>
          <a:p xmlns:a="http://schemas.openxmlformats.org/drawingml/2006/main">
            <a:r>
              <a:t>- Course folio contract: device-local saving is not submission.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one minute to write all three exit lines. Ask for a specific connection, not a generic summary.</a:t>
            </a:r>
          </a:p>
          <a:p xmlns:a="http://schemas.openxmlformats.org/drawingml/2006/main">
            <a:r>
              <a:t>Listen for the module takeaway: Historical food explanations connect systems, sources and limits without turning one account into a universal story.</a:t>
            </a:r>
          </a:p>
          <a:p xmlns:a="http://schemas.openxmlformats.org/drawingml/2006/main">
            <a:r>
              <a:t>State the sign-off exactly as shown: Teacher to confirm the historical sources approved for this class and any local contextual guidance.</a:t>
            </a:r>
          </a:p>
          <a:p xmlns:a="http://schemas.openxmlformats.org/drawingml/2006/main">
            <a:r>
              <a:t>Do not announce a practical, due date, weighting, grade or submission route unless it is in the current teacher-issued instruction.</a:t>
            </a:r>
          </a:p>
          <a:p xmlns:a="http://schemas.openxmlformats.org/drawingml/2006/main">
            <a:r>
              <a:t>Close by directing students to the Module 04 page or My Folio only as the teacher decides.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Current Year 9 Assessment Booklet 2026: course-level task boundaries only; this deck does not invent unit task details.</a:t>
            </a:r>
          </a:p>
          <a:p xmlns:a="http://schemas.openxmlformats.org/drawingml/2006/main">
            <a:r>
              <a:t>- Course source-map v1.1 and assessment-orientation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44e449b0b45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269e26fb2c4383" /><Relationship Type="http://schemas.openxmlformats.org/officeDocument/2006/relationships/slideLayout" Target="/ppt/slideLayouts/slideLayout1.xml" Id="Rd3ff5b334e744e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ff5b334e744e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aa807b42548ea" /><Relationship Type="http://schemas.openxmlformats.org/officeDocument/2006/relationships/image" Target="/ppt/media/image.png" Id="R5938679fd6434e44" /><Relationship Type="http://schemas.openxmlformats.org/officeDocument/2006/relationships/notesSlide" Target="/ppt/notesSlides/notesSlide1.xml" Id="R7c36bd38ed2744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223b61bf34ee9" /><Relationship Type="http://schemas.openxmlformats.org/officeDocument/2006/relationships/notesSlide" Target="/ppt/notesSlides/notesSlide2.xml" Id="R7830bcae4b6244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b4efe1ecb4326" /><Relationship Type="http://schemas.openxmlformats.org/officeDocument/2006/relationships/notesSlide" Target="/ppt/notesSlides/notesSlide3.xml" Id="R3e323c2cb38c47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32c1928ed4322" /><Relationship Type="http://schemas.openxmlformats.org/officeDocument/2006/relationships/image" Target="/ppt/media/image2.png" Id="Rf925d70d5c284cef" /><Relationship Type="http://schemas.openxmlformats.org/officeDocument/2006/relationships/notesSlide" Target="/ppt/notesSlides/notesSlide4.xml" Id="Rd67d5bfa3a0049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91f3e1d3b4612" /><Relationship Type="http://schemas.openxmlformats.org/officeDocument/2006/relationships/image" Target="/ppt/media/image3.png" Id="Re9dff48a4f384543" /><Relationship Type="http://schemas.openxmlformats.org/officeDocument/2006/relationships/notesSlide" Target="/ppt/notesSlides/notesSlide5.xml" Id="Rb1ba900d894d4b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e9a56da484094" /><Relationship Type="http://schemas.openxmlformats.org/officeDocument/2006/relationships/notesSlide" Target="/ppt/notesSlides/notesSlide6.xml" Id="R42d8faa8b55b42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9fccb69a34e28" /><Relationship Type="http://schemas.openxmlformats.org/officeDocument/2006/relationships/notesSlide" Target="/ppt/notesSlides/notesSlide7.xml" Id="R381d2ea5a46246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4e0052f594eb2" /><Relationship Type="http://schemas.openxmlformats.org/officeDocument/2006/relationships/notesSlide" Target="/ppt/notesSlides/notesSlide8.xml" Id="Rdd928aa3fe2643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9B5BDA16-04FF-4579-A154-5DC51BC6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hero-frame">
            <a:extLst xmlns:a="http://schemas.openxmlformats.org/drawingml/2006/main">
              <a:ext uri="{FF2B5EF4-FFF2-40B4-BE49-F238E27FC236}">
                <a16:creationId xmlns:a16="http://schemas.microsoft.com/office/drawing/2014/main" id="{E0C21F2A-0CD3-49CD-9F19-CBEA5446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"/>
            <a:ext cx="5181600" cy="6019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8679fd6434e44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266700"/>
            <a:ext cx="5105400" cy="59436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4" name="cover-notice-panel">
            <a:extLst xmlns:a="http://schemas.openxmlformats.org/drawingml/2006/main">
              <a:ext uri="{FF2B5EF4-FFF2-40B4-BE49-F238E27FC236}">
                <a16:creationId xmlns:a16="http://schemas.microsoft.com/office/drawing/2014/main" id="{70B74538-11C1-4DBC-B854-3584127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48006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cover-notice">
            <a:extLst xmlns:a="http://schemas.openxmlformats.org/drawingml/2006/main">
              <a:ext uri="{FF2B5EF4-FFF2-40B4-BE49-F238E27FC236}">
                <a16:creationId xmlns:a16="http://schemas.microsoft.com/office/drawing/2014/main" id="{E8D43CB1-8166-4F47-9C98-36A2DFC1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531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Generated learning visual — not documentary evidence.</a:t>
            </a:r>
          </a:p>
        </p:txBody>
      </p:sp>
      <p:sp>
        <p:nvSpPr>
          <p:cNvPr id="6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3118A89B-043B-4C26-82B9-D1FD12B4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D0912205-3BA0-4101-9DEF-85D06238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odule-label">
            <a:extLst xmlns:a="http://schemas.openxmlformats.org/drawingml/2006/main">
              <a:ext uri="{FF2B5EF4-FFF2-40B4-BE49-F238E27FC236}">
                <a16:creationId xmlns:a16="http://schemas.microsoft.com/office/drawing/2014/main" id="{4E9B5CF3-7107-488F-8BDB-908B36B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MODULE 04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6C183BA-D3E3-48E7-B47E-222B51B1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Food systems, missions and nutrition</a:t>
            </a:r>
          </a:p>
        </p:txBody>
      </p:sp>
      <p:sp>
        <p:nvSpPr>
          <p:cNvPr id="10" name="cover-outcome">
            <a:extLst xmlns:a="http://schemas.openxmlformats.org/drawingml/2006/main">
              <a:ext uri="{FF2B5EF4-FFF2-40B4-BE49-F238E27FC236}">
                <a16:creationId xmlns:a16="http://schemas.microsoft.com/office/drawing/2014/main" id="{B0509FA1-4A45-47C4-8299-E8E5EE54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E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2ED"/>
                </a:solidFill>
                <a:latin typeface="Aptos"/>
                <a:ea typeface="Aptos"/>
                <a:cs typeface="Aptos"/>
              </a:rPr>
              <a:t>Historical food explanations connect systems, sources and limits without turning one account into a universal story.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A78B7400-A99F-43A4-930F-ED4D210E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1C6"/>
                </a:solidFill>
                <a:latin typeface="Aptos"/>
                <a:ea typeface="Aptos"/>
                <a:cs typeface="Aptos"/>
              </a:rPr>
              <a:t>Editable classroom presentation  •  Local review copy</a:t>
            </a:r>
          </a:p>
        </p:txBody>
      </p:sp>
    </p:spTree>
    <p:extLst>
      <p:ext uri="{BB962C8B-B14F-4D97-AF65-F5344CB8AC3E}">
        <p14:creationId xmlns:p14="http://schemas.microsoft.com/office/powerpoint/2010/main" val="520568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A8DD4B30-A391-41CF-9266-3A5A6D36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2">
            <a:extLst xmlns:a="http://schemas.openxmlformats.org/drawingml/2006/main">
              <a:ext uri="{FF2B5EF4-FFF2-40B4-BE49-F238E27FC236}">
                <a16:creationId xmlns:a16="http://schemas.microsoft.com/office/drawing/2014/main" id="{4909B0F5-8CD7-4E10-B26D-47E508A9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04</a:t>
            </a:r>
          </a:p>
        </p:txBody>
      </p:sp>
      <p:sp>
        <p:nvSpPr>
          <p:cNvPr id="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81BE83F-539F-481C-92E5-76B30FB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75472C15-3530-44D5-85D4-4728FAA2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FOOD SYSTEMS, MISSIONS AND NUTRITION · LEARNING PATHWAY</a:t>
            </a:r>
          </a:p>
        </p:txBody>
      </p:sp>
      <p:sp>
        <p:nvSpPr>
          <p:cNvPr id="5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E7C7E8A8-DA4E-4E61-91DB-4E725ED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Three ideas build one explanation</a:t>
            </a:r>
          </a:p>
        </p:txBody>
      </p:sp>
      <p:sp>
        <p:nvSpPr>
          <p:cNvPr id="6" name="arc-retrieval-prompt">
            <a:extLst xmlns:a="http://schemas.openxmlformats.org/drawingml/2006/main">
              <a:ext uri="{FF2B5EF4-FFF2-40B4-BE49-F238E27FC236}">
                <a16:creationId xmlns:a16="http://schemas.microsoft.com/office/drawing/2014/main" id="{25B270BD-40E3-473F-B160-E667F024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Retrieval warm-up: What do you already know—and what needs checking?</a:t>
            </a:r>
          </a:p>
        </p:txBody>
      </p:sp>
      <p:sp>
        <p:nvSpPr>
          <p:cNvPr id="7" name="arc-connector">
            <a:extLst xmlns:a="http://schemas.openxmlformats.org/drawingml/2006/main">
              <a:ext uri="{FF2B5EF4-FFF2-40B4-BE49-F238E27FC236}">
                <a16:creationId xmlns:a16="http://schemas.microsoft.com/office/drawing/2014/main" id="{7FDF3FD1-B642-43BF-96C1-0DBF0D12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8" name="arc-node-1">
            <a:extLst xmlns:a="http://schemas.openxmlformats.org/drawingml/2006/main">
              <a:ext uri="{FF2B5EF4-FFF2-40B4-BE49-F238E27FC236}">
                <a16:creationId xmlns:a16="http://schemas.microsoft.com/office/drawing/2014/main" id="{FB809439-9535-4944-BC81-61B1500F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arc-number-1">
            <a:extLst xmlns:a="http://schemas.openxmlformats.org/drawingml/2006/main">
              <a:ext uri="{FF2B5EF4-FFF2-40B4-BE49-F238E27FC236}">
                <a16:creationId xmlns:a16="http://schemas.microsoft.com/office/drawing/2014/main" id="{456B7179-891A-41EC-8955-45372F59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arc-node-2">
            <a:extLst xmlns:a="http://schemas.openxmlformats.org/drawingml/2006/main">
              <a:ext uri="{FF2B5EF4-FFF2-40B4-BE49-F238E27FC236}">
                <a16:creationId xmlns:a16="http://schemas.microsoft.com/office/drawing/2014/main" id="{33AFFF91-A4E3-4078-BB26-8A85FEDA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442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arc-number-2">
            <a:extLst xmlns:a="http://schemas.openxmlformats.org/drawingml/2006/main">
              <a:ext uri="{FF2B5EF4-FFF2-40B4-BE49-F238E27FC236}">
                <a16:creationId xmlns:a16="http://schemas.microsoft.com/office/drawing/2014/main" id="{B31F8303-55E2-4B29-A4AF-F9EA7A14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arc-node-3">
            <a:extLst xmlns:a="http://schemas.openxmlformats.org/drawingml/2006/main">
              <a:ext uri="{FF2B5EF4-FFF2-40B4-BE49-F238E27FC236}">
                <a16:creationId xmlns:a16="http://schemas.microsoft.com/office/drawing/2014/main" id="{C29DCCD7-6451-4B80-9C4B-A2737E94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arc-number-3">
            <a:extLst xmlns:a="http://schemas.openxmlformats.org/drawingml/2006/main">
              <a:ext uri="{FF2B5EF4-FFF2-40B4-BE49-F238E27FC236}">
                <a16:creationId xmlns:a16="http://schemas.microsoft.com/office/drawing/2014/main" id="{4D5BA2FD-6566-47E5-AF3C-6BF106EE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arc-section-title-1">
            <a:extLst xmlns:a="http://schemas.openxmlformats.org/drawingml/2006/main">
              <a:ext uri="{FF2B5EF4-FFF2-40B4-BE49-F238E27FC236}">
                <a16:creationId xmlns:a16="http://schemas.microsoft.com/office/drawing/2014/main" id="{411F2127-BF6B-4DE1-BF85-5969D0D6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Roles, knowledge and responsibility</a:t>
            </a:r>
          </a:p>
        </p:txBody>
      </p:sp>
      <p:sp>
        <p:nvSpPr>
          <p:cNvPr id="15" name="arc-section-purpose-1">
            <a:extLst xmlns:a="http://schemas.openxmlformats.org/drawingml/2006/main">
              <a:ext uri="{FF2B5EF4-FFF2-40B4-BE49-F238E27FC236}">
                <a16:creationId xmlns:a16="http://schemas.microsoft.com/office/drawing/2014/main" id="{4C931105-0BB1-406A-A767-D9644A1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Test claims about roles and responsibility</a:t>
            </a:r>
          </a:p>
        </p:txBody>
      </p:sp>
      <p:sp>
        <p:nvSpPr>
          <p:cNvPr id="16" name="arc-section-title-2">
            <a:extLst xmlns:a="http://schemas.openxmlformats.org/drawingml/2006/main">
              <a:ext uri="{FF2B5EF4-FFF2-40B4-BE49-F238E27FC236}">
                <a16:creationId xmlns:a16="http://schemas.microsoft.com/office/drawing/2014/main" id="{5C3EAB59-73C0-4291-B584-89E3E584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Introduced rations and nutrition</a:t>
            </a:r>
          </a:p>
        </p:txBody>
      </p:sp>
      <p:sp>
        <p:nvSpPr>
          <p:cNvPr id="17" name="arc-section-purpose-2">
            <a:extLst xmlns:a="http://schemas.openxmlformats.org/drawingml/2006/main">
              <a:ext uri="{FF2B5EF4-FFF2-40B4-BE49-F238E27FC236}">
                <a16:creationId xmlns:a16="http://schemas.microsoft.com/office/drawing/2014/main" id="{7BB8EEFA-6FC5-4E8B-B1C9-AA64D16C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Trace access changes through a system</a:t>
            </a:r>
          </a:p>
        </p:txBody>
      </p:sp>
      <p:sp>
        <p:nvSpPr>
          <p:cNvPr id="18" name="arc-section-title-3">
            <a:extLst xmlns:a="http://schemas.openxmlformats.org/drawingml/2006/main">
              <a:ext uri="{FF2B5EF4-FFF2-40B4-BE49-F238E27FC236}">
                <a16:creationId xmlns:a16="http://schemas.microsoft.com/office/drawing/2014/main" id="{254F80D1-6A82-4227-855D-53949906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Read historical food sources critically</a:t>
            </a:r>
          </a:p>
        </p:txBody>
      </p:sp>
      <p:sp>
        <p:nvSpPr>
          <p:cNvPr id="19" name="arc-section-purpose-3">
            <a:extLst xmlns:a="http://schemas.openxmlformats.org/drawingml/2006/main">
              <a:ext uri="{FF2B5EF4-FFF2-40B4-BE49-F238E27FC236}">
                <a16:creationId xmlns:a16="http://schemas.microsoft.com/office/drawing/2014/main" id="{18ECA8D7-163E-44E7-9F29-79EB0F88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Read sources for evidence and limits</a:t>
            </a:r>
          </a:p>
        </p:txBody>
      </p:sp>
      <p:sp>
        <p:nvSpPr>
          <p:cNvPr id="20" name="arc-takeaway-band">
            <a:extLst xmlns:a="http://schemas.openxmlformats.org/drawingml/2006/main">
              <a:ext uri="{FF2B5EF4-FFF2-40B4-BE49-F238E27FC236}">
                <a16:creationId xmlns:a16="http://schemas.microsoft.com/office/drawing/2014/main" id="{174EFBE9-95C2-40E1-A7C2-EA6D2DF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871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1" name="arc-takeaway">
            <a:extLst xmlns:a="http://schemas.openxmlformats.org/drawingml/2006/main">
              <a:ext uri="{FF2B5EF4-FFF2-40B4-BE49-F238E27FC236}">
                <a16:creationId xmlns:a16="http://schemas.microsoft.com/office/drawing/2014/main" id="{58A08C43-4D86-4340-AAFA-2BE16040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Connect all three: Historical food explanations connect systems, sources and limits without turning one account into a universal story.</a:t>
            </a:r>
          </a:p>
        </p:txBody>
      </p:sp>
    </p:spTree>
    <p:extLst>
      <p:ext uri="{BB962C8B-B14F-4D97-AF65-F5344CB8AC3E}">
        <p14:creationId xmlns:p14="http://schemas.microsoft.com/office/powerpoint/2010/main" val="391294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CCE2797D-5332-4BF0-BCCC-C3EC3EA1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3">
            <a:extLst xmlns:a="http://schemas.openxmlformats.org/drawingml/2006/main">
              <a:ext uri="{FF2B5EF4-FFF2-40B4-BE49-F238E27FC236}">
                <a16:creationId xmlns:a16="http://schemas.microsoft.com/office/drawing/2014/main" id="{014542B6-2D3C-46EA-BAE4-B7F5CC62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04</a:t>
            </a:r>
          </a:p>
        </p:txBody>
      </p:sp>
      <p:sp>
        <p:nvSpPr>
          <p:cNvPr id="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0F68CF05-A69F-42A2-A1EA-AAB2D209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A6B2C4BB-AE72-4030-9387-FDC8E0F3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1 · M04-S01</a:t>
            </a:r>
          </a:p>
        </p:txBody>
      </p:sp>
      <p:sp>
        <p:nvSpPr>
          <p:cNvPr id="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B4F96707-A692-41C8-B240-6251675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Roles, knowledge and responsibility</a:t>
            </a:r>
          </a:p>
        </p:txBody>
      </p:sp>
      <p:sp>
        <p:nvSpPr>
          <p:cNvPr id="6" name="idea-1-visual-native-frame">
            <a:extLst xmlns:a="http://schemas.openxmlformats.org/drawingml/2006/main">
              <a:ext uri="{FF2B5EF4-FFF2-40B4-BE49-F238E27FC236}">
                <a16:creationId xmlns:a16="http://schemas.microsoft.com/office/drawing/2014/main" id="{B7F75B2E-9130-45FF-85FB-DFB9F14E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905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7" name="idea-1-visual-connector-1">
            <a:extLst xmlns:a="http://schemas.openxmlformats.org/drawingml/2006/main">
              <a:ext uri="{FF2B5EF4-FFF2-40B4-BE49-F238E27FC236}">
                <a16:creationId xmlns:a16="http://schemas.microsoft.com/office/drawing/2014/main" id="{98612EA6-8B23-45C5-A70D-3C321DCC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718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8" name="idea-1-visual-connector-2">
            <a:extLst xmlns:a="http://schemas.openxmlformats.org/drawingml/2006/main">
              <a:ext uri="{FF2B5EF4-FFF2-40B4-BE49-F238E27FC236}">
                <a16:creationId xmlns:a16="http://schemas.microsoft.com/office/drawing/2014/main" id="{70635152-D65E-4B75-8250-DAE387EF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718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9" name="idea-1-visual-node-1">
            <a:extLst xmlns:a="http://schemas.openxmlformats.org/drawingml/2006/main">
              <a:ext uri="{FF2B5EF4-FFF2-40B4-BE49-F238E27FC236}">
                <a16:creationId xmlns:a16="http://schemas.microsoft.com/office/drawing/2014/main" id="{0EFF57BA-E742-49C8-B507-5F4B3121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384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5D46"/>
            </a:solidFill>
            <a:prstDash val="solid"/>
          </a:ln>
        </p:spPr>
      </p:sp>
      <p:sp>
        <p:nvSpPr>
          <p:cNvPr id="10" name="idea-1-visual-node-label-1">
            <a:extLst xmlns:a="http://schemas.openxmlformats.org/drawingml/2006/main">
              <a:ext uri="{FF2B5EF4-FFF2-40B4-BE49-F238E27FC236}">
                <a16:creationId xmlns:a16="http://schemas.microsoft.com/office/drawing/2014/main" id="{2E35B64F-EF61-48B3-A044-45ABE6B7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718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1" name="idea-1-visual-node-2">
            <a:extLst xmlns:a="http://schemas.openxmlformats.org/drawingml/2006/main">
              <a:ext uri="{FF2B5EF4-FFF2-40B4-BE49-F238E27FC236}">
                <a16:creationId xmlns:a16="http://schemas.microsoft.com/office/drawing/2014/main" id="{E87F1D74-C45F-433F-B92D-6CF29929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384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19050">
            <a:solidFill>
              <a:srgbClr val="205D46"/>
            </a:solidFill>
            <a:prstDash val="solid"/>
          </a:ln>
        </p:spPr>
      </p:sp>
      <p:sp>
        <p:nvSpPr>
          <p:cNvPr id="12" name="idea-1-visual-node-label-2">
            <a:extLst xmlns:a="http://schemas.openxmlformats.org/drawingml/2006/main">
              <a:ext uri="{FF2B5EF4-FFF2-40B4-BE49-F238E27FC236}">
                <a16:creationId xmlns:a16="http://schemas.microsoft.com/office/drawing/2014/main" id="{749ED4EC-275A-415A-9EEC-ED3E814B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718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Source perspective</a:t>
            </a:r>
          </a:p>
        </p:txBody>
      </p:sp>
      <p:sp>
        <p:nvSpPr>
          <p:cNvPr id="13" name="idea-1-visual-node-3">
            <a:extLst xmlns:a="http://schemas.openxmlformats.org/drawingml/2006/main">
              <a:ext uri="{FF2B5EF4-FFF2-40B4-BE49-F238E27FC236}">
                <a16:creationId xmlns:a16="http://schemas.microsoft.com/office/drawing/2014/main" id="{BF77A3F0-CE85-46A2-996C-CC5D80B9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384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5D46"/>
            </a:solidFill>
            <a:prstDash val="solid"/>
          </a:ln>
        </p:spPr>
      </p:sp>
      <p:sp>
        <p:nvSpPr>
          <p:cNvPr id="14" name="idea-1-visual-node-label-3">
            <a:extLst xmlns:a="http://schemas.openxmlformats.org/drawingml/2006/main">
              <a:ext uri="{FF2B5EF4-FFF2-40B4-BE49-F238E27FC236}">
                <a16:creationId xmlns:a16="http://schemas.microsoft.com/office/drawing/2014/main" id="{6A901587-5417-4E2D-80F6-E3543A9B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718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Limited claim</a:t>
            </a:r>
          </a:p>
        </p:txBody>
      </p:sp>
      <p:sp>
        <p:nvSpPr>
          <p:cNvPr id="15" name="idea-1-visual-native-footer">
            <a:extLst xmlns:a="http://schemas.openxmlformats.org/drawingml/2006/main">
              <a:ext uri="{FF2B5EF4-FFF2-40B4-BE49-F238E27FC236}">
                <a16:creationId xmlns:a16="http://schemas.microsoft.com/office/drawing/2014/main" id="{BCBCEA3A-4673-421C-B68C-AD331452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One account cannot establish a universal rule.</a:t>
            </a:r>
          </a:p>
        </p:txBody>
      </p:sp>
      <p:sp>
        <p:nvSpPr>
          <p:cNvPr id="16" name="idea-1-body">
            <a:extLst xmlns:a="http://schemas.openxmlformats.org/drawingml/2006/main">
              <a:ext uri="{FF2B5EF4-FFF2-40B4-BE49-F238E27FC236}">
                <a16:creationId xmlns:a16="http://schemas.microsoft.com/office/drawing/2014/main" id="{F9DBDB54-16D8-4967-9DF7-23C7A677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591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Food-related responsibilities varied by Nation, Community, Country, family, expertise, time and source perspective. One historical observer cannot establish a universal rule. State what the source says and where its limits begin.</a:t>
            </a:r>
          </a:p>
        </p:txBody>
      </p:sp>
      <p:sp>
        <p:nvSpPr>
          <p:cNvPr id="17" name="idea-1-notice-band">
            <a:extLst xmlns:a="http://schemas.openxmlformats.org/drawingml/2006/main">
              <a:ext uri="{FF2B5EF4-FFF2-40B4-BE49-F238E27FC236}">
                <a16:creationId xmlns:a16="http://schemas.microsoft.com/office/drawing/2014/main" id="{21FD562F-B91C-497D-863C-3341BEDB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52925"/>
            <a:ext cx="4591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8" name="idea-1-notice">
            <a:extLst xmlns:a="http://schemas.openxmlformats.org/drawingml/2006/main">
              <a:ext uri="{FF2B5EF4-FFF2-40B4-BE49-F238E27FC236}">
                <a16:creationId xmlns:a16="http://schemas.microsoft.com/office/drawing/2014/main" id="{26B728CD-4B06-4A34-8ED4-9EBDCDC8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133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Notice the relationship. What does it change in your explanation?</a:t>
            </a:r>
          </a:p>
        </p:txBody>
      </p:sp>
    </p:spTree>
    <p:extLst>
      <p:ext uri="{BB962C8B-B14F-4D97-AF65-F5344CB8AC3E}">
        <p14:creationId xmlns:p14="http://schemas.microsoft.com/office/powerpoint/2010/main" val="1479037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97FAF3A2-DA8E-405C-BD89-1C37CD44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4">
            <a:extLst xmlns:a="http://schemas.openxmlformats.org/drawingml/2006/main">
              <a:ext uri="{FF2B5EF4-FFF2-40B4-BE49-F238E27FC236}">
                <a16:creationId xmlns:a16="http://schemas.microsoft.com/office/drawing/2014/main" id="{C64F3B10-5ED0-4C0C-9F0B-B3362355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04</a:t>
            </a:r>
          </a:p>
        </p:txBody>
      </p:sp>
      <p:sp>
        <p:nvSpPr>
          <p:cNvPr id="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918DAB2C-86F7-49F1-A587-899BCEA5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A8FAF60F-6D2C-4504-9DB9-C9FA59A2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2 · M04-S02</a:t>
            </a:r>
          </a:p>
        </p:txBody>
      </p:sp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315C9BBA-721B-480B-BB7C-FD5509C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Introduced rations and nutrition</a:t>
            </a:r>
          </a:p>
        </p:txBody>
      </p:sp>
      <p:sp>
        <p:nvSpPr>
          <p:cNvPr id="6" name="idea-2-body">
            <a:extLst xmlns:a="http://schemas.openxmlformats.org/drawingml/2006/main">
              <a:ext uri="{FF2B5EF4-FFF2-40B4-BE49-F238E27FC236}">
                <a16:creationId xmlns:a16="http://schemas.microsoft.com/office/drawing/2014/main" id="{04131ADF-C565-4D46-8E82-7BAA0D1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4686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Colonial conditions could restrict access to Country, change movement and supply introduced foods. Possible nutrition effects need a chain of evidence and careful language because experiences varied by place, time and system.</a:t>
            </a:r>
          </a:p>
        </p:txBody>
      </p:sp>
      <p:sp>
        <p:nvSpPr>
          <p:cNvPr id="7" name="idea-2-notice-band">
            <a:extLst xmlns:a="http://schemas.openxmlformats.org/drawingml/2006/main">
              <a:ext uri="{FF2B5EF4-FFF2-40B4-BE49-F238E27FC236}">
                <a16:creationId xmlns:a16="http://schemas.microsoft.com/office/drawing/2014/main" id="{110CCE9C-163E-4A4B-9DBA-216D7324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4686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8" name="idea-2-notice">
            <a:extLst xmlns:a="http://schemas.openxmlformats.org/drawingml/2006/main">
              <a:ext uri="{FF2B5EF4-FFF2-40B4-BE49-F238E27FC236}">
                <a16:creationId xmlns:a16="http://schemas.microsoft.com/office/drawing/2014/main" id="{6CC362D2-2C26-4DC8-81E7-D71A212C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229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Notice: Follow two different pathways through the network. Which words keep the explanation appropriately cautious?</a:t>
            </a:r>
          </a:p>
        </p:txBody>
      </p:sp>
      <p:sp>
        <p:nvSpPr>
          <p:cNvPr id="9" name="idea-2-visual-frame">
            <a:extLst xmlns:a="http://schemas.openxmlformats.org/drawingml/2006/main">
              <a:ext uri="{FF2B5EF4-FFF2-40B4-BE49-F238E27FC236}">
                <a16:creationId xmlns:a16="http://schemas.microsoft.com/office/drawing/2014/main" id="{3F82BCDB-96EC-4B74-88CA-C14FCA4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84835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5d70d5c284cef"/>
          <a:stretch xmlns:a="http://schemas.openxmlformats.org/drawingml/2006/main"/>
        </p:blipFill>
        <p:spPr>
          <a:xfrm xmlns:a="http://schemas.openxmlformats.org/drawingml/2006/main">
            <a:off x="5753100" y="1938933"/>
            <a:ext cx="5772150" cy="3246834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idea-2-visual-caption">
            <a:extLst xmlns:a="http://schemas.openxmlformats.org/drawingml/2006/main">
              <a:ext uri="{FF2B5EF4-FFF2-40B4-BE49-F238E27FC236}">
                <a16:creationId xmlns:a16="http://schemas.microsoft.com/office/drawing/2014/main" id="{D107257E-F9DB-42DD-A308-22DEDE52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577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Colonial conditions, food access and nutrition implications interacted differently across places and times.</a:t>
            </a:r>
          </a:p>
        </p:txBody>
      </p:sp>
    </p:spTree>
    <p:extLst>
      <p:ext uri="{BB962C8B-B14F-4D97-AF65-F5344CB8AC3E}">
        <p14:creationId xmlns:p14="http://schemas.microsoft.com/office/powerpoint/2010/main" val="1100830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6322EBB5-DD99-4774-9052-1BDA0E78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5">
            <a:extLst xmlns:a="http://schemas.openxmlformats.org/drawingml/2006/main">
              <a:ext uri="{FF2B5EF4-FFF2-40B4-BE49-F238E27FC236}">
                <a16:creationId xmlns:a16="http://schemas.microsoft.com/office/drawing/2014/main" id="{D339F06D-5D1E-4B78-AF66-5FDE7499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04</a:t>
            </a:r>
          </a:p>
        </p:txBody>
      </p:sp>
      <p:sp>
        <p:nvSpPr>
          <p:cNvPr id="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C0EC09C7-16A1-487D-9866-948C3980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24EF1168-FE09-4982-A7B9-44BEAEAC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3 · M04-S03</a:t>
            </a:r>
          </a:p>
        </p:txBody>
      </p:sp>
      <p:sp>
        <p:nvSpPr>
          <p:cNvPr id="5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20303F78-BCAB-46B4-AD8D-E5E96DCF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Read historical food sources critically</a:t>
            </a:r>
          </a:p>
        </p:txBody>
      </p:sp>
      <p:sp>
        <p:nvSpPr>
          <p:cNvPr id="6" name="idea-3-body">
            <a:extLst xmlns:a="http://schemas.openxmlformats.org/drawingml/2006/main">
              <a:ext uri="{FF2B5EF4-FFF2-40B4-BE49-F238E27FC236}">
                <a16:creationId xmlns:a16="http://schemas.microsoft.com/office/drawing/2014/main" id="{2C20D709-9BC4-4700-9480-CEE92ACD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A source has a creator, context, audience and purpose. Separate what it directly shows from what you infer, then cross-check with other evidence and identify whose perspective is missing.</a:t>
            </a:r>
          </a:p>
        </p:txBody>
      </p:sp>
      <p:sp>
        <p:nvSpPr>
          <p:cNvPr id="7" name="idea-3-decision-band">
            <a:extLst xmlns:a="http://schemas.openxmlformats.org/drawingml/2006/main">
              <a:ext uri="{FF2B5EF4-FFF2-40B4-BE49-F238E27FC236}">
                <a16:creationId xmlns:a16="http://schemas.microsoft.com/office/drawing/2014/main" id="{90CD7EE7-D4B4-47C0-A28A-6D94DB13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476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a-3-decision">
            <a:extLst xmlns:a="http://schemas.openxmlformats.org/drawingml/2006/main">
              <a:ext uri="{FF2B5EF4-FFF2-40B4-BE49-F238E27FC236}">
                <a16:creationId xmlns:a16="http://schemas.microsoft.com/office/drawing/2014/main" id="{4A3CCC5F-7B65-4220-86D6-BD766C5C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019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0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Notice: Which tools help you organise an analysis, and which questions about creator, context and missing perspectives cannot be answered by the tools alone?</a:t>
            </a:r>
          </a:p>
        </p:txBody>
      </p:sp>
      <p:sp>
        <p:nvSpPr>
          <p:cNvPr id="9" name="idea-3-visual-frame">
            <a:extLst xmlns:a="http://schemas.openxmlformats.org/drawingml/2006/main">
              <a:ext uri="{FF2B5EF4-FFF2-40B4-BE49-F238E27FC236}">
                <a16:creationId xmlns:a16="http://schemas.microsoft.com/office/drawing/2014/main" id="{A98ADCDE-AC8F-4D10-A5CC-12DC229C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24000"/>
            <a:ext cx="60579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ff48a4f384543"/>
          <a:srcRect xmlns:a="http://schemas.openxmlformats.org/drawingml/2006/main" l="0" t="318" r="0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3550" y="1562100"/>
            <a:ext cx="5981700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11" name="idea-3-visual-caption">
            <a:extLst xmlns:a="http://schemas.openxmlformats.org/drawingml/2006/main">
              <a:ext uri="{FF2B5EF4-FFF2-40B4-BE49-F238E27FC236}">
                <a16:creationId xmlns:a16="http://schemas.microsoft.com/office/drawing/2014/main" id="{9C67554E-8ED7-44F9-A768-A4145C51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197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Research tools can support analysis, but context, attribution and cross-checking determine what a source can reasonably support.</a:t>
            </a:r>
          </a:p>
        </p:txBody>
      </p:sp>
    </p:spTree>
    <p:extLst>
      <p:ext uri="{BB962C8B-B14F-4D97-AF65-F5344CB8AC3E}">
        <p14:creationId xmlns:p14="http://schemas.microsoft.com/office/powerpoint/2010/main" val="1468257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BCA2EA39-4396-4CDE-ABEE-42A1FE6C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6">
            <a:extLst xmlns:a="http://schemas.openxmlformats.org/drawingml/2006/main">
              <a:ext uri="{FF2B5EF4-FFF2-40B4-BE49-F238E27FC236}">
                <a16:creationId xmlns:a16="http://schemas.microsoft.com/office/drawing/2014/main" id="{89BA436D-5018-4979-BE2E-3CBBB74E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  •  MODULE 04</a:t>
            </a:r>
          </a:p>
        </p:txBody>
      </p:sp>
      <p:sp>
        <p:nvSpPr>
          <p:cNvPr id="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0DC4944-A340-444A-BF1E-F0773450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trieve-label">
            <a:extLst xmlns:a="http://schemas.openxmlformats.org/drawingml/2006/main">
              <a:ext uri="{FF2B5EF4-FFF2-40B4-BE49-F238E27FC236}">
                <a16:creationId xmlns:a16="http://schemas.microsoft.com/office/drawing/2014/main" id="{A35B8326-33B6-4851-8074-AC03A9A7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FOOD SYSTEMS, MISSIONS AND NUTRITION · REHEARSAL</a:t>
            </a:r>
          </a:p>
        </p:txBody>
      </p:sp>
      <p:sp>
        <p:nvSpPr>
          <p:cNvPr id="5" name="retrieve-title">
            <a:extLst xmlns:a="http://schemas.openxmlformats.org/drawingml/2006/main">
              <a:ext uri="{FF2B5EF4-FFF2-40B4-BE49-F238E27FC236}">
                <a16:creationId xmlns:a16="http://schemas.microsoft.com/office/drawing/2014/main" id="{159F6E8B-945A-461F-A8F8-BE6E9BDC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6" name="retrieve-instruction">
            <a:extLst xmlns:a="http://schemas.openxmlformats.org/drawingml/2006/main">
              <a:ext uri="{FF2B5EF4-FFF2-40B4-BE49-F238E27FC236}">
                <a16:creationId xmlns:a16="http://schemas.microsoft.com/office/drawing/2014/main" id="{628CB431-E26F-472D-9EF8-CCF1EBAC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9E2"/>
                </a:solidFill>
                <a:latin typeface="Aptos"/>
                <a:ea typeface="Aptos"/>
                <a:cs typeface="Aptos"/>
              </a:rPr>
              <a:t>Answer silently first. Then justify one response with a partner.</a:t>
            </a:r>
          </a:p>
        </p:txBody>
      </p:sp>
      <p:sp>
        <p:nvSpPr>
          <p:cNvPr id="7" name="retrieve-number-1">
            <a:extLst xmlns:a="http://schemas.openxmlformats.org/drawingml/2006/main">
              <a:ext uri="{FF2B5EF4-FFF2-40B4-BE49-F238E27FC236}">
                <a16:creationId xmlns:a16="http://schemas.microsoft.com/office/drawing/2014/main" id="{15D465FD-F111-40ED-94FE-C9BFED5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rieve-question-1">
            <a:extLst xmlns:a="http://schemas.openxmlformats.org/drawingml/2006/main">
              <a:ext uri="{FF2B5EF4-FFF2-40B4-BE49-F238E27FC236}">
                <a16:creationId xmlns:a16="http://schemas.microsoft.com/office/drawing/2014/main" id="{492AB914-1F86-4421-B8E5-D278731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historical observer describes food roles in one place. Which conclusion is defensible?</a:t>
            </a:r>
          </a:p>
        </p:txBody>
      </p:sp>
      <p:sp>
        <p:nvSpPr>
          <p:cNvPr id="9" name="retrieve-divider-1">
            <a:extLst xmlns:a="http://schemas.openxmlformats.org/drawingml/2006/main">
              <a:ext uri="{FF2B5EF4-FFF2-40B4-BE49-F238E27FC236}">
                <a16:creationId xmlns:a16="http://schemas.microsoft.com/office/drawing/2014/main" id="{0A14CC34-0C1F-44F0-B609-C68D41CC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0" name="retrieve-number-2">
            <a:extLst xmlns:a="http://schemas.openxmlformats.org/drawingml/2006/main">
              <a:ext uri="{FF2B5EF4-FFF2-40B4-BE49-F238E27FC236}">
                <a16:creationId xmlns:a16="http://schemas.microsoft.com/office/drawing/2014/main" id="{665BECA6-B665-4E53-A8E5-3B515A49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trieve-question-2">
            <a:extLst xmlns:a="http://schemas.openxmlformats.org/drawingml/2006/main">
              <a:ext uri="{FF2B5EF4-FFF2-40B4-BE49-F238E27FC236}">
                <a16:creationId xmlns:a16="http://schemas.microsoft.com/office/drawing/2014/main" id="{141DD1E8-017D-4868-9145-2119DC0A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27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explanation avoids blaming people for changes in food patterns?</a:t>
            </a:r>
          </a:p>
        </p:txBody>
      </p:sp>
      <p:sp>
        <p:nvSpPr>
          <p:cNvPr id="12" name="retrieve-divider-2">
            <a:extLst xmlns:a="http://schemas.openxmlformats.org/drawingml/2006/main">
              <a:ext uri="{FF2B5EF4-FFF2-40B4-BE49-F238E27FC236}">
                <a16:creationId xmlns:a16="http://schemas.microsoft.com/office/drawing/2014/main" id="{DE1E91F0-9DF3-4D4F-A9BC-D644BA37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3" name="retrieve-number-3">
            <a:extLst xmlns:a="http://schemas.openxmlformats.org/drawingml/2006/main">
              <a:ext uri="{FF2B5EF4-FFF2-40B4-BE49-F238E27FC236}">
                <a16:creationId xmlns:a16="http://schemas.microsoft.com/office/drawing/2014/main" id="{C39299CE-9246-41D1-90B0-0B7DE7F7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trieve-question-3">
            <a:extLst xmlns:a="http://schemas.openxmlformats.org/drawingml/2006/main">
              <a:ext uri="{FF2B5EF4-FFF2-40B4-BE49-F238E27FC236}">
                <a16:creationId xmlns:a16="http://schemas.microsoft.com/office/drawing/2014/main" id="{8F118E29-7B8C-4DC8-80CD-421AB920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photograph shows one food-related scene. What can a careful researcher claim?</a:t>
            </a:r>
          </a:p>
        </p:txBody>
      </p:sp>
      <p:sp>
        <p:nvSpPr>
          <p:cNvPr id="15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15AB1BEB-ECB4-4710-911A-53579329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6" name="activity-label">
            <a:extLst xmlns:a="http://schemas.openxmlformats.org/drawingml/2006/main">
              <a:ext uri="{FF2B5EF4-FFF2-40B4-BE49-F238E27FC236}">
                <a16:creationId xmlns:a16="http://schemas.microsoft.com/office/drawing/2014/main" id="{7CCB47B0-07A7-4EEB-B89C-72C73CE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APPLIED LEARNING ACTIVITY</a:t>
            </a:r>
          </a:p>
        </p:txBody>
      </p:sp>
      <p:sp>
        <p:nvSpPr>
          <p:cNvPr id="17" name="activity-title">
            <a:extLst xmlns:a="http://schemas.openxmlformats.org/drawingml/2006/main">
              <a:ext uri="{FF2B5EF4-FFF2-40B4-BE49-F238E27FC236}">
                <a16:creationId xmlns:a16="http://schemas.microsoft.com/office/drawing/2014/main" id="{A9FF4E0B-ADB9-408C-9FDC-28942D2D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Historical claim surgery</a:t>
            </a:r>
          </a:p>
        </p:txBody>
      </p:sp>
      <p:sp>
        <p:nvSpPr>
          <p:cNvPr id="18" name="activity-purpose">
            <a:extLst xmlns:a="http://schemas.openxmlformats.org/drawingml/2006/main">
              <a:ext uri="{FF2B5EF4-FFF2-40B4-BE49-F238E27FC236}">
                <a16:creationId xmlns:a16="http://schemas.microsoft.com/office/drawing/2014/main" id="{4A4E9403-E544-4D9E-8513-2A977622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38525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Practise separating a source claim from inference and building a qualified access-to-nutrition chain.</a:t>
            </a:r>
          </a:p>
        </p:txBody>
      </p:sp>
      <p:sp>
        <p:nvSpPr>
          <p:cNvPr id="19" name="activity-task">
            <a:extLst xmlns:a="http://schemas.openxmlformats.org/drawingml/2006/main">
              <a:ext uri="{FF2B5EF4-FFF2-40B4-BE49-F238E27FC236}">
                <a16:creationId xmlns:a16="http://schemas.microsoft.com/office/drawing/2014/main" id="{F9CB84BD-B180-4BA6-A4CD-FE13FDFB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Try: Build a careful historical explanation.</a:t>
            </a:r>
          </a:p>
        </p:txBody>
      </p:sp>
      <p:sp>
        <p:nvSpPr>
          <p:cNvPr id="20" name="retrieve-boundary">
            <a:extLst xmlns:a="http://schemas.openxmlformats.org/drawingml/2006/main">
              <a:ext uri="{FF2B5EF4-FFF2-40B4-BE49-F238E27FC236}">
                <a16:creationId xmlns:a16="http://schemas.microsoft.com/office/drawing/2014/main" id="{06DC0E3E-F000-488D-A29E-CC8E6AEF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Rehearsal first. Save evidence only when the teacher directs.</a:t>
            </a:r>
          </a:p>
        </p:txBody>
      </p:sp>
    </p:spTree>
    <p:extLst>
      <p:ext uri="{BB962C8B-B14F-4D97-AF65-F5344CB8AC3E}">
        <p14:creationId xmlns:p14="http://schemas.microsoft.com/office/powerpoint/2010/main" val="1535272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6F991BFD-4F2C-4C40-B0F2-99C70718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7">
            <a:extLst xmlns:a="http://schemas.openxmlformats.org/drawingml/2006/main">
              <a:ext uri="{FF2B5EF4-FFF2-40B4-BE49-F238E27FC236}">
                <a16:creationId xmlns:a16="http://schemas.microsoft.com/office/drawing/2014/main" id="{42AA54FD-B51E-440F-9FDE-3878E79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04</a:t>
            </a:r>
          </a:p>
        </p:txBody>
      </p:sp>
      <p:sp>
        <p:nvSpPr>
          <p:cNvPr id="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8AA7D7AB-1790-4D88-8C05-7C6F4CEA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237834AF-7E0F-4D2B-B1E4-26CD0C34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FOOD SYSTEMS, MISSIONS AND NUTRITION · GUIDED RESPONSE</a:t>
            </a:r>
          </a:p>
        </p:txBody>
      </p:sp>
      <p:sp>
        <p:nvSpPr>
          <p:cNvPr id="5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7E32629A-386D-4CB5-BCB5-7B5C6E59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Build evidence someone else can follow</a:t>
            </a:r>
          </a:p>
        </p:txBody>
      </p:sp>
      <p:sp>
        <p:nvSpPr>
          <p:cNvPr id="6" name="evidence-question-panel">
            <a:extLst xmlns:a="http://schemas.openxmlformats.org/drawingml/2006/main">
              <a:ext uri="{FF2B5EF4-FFF2-40B4-BE49-F238E27FC236}">
                <a16:creationId xmlns:a16="http://schemas.microsoft.com/office/drawing/2014/main" id="{D0CF60C6-1878-477A-87AF-9DA70D11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871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7" name="evidence-question-label">
            <a:extLst xmlns:a="http://schemas.openxmlformats.org/drawingml/2006/main">
              <a:ext uri="{FF2B5EF4-FFF2-40B4-BE49-F238E27FC236}">
                <a16:creationId xmlns:a16="http://schemas.microsoft.com/office/drawing/2014/main" id="{0C46ECCD-843F-402E-99BA-4782DC89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8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B07F196B-8E3C-4ECD-A412-51D4BEAD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Judge how much confidence a supplied historical source deserves for one specific food-history claim. Distinguish direct evidence, inference, corroboration and missing perspectives.</a:t>
            </a:r>
          </a:p>
        </p:txBody>
      </p:sp>
      <p:sp>
        <p:nvSpPr>
          <p:cNvPr id="9" name="evidence-connector-1">
            <a:extLst xmlns:a="http://schemas.openxmlformats.org/drawingml/2006/main">
              <a:ext uri="{FF2B5EF4-FFF2-40B4-BE49-F238E27FC236}">
                <a16:creationId xmlns:a16="http://schemas.microsoft.com/office/drawing/2014/main" id="{857EB9EC-CCB1-4CEA-932F-59592D7B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0" name="evidence-connector-2">
            <a:extLst xmlns:a="http://schemas.openxmlformats.org/drawingml/2006/main">
              <a:ext uri="{FF2B5EF4-FFF2-40B4-BE49-F238E27FC236}">
                <a16:creationId xmlns:a16="http://schemas.microsoft.com/office/drawing/2014/main" id="{8A64AFE6-1CD5-45AB-A982-5CDBFA9D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1" name="evidence-connector-3">
            <a:extLst xmlns:a="http://schemas.openxmlformats.org/drawingml/2006/main">
              <a:ext uri="{FF2B5EF4-FFF2-40B4-BE49-F238E27FC236}">
                <a16:creationId xmlns:a16="http://schemas.microsoft.com/office/drawing/2014/main" id="{ACE48378-8B16-4607-9842-0AF6AF7C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2" name="evidence-step-label-1">
            <a:extLst xmlns:a="http://schemas.openxmlformats.org/drawingml/2006/main">
              <a:ext uri="{FF2B5EF4-FFF2-40B4-BE49-F238E27FC236}">
                <a16:creationId xmlns:a16="http://schemas.microsoft.com/office/drawing/2014/main" id="{37589257-831A-42F7-B900-A2D2198C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13" name="evidence-step-panel-1">
            <a:extLst xmlns:a="http://schemas.openxmlformats.org/drawingml/2006/main">
              <a:ext uri="{FF2B5EF4-FFF2-40B4-BE49-F238E27FC236}">
                <a16:creationId xmlns:a16="http://schemas.microsoft.com/office/drawing/2014/main" id="{1A0658FC-A6CE-40FD-98B8-DA2989A0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4" name="evidence-step-text-1">
            <a:extLst xmlns:a="http://schemas.openxmlformats.org/drawingml/2006/main">
              <a:ext uri="{FF2B5EF4-FFF2-40B4-BE49-F238E27FC236}">
                <a16:creationId xmlns:a16="http://schemas.microsoft.com/office/drawing/2014/main" id="{354F91C5-10B0-4BB5-AE22-14D32DF0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Underline the exact decision or explanation the prompt requires.</a:t>
            </a:r>
          </a:p>
        </p:txBody>
      </p:sp>
      <p:sp>
        <p:nvSpPr>
          <p:cNvPr id="15" name="evidence-step-label-2">
            <a:extLst xmlns:a="http://schemas.openxmlformats.org/drawingml/2006/main">
              <a:ext uri="{FF2B5EF4-FFF2-40B4-BE49-F238E27FC236}">
                <a16:creationId xmlns:a16="http://schemas.microsoft.com/office/drawing/2014/main" id="{6449D7E7-ABC2-4520-9A80-8F3B32B2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6" name="evidence-step-panel-2">
            <a:extLst xmlns:a="http://schemas.openxmlformats.org/drawingml/2006/main">
              <a:ext uri="{FF2B5EF4-FFF2-40B4-BE49-F238E27FC236}">
                <a16:creationId xmlns:a16="http://schemas.microsoft.com/office/drawing/2014/main" id="{67C83578-025A-4267-98BA-40F3809C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7" name="evidence-step-text-2">
            <a:extLst xmlns:a="http://schemas.openxmlformats.org/drawingml/2006/main">
              <a:ext uri="{FF2B5EF4-FFF2-40B4-BE49-F238E27FC236}">
                <a16:creationId xmlns:a16="http://schemas.microsoft.com/office/drawing/2014/main" id="{FA6E0465-C336-4227-9907-928B242F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Choose evidence that separates observation and inference.</a:t>
            </a:r>
          </a:p>
        </p:txBody>
      </p:sp>
      <p:sp>
        <p:nvSpPr>
          <p:cNvPr id="18" name="evidence-step-label-3">
            <a:extLst xmlns:a="http://schemas.openxmlformats.org/drawingml/2006/main">
              <a:ext uri="{FF2B5EF4-FFF2-40B4-BE49-F238E27FC236}">
                <a16:creationId xmlns:a16="http://schemas.microsoft.com/office/drawing/2014/main" id="{CCCC90DC-7212-4EA7-A9A6-4717B95B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9" name="evidence-step-panel-3">
            <a:extLst xmlns:a="http://schemas.openxmlformats.org/drawingml/2006/main">
              <a:ext uri="{FF2B5EF4-FFF2-40B4-BE49-F238E27FC236}">
                <a16:creationId xmlns:a16="http://schemas.microsoft.com/office/drawing/2014/main" id="{DE788E8C-4E00-4A75-A45F-9D87A8A4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EE3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0" name="evidence-step-text-3">
            <a:extLst xmlns:a="http://schemas.openxmlformats.org/drawingml/2006/main">
              <a:ext uri="{FF2B5EF4-FFF2-40B4-BE49-F238E27FC236}">
                <a16:creationId xmlns:a16="http://schemas.microsoft.com/office/drawing/2014/main" id="{2CB8876A-BE77-436E-ADEE-83C02D63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The source directly shows or states …</a:t>
            </a:r>
          </a:p>
        </p:txBody>
      </p:sp>
      <p:sp>
        <p:nvSpPr>
          <p:cNvPr id="21" name="evidence-step-label-4">
            <a:extLst xmlns:a="http://schemas.openxmlformats.org/drawingml/2006/main">
              <a:ext uri="{FF2B5EF4-FFF2-40B4-BE49-F238E27FC236}">
                <a16:creationId xmlns:a16="http://schemas.microsoft.com/office/drawing/2014/main" id="{ACAAD4E8-783C-4CAE-ABAF-50D7FF85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22" name="evidence-step-panel-4">
            <a:extLst xmlns:a="http://schemas.openxmlformats.org/drawingml/2006/main">
              <a:ext uri="{FF2B5EF4-FFF2-40B4-BE49-F238E27FC236}">
                <a16:creationId xmlns:a16="http://schemas.microsoft.com/office/drawing/2014/main" id="{1E44553C-90F2-40D4-8FFA-974FF326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3" name="evidence-step-text-4">
            <a:extLst xmlns:a="http://schemas.openxmlformats.org/drawingml/2006/main">
              <a:ext uri="{FF2B5EF4-FFF2-40B4-BE49-F238E27FC236}">
                <a16:creationId xmlns:a16="http://schemas.microsoft.com/office/drawing/2014/main" id="{1047F728-7EDD-409E-A999-019B994B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Uses corroboration meaningfully; states uncertainty precisely.</a:t>
            </a:r>
          </a:p>
        </p:txBody>
      </p:sp>
      <p:sp>
        <p:nvSpPr>
          <p:cNvPr id="24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2105E6CD-4226-4F56-9A13-9B2774DA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Save in My Folio only when your teacher asks. Saving is not submission.</a:t>
            </a:r>
          </a:p>
        </p:txBody>
      </p:sp>
    </p:spTree>
    <p:extLst>
      <p:ext uri="{BB962C8B-B14F-4D97-AF65-F5344CB8AC3E}">
        <p14:creationId xmlns:p14="http://schemas.microsoft.com/office/powerpoint/2010/main" val="621349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934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side-field">
            <a:extLst xmlns:a="http://schemas.openxmlformats.org/drawingml/2006/main">
              <a:ext uri="{FF2B5EF4-FFF2-40B4-BE49-F238E27FC236}">
                <a16:creationId xmlns:a16="http://schemas.microsoft.com/office/drawing/2014/main" id="{4B5C6AF7-667B-4D61-9FDC-7667917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5EF8D8D0-15E2-4D19-83DB-52EC8CF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MODULE 04 · EXIT EVIDENCE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15F0C98-C70F-4023-9C0B-4A377FD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Leave with evidence, not a guess.</a:t>
            </a:r>
          </a:p>
        </p:txBody>
      </p:sp>
      <p:sp>
        <p:nvSpPr>
          <p:cNvPr id="4" name="close-prompt-1">
            <a:extLst xmlns:a="http://schemas.openxmlformats.org/drawingml/2006/main">
              <a:ext uri="{FF2B5EF4-FFF2-40B4-BE49-F238E27FC236}">
                <a16:creationId xmlns:a16="http://schemas.microsoft.com/office/drawing/2014/main" id="{B6EA5355-1E7C-485E-9B4F-F5E7CA08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 One idea I can explain is roles, knowledge and responsibility because …</a:t>
            </a:r>
          </a:p>
        </p:txBody>
      </p:sp>
      <p:sp>
        <p:nvSpPr>
          <p:cNvPr id="5" name="close-divider-1">
            <a:extLst xmlns:a="http://schemas.openxmlformats.org/drawingml/2006/main">
              <a:ext uri="{FF2B5EF4-FFF2-40B4-BE49-F238E27FC236}">
                <a16:creationId xmlns:a16="http://schemas.microsoft.com/office/drawing/2014/main" id="{D5CF2376-6845-471E-B527-E17F9BFA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6" name="close-prompt-2">
            <a:extLst xmlns:a="http://schemas.openxmlformats.org/drawingml/2006/main">
              <a:ext uri="{FF2B5EF4-FFF2-40B4-BE49-F238E27FC236}">
                <a16:creationId xmlns:a16="http://schemas.microsoft.com/office/drawing/2014/main" id="{C59A660B-3EFC-4A9F-8CB2-E4DE77FB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 One connection across the three ideas is …</a:t>
            </a:r>
          </a:p>
        </p:txBody>
      </p:sp>
      <p:sp>
        <p:nvSpPr>
          <p:cNvPr id="7" name="close-divider-2">
            <a:extLst xmlns:a="http://schemas.openxmlformats.org/drawingml/2006/main">
              <a:ext uri="{FF2B5EF4-FFF2-40B4-BE49-F238E27FC236}">
                <a16:creationId xmlns:a16="http://schemas.microsoft.com/office/drawing/2014/main" id="{1CAD21FE-9300-4F38-9288-7B26047C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8" name="close-prompt-3">
            <a:extLst xmlns:a="http://schemas.openxmlformats.org/drawingml/2006/main">
              <a:ext uri="{FF2B5EF4-FFF2-40B4-BE49-F238E27FC236}">
                <a16:creationId xmlns:a16="http://schemas.microsoft.com/office/drawing/2014/main" id="{0741BF05-CC56-4329-8421-781256BF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 One question or check I still need is …</a:t>
            </a:r>
          </a:p>
        </p:txBody>
      </p:sp>
      <p:sp>
        <p:nvSpPr>
          <p:cNvPr id="9" name="close-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ACAE6312-DD23-4C00-8734-3261C54D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Evidence destination: My Folio when directed. Exporting or saving is not submission.</a:t>
            </a:r>
          </a:p>
        </p:txBody>
      </p:sp>
      <p:sp>
        <p:nvSpPr>
          <p:cNvPr id="10" name="teacher-confirm-label">
            <a:extLst xmlns:a="http://schemas.openxmlformats.org/drawingml/2006/main">
              <a:ext uri="{FF2B5EF4-FFF2-40B4-BE49-F238E27FC236}">
                <a16:creationId xmlns:a16="http://schemas.microsoft.com/office/drawing/2014/main" id="{D53029A0-E78F-47BA-827A-5D5341CD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TEACHER TO CONFIRM</a:t>
            </a:r>
          </a:p>
        </p:txBody>
      </p:sp>
      <p:sp>
        <p:nvSpPr>
          <p:cNvPr id="11" name="teacher-confirm-panel">
            <a:extLst xmlns:a="http://schemas.openxmlformats.org/drawingml/2006/main">
              <a:ext uri="{FF2B5EF4-FFF2-40B4-BE49-F238E27FC236}">
                <a16:creationId xmlns:a16="http://schemas.microsoft.com/office/drawing/2014/main" id="{A67CBC01-1755-4107-AC13-112A1015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57325"/>
            <a:ext cx="3143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5E2"/>
          </a:solidFill>
          <a:ln xmlns:a="http://schemas.openxmlformats.org/drawingml/2006/main" w="28575">
            <a:solidFill>
              <a:srgbClr val="93442F"/>
            </a:solidFill>
            <a:prstDash val="solid"/>
          </a:ln>
        </p:spPr>
      </p:sp>
      <p:sp>
        <p:nvSpPr>
          <p:cNvPr id="12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A00B75BD-020C-442F-ABA0-7E812C18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47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The historical sources approved for this class and any local contextual guidance.</a:t>
            </a:r>
          </a:p>
        </p:txBody>
      </p:sp>
      <p:sp>
        <p:nvSpPr>
          <p:cNvPr id="13" name="close-next-step-label">
            <a:extLst xmlns:a="http://schemas.openxmlformats.org/drawingml/2006/main">
              <a:ext uri="{FF2B5EF4-FFF2-40B4-BE49-F238E27FC236}">
                <a16:creationId xmlns:a16="http://schemas.microsoft.com/office/drawing/2014/main" id="{DF94D8E4-88F0-4E51-B9DD-CEF74ECA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4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0F35AB53-CFBC-4BF7-9450-2E9D1101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module page to refine one response, then follow your teacher’s directions.</a:t>
            </a:r>
          </a:p>
        </p:txBody>
      </p:sp>
    </p:spTree>
    <p:extLst>
      <p:ext uri="{BB962C8B-B14F-4D97-AF65-F5344CB8AC3E}">
        <p14:creationId xmlns:p14="http://schemas.microsoft.com/office/powerpoint/2010/main" val="1627374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2026-08-26T13:29:13.9910000Z</dcterms:created>
  <dcterms:modified xsi:type="dcterms:W3CDTF">2026-08-26T13:29:13.9910000Z</dcterms:modified>
</coreProperties>
</file>